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15 segundos. Recibir al curso y leer la pregunta central sin responderla todavía. La fotografía instala observación y trabajo colectivo; no abrir una nueva explicación sobre reciclaje.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45 segundos. Presentar la mentoría como un checkpoint del proyecto. Leer la salida obligatoria. Evitar explicar los cuatro bloques en detalle: basta con mostrar la dirección general.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60 segundos. Pedir que los equipos pongan a la vista los tres entregables. Aclarar que la Mentoría 1 no reemplaza productos faltantes por una explicación oral; una ausencia se registra como brecha del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60 segundos. Los equipos ya están formados y los seis roles son obligatorios. Pedir confirmación rápida. No explicar cada rol desde cero: cada responsable identifica qué debe cuidar durante la mentoría.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15 segundos. Abrir el Bloque 1 con la idea de trazabilidad. Los tres productos se leen como una trayectoria; no se corrigen todavía.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90 segundos. Leer las tres preguntas y usar GeoGreen como ejemplo breve. Reforzar que el sensor no es el problema y que la respuesta debe nacer de la necesidad. No entrar en funcionamiento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5 minutos de trabajo y 30 segundos para escuchar una o dos frases. Mantener esta diapositiva proyectada. Circular entre equipos con preguntas, sin redactar por ellos. Si falta un entregable, registrar la brecha. Cerrar preguntando qué relación todavía necesita claridad.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15 segundos. Introducir el cambio de foco: la relación problema-solución ya fue revisada; ahora se delimita el contexto. Leer la frase central y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90 segundos. Recorrer las cuatro lentes con preguntas breves. Evitar pedir causas definitivas. La meta es que el equipo ubique su situación en espacio, tiempo, relaciones y condiciones institucionales o materiales.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90 segundos. Presentar las tres posiciones y detener cualquier formulación que responsabilice a un grupo completo. La tarea es reconocer relaciones y condiciones, no asignar culpas. Una persona puede estar involucrada, afectada y también aportar.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8 minutos de trabajo y hasta 2 minutos para escuchar una síntesis. Mantener esta diapositiva proyectada. Circular por las cinco mesas y pedir precisión cuando aparezcan palabras como nadie, todos, siempre o nunca. No completar la ficha por 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20 segundos. Introducir el cambio de foco: el contexto ya está delimitado; ahora se revisará la calidad de las afirmaciones. Leer la frase central y aclarar que ajustar una idea es una señal de avance.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2 minutos. Leer las tres categorías de arriba hacia abajo. Destacar los verbos: observamos, podría y la generalización absoluta. Una hipótesis es útil cuando se declara como hipótesis y se transforma en una pregunta por contrastar.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2 minutos. Explicar que verde, amarillo y rojo describen el respaldo disponible, no la calidad del equipo ni su posición en la competencia. Reforzar que una afirmación amarilla puede convertirse en verde al obtener información suficiente.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2 minutos. Presentar la triangulación como contraste entre fuentes disponibles. No exigir una segunda fuente inexistente: el equipo debe registrar qué falta y cómo podría obtenerlo. Recordar brevemente los cuatro resguardos éticos antes de iniciar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12 minutos de trabajo y hasta 90 segundos de comprobación. Mantener esta diapositiva proyectada. Realizar una ronda por las cinco mesas con la secuencia: cómo lo saben, qué tipo de información es, qué otra fuente ayudaría y qué decisión toma el equipo. Escuchar al final una afirmación verde y una amarilla.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30 segundos. Introducir la revisión de pertinencia social. En esta mentoría no se evalúan circuitos, programación ni componentes. Leer la pregunta central y pedir que cada equipo la mantenga presente durante la revisión.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2 minutos. Recorrer los cinco criterios con rapidez. Aclarar que una solución tecnológica puede informar, advertir, facilitar una decisión o apoyar una práctica; no reemplaza por sí sola la participación y coordinación que el problema pueda requerir.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7 minutos para completar la ficha y 2 minutos 30 segundos para las cinco declaraciones. Mantener esta diapositiva proyectada. La persona responsable de Comunicación presenta en un máximo de 30 segundos. Verificar problema, evidencia, aporte y próximo paso; no abrir aquí una evaluación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3 minutos. Recuperar las tres ideas: problema situado, información respaldada y respuesta pertinente. Cada equipo completa las dos frases, conserva los cinco productos obligatorios y deja registrado su próximo paso. Reforzar que el trabajo continúa entre sesiones y será revisado en la Mentoría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yecto-01-aiep-geogreen\talleres\01\ppt\source\assets\images\ross-waste-audit-education-day.jpg">    </p:cNvPr>
          <p:cNvPicPr>
            <a:picLocks noChangeAspect="1"/>
          </p:cNvPicPr>
          <p:nvPr/>
        </p:nvPicPr>
        <p:blipFill>
          <a:blip r:embed="rId1"/>
          <a:srcRect l="0" r="0" t="7844" b="784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37960" cy="6858000"/>
          </a:xfrm>
          <a:prstGeom prst="rect">
            <a:avLst/>
          </a:prstGeom>
          <a:solidFill>
            <a:srgbClr val="031D3B">
              <a:alpha val="96000"/>
            </a:srgbClr>
          </a:solidFill>
          <a:ln w="12700">
            <a:solidFill>
              <a:srgbClr val="031D3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58368" y="1005840"/>
            <a:ext cx="109728" cy="40233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9264" y="640080"/>
            <a:ext cx="290779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0704" y="70866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1</a:t>
            </a:r>
            <a:endParaRPr lang="en-US" sz="1010" dirty="0"/>
          </a:p>
        </p:txBody>
      </p:sp>
      <p:sp>
        <p:nvSpPr>
          <p:cNvPr id="7" name="Text 4"/>
          <p:cNvSpPr/>
          <p:nvPr/>
        </p:nvSpPr>
        <p:spPr>
          <a:xfrm>
            <a:off x="960120" y="1188720"/>
            <a:ext cx="50749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¿El problema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real?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978408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· contexto · evidencia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978408" y="391363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antes de seguir construyendo.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0277856" y="182880"/>
            <a:ext cx="1572768" cy="1170432"/>
          </a:xfrm>
          <a:prstGeom prst="roundRect">
            <a:avLst>
              <a:gd name="adj" fmla="val 3125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016" y="288015"/>
            <a:ext cx="1298448" cy="9418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8408" y="6053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5" kern="0" dirty="0">
                <a:solidFill>
                  <a:srgbClr val="C4D7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 AGO 2026 · AIEP OSORNO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0"/>
            <a:ext cx="402336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33151"/>
            <a:ext cx="1298448" cy="9418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389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1 · MISIÓN DE HOY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76656" y="841248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antes de seguir construyendo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94944" y="1499616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 comprobaremos si la idea responde a una necesidad real y situada.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94944" y="2249424"/>
            <a:ext cx="2432304" cy="2212848"/>
          </a:xfrm>
          <a:prstGeom prst="roundRect">
            <a:avLst>
              <a:gd name="adj" fmla="val 2479"/>
            </a:avLst>
          </a:prstGeom>
          <a:solidFill>
            <a:srgbClr val="12385E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2560320"/>
            <a:ext cx="566928" cy="5669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690713"/>
            <a:ext cx="566928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334670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INTEGRAR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14400" y="3785616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· material · idea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547872" y="2249424"/>
            <a:ext cx="2432304" cy="2212848"/>
          </a:xfrm>
          <a:prstGeom prst="roundRect">
            <a:avLst>
              <a:gd name="adj" fmla="val 2479"/>
            </a:avLst>
          </a:prstGeom>
          <a:solidFill>
            <a:srgbClr val="12385E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67328" y="2560320"/>
            <a:ext cx="566928" cy="566928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67328" y="2690713"/>
            <a:ext cx="566928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767328" y="334670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SITUAR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3767328" y="3785616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lugar · momento · actores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0" y="2249424"/>
            <a:ext cx="2432304" cy="2212848"/>
          </a:xfrm>
          <a:prstGeom prst="roundRect">
            <a:avLst>
              <a:gd name="adj" fmla="val 2479"/>
            </a:avLst>
          </a:prstGeom>
          <a:solidFill>
            <a:srgbClr val="12385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20256" y="2560320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0256" y="2690713"/>
            <a:ext cx="566928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620256" y="334670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CONTRASTAR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620256" y="3785616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· hipótesis · supuesto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9253728" y="2249424"/>
            <a:ext cx="2432304" cy="2212848"/>
          </a:xfrm>
          <a:prstGeom prst="roundRect">
            <a:avLst>
              <a:gd name="adj" fmla="val 2479"/>
            </a:avLst>
          </a:prstGeom>
          <a:solidFill>
            <a:srgbClr val="12385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473184" y="2560320"/>
            <a:ext cx="566928" cy="5669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473184" y="2690713"/>
            <a:ext cx="566928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473184" y="334670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9473184" y="3785616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· contexto · próximo paso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1152144" y="5065776"/>
            <a:ext cx="9875520" cy="841248"/>
          </a:xfrm>
          <a:prstGeom prst="roundRect">
            <a:avLst>
              <a:gd name="adj" fmla="val 543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481328" y="5266944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OBLIGATORIA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75888" y="5221224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validado + contexto afectado + próximo paso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1737360" y="6199632"/>
            <a:ext cx="8723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minutos · 5 equipos por bloque · el trabajo pertenece al equipo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0"/>
            <a:ext cx="402336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 DEL PROYECTO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372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etapa recibe lo anterior y lo hace avanzar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58368" y="1188720"/>
            <a:ext cx="928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 actividades sueltas: forman una cadena obligatoria de entregables.</a:t>
            </a:r>
            <a:endParaRPr lang="en-US" sz="140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33151"/>
            <a:ext cx="1298448" cy="9418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28816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6768" y="64465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1993392"/>
            <a:ext cx="2249424" cy="290779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  <a:effectLst>
            <a:outerShdw sx="100000" sy="100000" kx="0" ky="0" algn="bl" rotWithShape="0" blurRad="17780" dist="50800" dir="2700000">
              <a:srgbClr val="8A97A6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444752" y="2331720"/>
            <a:ext cx="658368" cy="65836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44752" y="2483145"/>
            <a:ext cx="658368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59536" y="325526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59536" y="3785616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 ambiental concreta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2962656" y="3163824"/>
            <a:ext cx="384048" cy="566928"/>
          </a:xfrm>
          <a:prstGeom prst="chevron">
            <a:avLst/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56432" y="1993392"/>
            <a:ext cx="2249424" cy="2907792"/>
          </a:xfrm>
          <a:prstGeom prst="roundRect">
            <a:avLst>
              <a:gd name="adj" fmla="val 2439"/>
            </a:avLst>
          </a:prstGeom>
          <a:solidFill>
            <a:srgbClr val="E9EEF4"/>
          </a:solidFill>
          <a:ln w="12700">
            <a:solidFill>
              <a:srgbClr val="35B7C6"/>
            </a:solidFill>
            <a:prstDash val="solid"/>
          </a:ln>
          <a:effectLst>
            <a:outerShdw sx="100000" sy="100000" kx="0" ky="0" algn="bl" rotWithShape="0" blurRad="17780" dist="50800" dir="2700000">
              <a:srgbClr val="8A97A6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61104" y="2331720"/>
            <a:ext cx="658368" cy="658368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61104" y="2483145"/>
            <a:ext cx="658368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675888" y="325526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MATERIAL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675888" y="3785616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ficha de residuo asociado</a:t>
            </a:r>
            <a:endParaRPr lang="en-US" sz="1320" dirty="0"/>
          </a:p>
        </p:txBody>
      </p:sp>
      <p:sp>
        <p:nvSpPr>
          <p:cNvPr id="22" name="Shape 19"/>
          <p:cNvSpPr/>
          <p:nvPr/>
        </p:nvSpPr>
        <p:spPr>
          <a:xfrm>
            <a:off x="5779008" y="3163824"/>
            <a:ext cx="384048" cy="566928"/>
          </a:xfrm>
          <a:prstGeom prst="chevron">
            <a:avLst/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72784" y="1993392"/>
            <a:ext cx="2249424" cy="290779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  <a:effectLst>
            <a:outerShdw sx="100000" sy="100000" kx="0" ky="0" algn="bl" rotWithShape="0" blurRad="17780" dist="50800" dir="2700000">
              <a:srgbClr val="8A97A6">
                <a:alpha val="13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077456" y="2331720"/>
            <a:ext cx="658368" cy="65836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77456" y="2483145"/>
            <a:ext cx="658368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92240" y="325526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492240" y="3785616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 tecnológica inicial</a:t>
            </a:r>
            <a:endParaRPr lang="en-US" sz="1320" dirty="0"/>
          </a:p>
        </p:txBody>
      </p:sp>
      <p:sp>
        <p:nvSpPr>
          <p:cNvPr id="28" name="Shape 25"/>
          <p:cNvSpPr/>
          <p:nvPr/>
        </p:nvSpPr>
        <p:spPr>
          <a:xfrm>
            <a:off x="8595360" y="3163824"/>
            <a:ext cx="384048" cy="566928"/>
          </a:xfrm>
          <a:prstGeom prst="chevron">
            <a:avLst/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089136" y="1993392"/>
            <a:ext cx="2249424" cy="2907792"/>
          </a:xfrm>
          <a:prstGeom prst="roundRect">
            <a:avLst>
              <a:gd name="adj" fmla="val 2439"/>
            </a:avLst>
          </a:prstGeom>
          <a:solidFill>
            <a:srgbClr val="E5F3EA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7780" dist="50800" dir="2700000">
              <a:srgbClr val="8A97A6">
                <a:alpha val="13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9893808" y="2331720"/>
            <a:ext cx="658368" cy="6583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93808" y="2483145"/>
            <a:ext cx="658368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9308592" y="325526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308592" y="3785616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+ contexto + próximo paso</a:t>
            </a:r>
            <a:endParaRPr lang="en-US" sz="1320" dirty="0"/>
          </a:p>
        </p:txBody>
      </p:sp>
      <p:sp>
        <p:nvSpPr>
          <p:cNvPr id="34" name="Shape 31"/>
          <p:cNvSpPr/>
          <p:nvPr/>
        </p:nvSpPr>
        <p:spPr>
          <a:xfrm>
            <a:off x="1078992" y="5413248"/>
            <a:ext cx="10058400" cy="658368"/>
          </a:xfrm>
          <a:prstGeom prst="roundRect">
            <a:avLst>
              <a:gd name="adj" fmla="val 6944"/>
            </a:avLst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426464" y="5623560"/>
            <a:ext cx="9363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tres entregables de entrada deben estar presentes sobre la mesa.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0"/>
            <a:ext cx="402336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33151"/>
            <a:ext cx="1298448" cy="9418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" y="438912"/>
            <a:ext cx="3310128" cy="347472"/>
          </a:xfrm>
          <a:prstGeom prst="roundRect">
            <a:avLst>
              <a:gd name="adj" fmla="val 13158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50749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CONFIRMEN RESPONSABILIDADES · 1 MIN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676656" y="9418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Seis roles, una lectura compartida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694944" y="15179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responsabilidad aporta al diagnóstico; la decisión pertenece al equipo completo.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76656" y="2176272"/>
            <a:ext cx="2615184" cy="914400"/>
          </a:xfrm>
          <a:prstGeom prst="roundRect">
            <a:avLst>
              <a:gd name="adj" fmla="val 5000"/>
            </a:avLst>
          </a:prstGeom>
          <a:solidFill>
            <a:srgbClr val="12385E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2404872"/>
            <a:ext cx="457200" cy="4572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2510028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426464" y="233172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COORDINACIÓN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1426464" y="265176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 tiempo y entregables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291840" y="2633472"/>
            <a:ext cx="1444752" cy="0"/>
          </a:xfrm>
          <a:prstGeom prst="line">
            <a:avLst/>
          </a:prstGeom>
          <a:noFill/>
          <a:ln w="12700">
            <a:solidFill>
              <a:srgbClr val="D62027">
                <a:alpha val="6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6656" y="3493008"/>
            <a:ext cx="2615184" cy="914400"/>
          </a:xfrm>
          <a:prstGeom prst="roundRect">
            <a:avLst>
              <a:gd name="adj" fmla="val 5000"/>
            </a:avLst>
          </a:prstGeom>
          <a:solidFill>
            <a:srgbClr val="12385E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" y="3721608"/>
            <a:ext cx="457200" cy="457200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" y="3826764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426464" y="3648456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INVESTIGACIÓN</a:t>
            </a:r>
            <a:endParaRPr lang="en-US" sz="1240" dirty="0"/>
          </a:p>
        </p:txBody>
      </p:sp>
      <p:sp>
        <p:nvSpPr>
          <p:cNvPr id="20" name="Text 17"/>
          <p:cNvSpPr/>
          <p:nvPr/>
        </p:nvSpPr>
        <p:spPr>
          <a:xfrm>
            <a:off x="1426464" y="396849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aclara contexto y actores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3291840" y="3950208"/>
            <a:ext cx="1444752" cy="0"/>
          </a:xfrm>
          <a:prstGeom prst="line">
            <a:avLst/>
          </a:prstGeom>
          <a:noFill/>
          <a:ln w="12700">
            <a:solidFill>
              <a:srgbClr val="35B7C6">
                <a:alpha val="65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6656" y="4809744"/>
            <a:ext cx="2615184" cy="914400"/>
          </a:xfrm>
          <a:prstGeom prst="roundRect">
            <a:avLst>
              <a:gd name="adj" fmla="val 5000"/>
            </a:avLst>
          </a:prstGeom>
          <a:solidFill>
            <a:srgbClr val="12385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1248" y="5038344"/>
            <a:ext cx="457200" cy="45720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1248" y="5143500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426464" y="496519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</a:t>
            </a:r>
            <a:endParaRPr lang="en-US" sz="1240" dirty="0"/>
          </a:p>
        </p:txBody>
      </p:sp>
      <p:sp>
        <p:nvSpPr>
          <p:cNvPr id="26" name="Text 23"/>
          <p:cNvSpPr/>
          <p:nvPr/>
        </p:nvSpPr>
        <p:spPr>
          <a:xfrm>
            <a:off x="1426464" y="52852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 mapas y relaciones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3291840" y="5266944"/>
            <a:ext cx="1444752" cy="0"/>
          </a:xfrm>
          <a:prstGeom prst="line">
            <a:avLst/>
          </a:prstGeom>
          <a:noFill/>
          <a:ln w="12700">
            <a:solidFill>
              <a:srgbClr val="E0BC5A">
                <a:alpha val="65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887968" y="2176272"/>
            <a:ext cx="2615184" cy="914400"/>
          </a:xfrm>
          <a:prstGeom prst="roundRect">
            <a:avLst>
              <a:gd name="adj" fmla="val 5000"/>
            </a:avLst>
          </a:prstGeom>
          <a:solidFill>
            <a:srgbClr val="12385E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052560" y="2404872"/>
            <a:ext cx="457200" cy="457200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052560" y="2510028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637776" y="233172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TECNOLOGÍA</a:t>
            </a:r>
            <a:endParaRPr lang="en-US" sz="1240" dirty="0"/>
          </a:p>
        </p:txBody>
      </p:sp>
      <p:sp>
        <p:nvSpPr>
          <p:cNvPr id="32" name="Text 29"/>
          <p:cNvSpPr/>
          <p:nvPr/>
        </p:nvSpPr>
        <p:spPr>
          <a:xfrm>
            <a:off x="9637776" y="265176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 qué busca observar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7242048" y="2633472"/>
            <a:ext cx="1645920" cy="0"/>
          </a:xfrm>
          <a:prstGeom prst="line">
            <a:avLst/>
          </a:prstGeom>
          <a:noFill/>
          <a:ln w="12700">
            <a:solidFill>
              <a:srgbClr val="35B7C6">
                <a:alpha val="65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887968" y="3493008"/>
            <a:ext cx="2615184" cy="914400"/>
          </a:xfrm>
          <a:prstGeom prst="roundRect">
            <a:avLst>
              <a:gd name="adj" fmla="val 5000"/>
            </a:avLst>
          </a:prstGeom>
          <a:solidFill>
            <a:srgbClr val="12385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052560" y="3721608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052560" y="3826764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9637776" y="3648456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 Y EVIDENCIA</a:t>
            </a:r>
            <a:endParaRPr lang="en-US" sz="1080" dirty="0"/>
          </a:p>
        </p:txBody>
      </p:sp>
      <p:sp>
        <p:nvSpPr>
          <p:cNvPr id="38" name="Text 35"/>
          <p:cNvSpPr/>
          <p:nvPr/>
        </p:nvSpPr>
        <p:spPr>
          <a:xfrm>
            <a:off x="9637776" y="396849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distingue respaldo y supuestos</a:t>
            </a:r>
            <a:endParaRPr lang="en-US" sz="1080" dirty="0"/>
          </a:p>
        </p:txBody>
      </p:sp>
      <p:sp>
        <p:nvSpPr>
          <p:cNvPr id="39" name="Shape 36"/>
          <p:cNvSpPr/>
          <p:nvPr/>
        </p:nvSpPr>
        <p:spPr>
          <a:xfrm>
            <a:off x="7242048" y="3950208"/>
            <a:ext cx="1645920" cy="0"/>
          </a:xfrm>
          <a:prstGeom prst="line">
            <a:avLst/>
          </a:prstGeom>
          <a:noFill/>
          <a:ln w="12700">
            <a:solidFill>
              <a:srgbClr val="2E8B57">
                <a:alpha val="65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887968" y="4809744"/>
            <a:ext cx="2615184" cy="914400"/>
          </a:xfrm>
          <a:prstGeom prst="roundRect">
            <a:avLst>
              <a:gd name="adj" fmla="val 5000"/>
            </a:avLst>
          </a:prstGeom>
          <a:solidFill>
            <a:srgbClr val="12385E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052560" y="5038344"/>
            <a:ext cx="457200" cy="4572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052560" y="5143500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9637776" y="496519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COMUNICACIÓN</a:t>
            </a:r>
            <a:endParaRPr lang="en-US" sz="1240" dirty="0"/>
          </a:p>
        </p:txBody>
      </p:sp>
      <p:sp>
        <p:nvSpPr>
          <p:cNvPr id="44" name="Text 41"/>
          <p:cNvSpPr/>
          <p:nvPr/>
        </p:nvSpPr>
        <p:spPr>
          <a:xfrm>
            <a:off x="9637776" y="52852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 la síntesis del equipo</a:t>
            </a:r>
            <a:endParaRPr lang="en-US" sz="1080" dirty="0"/>
          </a:p>
        </p:txBody>
      </p:sp>
      <p:sp>
        <p:nvSpPr>
          <p:cNvPr id="45" name="Shape 42"/>
          <p:cNvSpPr/>
          <p:nvPr/>
        </p:nvSpPr>
        <p:spPr>
          <a:xfrm>
            <a:off x="7242048" y="5266944"/>
            <a:ext cx="1645920" cy="0"/>
          </a:xfrm>
          <a:prstGeom prst="line">
            <a:avLst/>
          </a:prstGeom>
          <a:noFill/>
          <a:ln w="12700">
            <a:solidFill>
              <a:srgbClr val="D62027">
                <a:alpha val="65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736592" y="2834640"/>
            <a:ext cx="2505456" cy="184708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956048" y="3273552"/>
            <a:ext cx="20665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VALIDAR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2907792" y="6144768"/>
            <a:ext cx="6382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 PERSONAS · 6 RESPONSABILIDADES · 1 EQUIPO</a:t>
            </a:r>
            <a:endParaRPr lang="en-US" sz="1480" dirty="0"/>
          </a:p>
        </p:txBody>
      </p:sp>
      <p:sp>
        <p:nvSpPr>
          <p:cNvPr id="49" name="Text 46"/>
          <p:cNvSpPr/>
          <p:nvPr/>
        </p:nvSpPr>
        <p:spPr>
          <a:xfrm>
            <a:off x="10716768" y="644652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E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0"/>
            <a:ext cx="402336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286" y="146304"/>
            <a:ext cx="1134515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" y="4937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5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10 MINUTOS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94944" y="96926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Volver al problema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13232" y="1719072"/>
            <a:ext cx="5138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comenzamos de nuevo. Revisamos si el problema, el material y la idea cuentan una misma historia.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0" y="1152144"/>
            <a:ext cx="4370832" cy="1170432"/>
          </a:xfrm>
          <a:prstGeom prst="roundRect">
            <a:avLst>
              <a:gd name="adj" fmla="val 3906"/>
            </a:avLst>
          </a:prstGeom>
          <a:solidFill>
            <a:srgbClr val="12385E"/>
          </a:solidFill>
          <a:ln w="12700">
            <a:solidFill>
              <a:srgbClr val="D62027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01968" y="130759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1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7680960" y="1280160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01968" y="175564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situación necesita cambiar?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912864" y="2414016"/>
            <a:ext cx="4370832" cy="1170432"/>
          </a:xfrm>
          <a:prstGeom prst="roundRect">
            <a:avLst>
              <a:gd name="adj" fmla="val 3906"/>
            </a:avLst>
          </a:prstGeom>
          <a:solidFill>
            <a:srgbClr val="153C64"/>
          </a:solidFill>
          <a:ln w="12700">
            <a:solidFill>
              <a:srgbClr val="35B7C6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114032" y="256946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2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8193024" y="254203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MATERIAL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114032" y="301752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residuo está involucrado?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424928" y="3675888"/>
            <a:ext cx="4370832" cy="1170432"/>
          </a:xfrm>
          <a:prstGeom prst="roundRect">
            <a:avLst>
              <a:gd name="adj" fmla="val 3906"/>
            </a:avLst>
          </a:prstGeom>
          <a:solidFill>
            <a:srgbClr val="12385E"/>
          </a:solidFill>
          <a:ln w="12700">
            <a:solidFill>
              <a:srgbClr val="E0BC5A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626096" y="383133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3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8705088" y="380390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26096" y="4279392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busca aportar la propuesta?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059168" y="5157216"/>
            <a:ext cx="4389120" cy="694944"/>
          </a:xfrm>
          <a:prstGeom prst="roundRect">
            <a:avLst>
              <a:gd name="adj" fmla="val 6579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70064" y="537667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¿MISMA HISTORIA?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716768" y="644652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E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0"/>
            <a:ext cx="402336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 DISTINCIÓN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372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Situación, problema y respuesta no son lo mismo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58368" y="1188720"/>
            <a:ext cx="928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solución adquiere sentido cuando nace de una necesidad observada.</a:t>
            </a:r>
            <a:endParaRPr lang="en-US" sz="140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33151"/>
            <a:ext cx="1298448" cy="9418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28816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6768" y="64465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" y="1938528"/>
            <a:ext cx="3127248" cy="3401568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  <a:effectLst>
            <a:outerShdw sx="100000" sy="100000" kx="0" ky="0" algn="bl" rotWithShape="0" blurRad="15240" dist="50800" dir="2700000">
              <a:srgbClr val="8A97A6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9536" y="2212848"/>
            <a:ext cx="530352" cy="5303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" y="2334829"/>
            <a:ext cx="530352" cy="222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536192" y="223113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SITUACIÓN OBSERVADA</a:t>
            </a:r>
            <a:endParaRPr lang="en-US" sz="1420" dirty="0"/>
          </a:p>
        </p:txBody>
      </p:sp>
      <p:sp>
        <p:nvSpPr>
          <p:cNvPr id="15" name="Text 12"/>
          <p:cNvSpPr/>
          <p:nvPr/>
        </p:nvSpPr>
        <p:spPr>
          <a:xfrm>
            <a:off x="914400" y="303580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está ocurriendo?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042416" y="3584448"/>
            <a:ext cx="2359152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9264" y="3840480"/>
            <a:ext cx="25054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contenedor se desborda en momentos de la jornada.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3822192" y="3255264"/>
            <a:ext cx="256032" cy="566928"/>
          </a:xfrm>
          <a:prstGeom prst="chevron">
            <a:avLst/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33088" y="1938528"/>
            <a:ext cx="3127248" cy="3401568"/>
          </a:xfrm>
          <a:prstGeom prst="roundRect">
            <a:avLst>
              <a:gd name="adj" fmla="val 1754"/>
            </a:avLst>
          </a:prstGeom>
          <a:solidFill>
            <a:srgbClr val="E9EEF4"/>
          </a:solidFill>
          <a:ln w="12700">
            <a:solidFill>
              <a:srgbClr val="35B7C6"/>
            </a:solidFill>
            <a:prstDash val="solid"/>
          </a:ln>
          <a:effectLst>
            <a:outerShdw sx="100000" sy="100000" kx="0" ky="0" algn="bl" rotWithShape="0" blurRad="15240" dist="50800" dir="2700000">
              <a:srgbClr val="8A97A6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34256" y="2212848"/>
            <a:ext cx="530352" cy="530352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34256" y="2334829"/>
            <a:ext cx="530352" cy="222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010912" y="223113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O NECESIDAD</a:t>
            </a:r>
            <a:endParaRPr lang="en-US" sz="1420" dirty="0"/>
          </a:p>
        </p:txBody>
      </p:sp>
      <p:sp>
        <p:nvSpPr>
          <p:cNvPr id="23" name="Text 20"/>
          <p:cNvSpPr/>
          <p:nvPr/>
        </p:nvSpPr>
        <p:spPr>
          <a:xfrm>
            <a:off x="4389120" y="303580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condición requiere atención?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517136" y="3584448"/>
            <a:ext cx="2359152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43984" y="3840480"/>
            <a:ext cx="25054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información oportuna para gestionar el retiro.</a:t>
            </a:r>
            <a:endParaRPr lang="en-US" sz="1420" dirty="0"/>
          </a:p>
        </p:txBody>
      </p:sp>
      <p:sp>
        <p:nvSpPr>
          <p:cNvPr id="26" name="Shape 23"/>
          <p:cNvSpPr/>
          <p:nvPr/>
        </p:nvSpPr>
        <p:spPr>
          <a:xfrm>
            <a:off x="7296912" y="3255264"/>
            <a:ext cx="256032" cy="566928"/>
          </a:xfrm>
          <a:prstGeom prst="chevron">
            <a:avLst/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07808" y="1938528"/>
            <a:ext cx="3127248" cy="3401568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  <a:effectLst>
            <a:outerShdw sx="100000" sy="100000" kx="0" ky="0" algn="bl" rotWithShape="0" blurRad="15240" dist="50800" dir="2700000">
              <a:srgbClr val="8A97A6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808976" y="2212848"/>
            <a:ext cx="530352" cy="5303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08976" y="2334829"/>
            <a:ext cx="530352" cy="222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85632" y="223113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 PROPUESTA</a:t>
            </a:r>
            <a:endParaRPr lang="en-US" sz="1420" dirty="0"/>
          </a:p>
        </p:txBody>
      </p:sp>
      <p:sp>
        <p:nvSpPr>
          <p:cNvPr id="31" name="Text 28"/>
          <p:cNvSpPr/>
          <p:nvPr/>
        </p:nvSpPr>
        <p:spPr>
          <a:xfrm>
            <a:off x="7863840" y="303580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busca aportar el equipo?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991856" y="3584448"/>
            <a:ext cx="2359152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918704" y="3840480"/>
            <a:ext cx="25054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 el nivel de llenado y comunicar una alerta.</a:t>
            </a:r>
            <a:endParaRPr lang="en-US" sz="1420" dirty="0"/>
          </a:p>
        </p:txBody>
      </p:sp>
      <p:sp>
        <p:nvSpPr>
          <p:cNvPr id="34" name="Shape 31"/>
          <p:cNvSpPr/>
          <p:nvPr/>
        </p:nvSpPr>
        <p:spPr>
          <a:xfrm>
            <a:off x="1481328" y="5650992"/>
            <a:ext cx="9217152" cy="566928"/>
          </a:xfrm>
          <a:prstGeom prst="roundRect">
            <a:avLst>
              <a:gd name="adj" fmla="val 8065"/>
            </a:avLst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773936" y="5824728"/>
            <a:ext cx="8631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partimos por una tecnología atractiva para buscar después un problema que la justifique.</a:t>
            </a:r>
            <a:endParaRPr lang="en-US" sz="14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0"/>
            <a:ext cx="402336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33151"/>
            <a:ext cx="1298448" cy="9418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93776"/>
            <a:ext cx="2889504" cy="5760720"/>
          </a:xfrm>
          <a:prstGeom prst="roundRect">
            <a:avLst>
              <a:gd name="adj" fmla="val 1899"/>
            </a:avLst>
          </a:prstGeom>
          <a:solidFill>
            <a:srgbClr val="031D3B"/>
          </a:solidFill>
          <a:ln w="12700">
            <a:solidFill>
              <a:srgbClr val="031D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9536" y="841248"/>
            <a:ext cx="2304288" cy="347472"/>
          </a:xfrm>
          <a:prstGeom prst="roundRect">
            <a:avLst>
              <a:gd name="adj" fmla="val 13158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976" y="90982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POR EQUIPOS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822960" y="148132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05:00</a:t>
            </a:r>
            <a:endParaRPr lang="en-US" sz="4100" dirty="0"/>
          </a:p>
        </p:txBody>
      </p:sp>
      <p:sp>
        <p:nvSpPr>
          <p:cNvPr id="10" name="Text 7"/>
          <p:cNvSpPr/>
          <p:nvPr/>
        </p:nvSpPr>
        <p:spPr>
          <a:xfrm>
            <a:off x="896112" y="2615184"/>
            <a:ext cx="22494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PRIMERA REVISIÓN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COHERENCIA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3767328"/>
            <a:ext cx="2212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equipo decide.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mentoría pregunta y orienta.</a:t>
            </a:r>
            <a:endParaRPr lang="en-US" sz="1420" dirty="0"/>
          </a:p>
        </p:txBody>
      </p:sp>
      <p:sp>
        <p:nvSpPr>
          <p:cNvPr id="12" name="Shape 9"/>
          <p:cNvSpPr/>
          <p:nvPr/>
        </p:nvSpPr>
        <p:spPr>
          <a:xfrm>
            <a:off x="841248" y="5212080"/>
            <a:ext cx="2340864" cy="347472"/>
          </a:xfrm>
          <a:prstGeom prst="roundRect">
            <a:avLst>
              <a:gd name="adj" fmla="val 13158"/>
            </a:avLst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528066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3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ENTREGABLES SOBRE LA MESA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3877056" y="658368"/>
            <a:ext cx="6327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¿Los tres productos cuentan una misma historia?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895344" y="1261872"/>
            <a:ext cx="6894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Revisen sin empezar de nuevo y sin agregar componentes.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3913632" y="1828800"/>
            <a:ext cx="438912" cy="43891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13632" y="1929750"/>
            <a:ext cx="438912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53712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RELACIONEN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998464" y="181051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residuo analizado corresponde al problema?</a:t>
            </a:r>
            <a:endParaRPr lang="en-US" sz="1360" dirty="0"/>
          </a:p>
        </p:txBody>
      </p:sp>
      <p:sp>
        <p:nvSpPr>
          <p:cNvPr id="20" name="Shape 17"/>
          <p:cNvSpPr/>
          <p:nvPr/>
        </p:nvSpPr>
        <p:spPr>
          <a:xfrm>
            <a:off x="3913632" y="2596896"/>
            <a:ext cx="438912" cy="438912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13632" y="2697846"/>
            <a:ext cx="438912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53712" y="261518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COMPRUEBEN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998464" y="257860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idea tecnológica responde a ese mismo problema?</a:t>
            </a:r>
            <a:endParaRPr lang="en-US" sz="1360" dirty="0"/>
          </a:p>
        </p:txBody>
      </p:sp>
      <p:sp>
        <p:nvSpPr>
          <p:cNvPr id="24" name="Shape 21"/>
          <p:cNvSpPr/>
          <p:nvPr/>
        </p:nvSpPr>
        <p:spPr>
          <a:xfrm>
            <a:off x="3913632" y="3364992"/>
            <a:ext cx="438912" cy="4389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13632" y="3465942"/>
            <a:ext cx="438912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53712" y="338328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DETECTEN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998464" y="334670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¿Cambió el problema solo para justificar la tecnología?</a:t>
            </a:r>
            <a:endParaRPr lang="en-US" sz="1360" dirty="0"/>
          </a:p>
        </p:txBody>
      </p:sp>
      <p:sp>
        <p:nvSpPr>
          <p:cNvPr id="28" name="Shape 25"/>
          <p:cNvSpPr/>
          <p:nvPr/>
        </p:nvSpPr>
        <p:spPr>
          <a:xfrm>
            <a:off x="3913632" y="4133088"/>
            <a:ext cx="438912" cy="43891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13632" y="4234038"/>
            <a:ext cx="438912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553712" y="415137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REDACTEN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998464" y="411480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Completen juntos la frase de cierre.</a:t>
            </a:r>
            <a:endParaRPr lang="en-US" sz="1360" dirty="0"/>
          </a:p>
        </p:txBody>
      </p:sp>
      <p:sp>
        <p:nvSpPr>
          <p:cNvPr id="32" name="Shape 29"/>
          <p:cNvSpPr/>
          <p:nvPr/>
        </p:nvSpPr>
        <p:spPr>
          <a:xfrm>
            <a:off x="3858768" y="5065776"/>
            <a:ext cx="7461504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51376" y="5285232"/>
            <a:ext cx="6876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spc="4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NUESTRA IDEA TECNOLÓGICA SE RELACIONA CON EL PROBLEMA PORQUE…</a:t>
            </a:r>
            <a:endParaRPr lang="en-US" sz="1040" dirty="0"/>
          </a:p>
        </p:txBody>
      </p:sp>
      <p:sp>
        <p:nvSpPr>
          <p:cNvPr id="34" name="Shape 31"/>
          <p:cNvSpPr/>
          <p:nvPr/>
        </p:nvSpPr>
        <p:spPr>
          <a:xfrm>
            <a:off x="4169664" y="5760720"/>
            <a:ext cx="6821424" cy="0"/>
          </a:xfrm>
          <a:prstGeom prst="line">
            <a:avLst/>
          </a:prstGeom>
          <a:noFill/>
          <a:ln w="12700">
            <a:solidFill>
              <a:srgbClr val="082B5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8368" y="6528816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1 · Bloque 1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716768" y="64465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0"/>
            <a:ext cx="402336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33151"/>
            <a:ext cx="1298448" cy="9418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" y="475488"/>
            <a:ext cx="2212848" cy="347472"/>
          </a:xfrm>
          <a:prstGeom prst="roundRect">
            <a:avLst>
              <a:gd name="adj" fmla="val 13158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54406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15 MINUTOS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4944" y="1152144"/>
            <a:ext cx="49377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¿Dónde ocurre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a quién afecta?</a:t>
            </a:r>
            <a:endParaRPr lang="en-US" sz="3500" dirty="0"/>
          </a:p>
        </p:txBody>
      </p:sp>
      <p:sp>
        <p:nvSpPr>
          <p:cNvPr id="9" name="Text 6"/>
          <p:cNvSpPr/>
          <p:nvPr/>
        </p:nvSpPr>
        <p:spPr>
          <a:xfrm>
            <a:off x="713232" y="277977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Pasamos de una idea general a un diagnóstico situado.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13232" y="3931920"/>
            <a:ext cx="5010912" cy="987552"/>
          </a:xfrm>
          <a:prstGeom prst="roundRect">
            <a:avLst>
              <a:gd name="adj" fmla="val 463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4187952"/>
            <a:ext cx="4389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problema cambia cuando cambia el lugar, el momento o las personas que participan.</a:t>
            </a:r>
            <a:endParaRPr lang="en-US" sz="1720" dirty="0"/>
          </a:p>
        </p:txBody>
      </p:sp>
      <p:sp>
        <p:nvSpPr>
          <p:cNvPr id="12" name="Shape 9"/>
          <p:cNvSpPr/>
          <p:nvPr/>
        </p:nvSpPr>
        <p:spPr>
          <a:xfrm>
            <a:off x="6437376" y="1298448"/>
            <a:ext cx="2048256" cy="1719072"/>
          </a:xfrm>
          <a:prstGeom prst="roundRect">
            <a:avLst>
              <a:gd name="adj" fmla="val 3191"/>
            </a:avLst>
          </a:prstGeom>
          <a:solidFill>
            <a:srgbClr val="12385E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01968" y="1481328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01968" y="1590690"/>
            <a:ext cx="47548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114032" y="151790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LUGAR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675120" y="215798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 y recorrido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8906256" y="1298448"/>
            <a:ext cx="2048256" cy="1719072"/>
          </a:xfrm>
          <a:prstGeom prst="roundRect">
            <a:avLst>
              <a:gd name="adj" fmla="val 3191"/>
            </a:avLst>
          </a:prstGeom>
          <a:solidFill>
            <a:srgbClr val="12385E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70848" y="1481328"/>
            <a:ext cx="475488" cy="475488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70848" y="1590690"/>
            <a:ext cx="47548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582912" y="151790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MOMENTO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9144000" y="215798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frecuencia y duración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437376" y="3584448"/>
            <a:ext cx="2048256" cy="1719072"/>
          </a:xfrm>
          <a:prstGeom prst="roundRect">
            <a:avLst>
              <a:gd name="adj" fmla="val 3191"/>
            </a:avLst>
          </a:prstGeom>
          <a:solidFill>
            <a:srgbClr val="12385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01968" y="3767328"/>
            <a:ext cx="475488" cy="47548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01968" y="3876690"/>
            <a:ext cx="47548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114032" y="380390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PERSONAS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675120" y="444398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actores y relaciones</a:t>
            </a:r>
            <a:endParaRPr lang="en-US" sz="1220" dirty="0"/>
          </a:p>
        </p:txBody>
      </p:sp>
      <p:sp>
        <p:nvSpPr>
          <p:cNvPr id="27" name="Shape 24"/>
          <p:cNvSpPr/>
          <p:nvPr/>
        </p:nvSpPr>
        <p:spPr>
          <a:xfrm>
            <a:off x="8906256" y="3584448"/>
            <a:ext cx="2048256" cy="1719072"/>
          </a:xfrm>
          <a:prstGeom prst="roundRect">
            <a:avLst>
              <a:gd name="adj" fmla="val 3191"/>
            </a:avLst>
          </a:prstGeom>
          <a:solidFill>
            <a:srgbClr val="12385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070848" y="3767328"/>
            <a:ext cx="475488" cy="47548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070848" y="3876690"/>
            <a:ext cx="47548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9582912" y="380390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CONDICIONES</a:t>
            </a:r>
            <a:endParaRPr lang="en-US" sz="980" dirty="0"/>
          </a:p>
        </p:txBody>
      </p:sp>
      <p:sp>
        <p:nvSpPr>
          <p:cNvPr id="31" name="Text 28"/>
          <p:cNvSpPr/>
          <p:nvPr/>
        </p:nvSpPr>
        <p:spPr>
          <a:xfrm>
            <a:off x="9144000" y="444398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normas e infraestructura</a:t>
            </a:r>
            <a:endParaRPr lang="en-US" sz="1220" dirty="0"/>
          </a:p>
        </p:txBody>
      </p:sp>
      <p:sp>
        <p:nvSpPr>
          <p:cNvPr id="32" name="Text 29"/>
          <p:cNvSpPr/>
          <p:nvPr/>
        </p:nvSpPr>
        <p:spPr>
          <a:xfrm>
            <a:off x="10716768" y="644652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E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0"/>
            <a:ext cx="402336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SITUADO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372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lentes para comprender la situación completa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58368" y="1188720"/>
            <a:ext cx="928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buscamos resolver las causas todavía: primero delimitamos qué ocurre.</a:t>
            </a:r>
            <a:endParaRPr lang="en-US" sz="140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33151"/>
            <a:ext cx="1298448" cy="9418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28816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6768" y="64465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" y="1975104"/>
            <a:ext cx="2615184" cy="3456432"/>
          </a:xfrm>
          <a:prstGeom prst="roundRect">
            <a:avLst>
              <a:gd name="adj" fmla="val 2098"/>
            </a:avLst>
          </a:prstGeom>
          <a:solidFill>
            <a:srgbClr val="FCEBEC"/>
          </a:solidFill>
          <a:ln w="12700">
            <a:solidFill>
              <a:srgbClr val="D62027"/>
            </a:solidFill>
            <a:prstDash val="solid"/>
          </a:ln>
          <a:effectLst>
            <a:outerShdw sx="100000" sy="100000" kx="0" ky="0" algn="bl" rotWithShape="0" blurRad="15240" dist="50800" dir="2700000">
              <a:srgbClr val="8A97A6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975104"/>
            <a:ext cx="2615184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2322576"/>
            <a:ext cx="493776" cy="49377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2436144"/>
            <a:ext cx="493776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536192" y="235915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ESPACIAL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877824" y="3182112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¿DÓNDE?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1078992" y="3840480"/>
            <a:ext cx="1773936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" y="418795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lugar · recorrido · características</a:t>
            </a:r>
            <a:endParaRPr lang="en-US" sz="1320" dirty="0"/>
          </a:p>
        </p:txBody>
      </p:sp>
      <p:sp>
        <p:nvSpPr>
          <p:cNvPr id="19" name="Shape 16"/>
          <p:cNvSpPr/>
          <p:nvPr/>
        </p:nvSpPr>
        <p:spPr>
          <a:xfrm>
            <a:off x="3419856" y="1975104"/>
            <a:ext cx="2615184" cy="3456432"/>
          </a:xfrm>
          <a:prstGeom prst="roundRect">
            <a:avLst>
              <a:gd name="adj" fmla="val 2098"/>
            </a:avLst>
          </a:prstGeom>
          <a:solidFill>
            <a:srgbClr val="DDF4F6"/>
          </a:solidFill>
          <a:ln w="12700">
            <a:solidFill>
              <a:srgbClr val="35B7C6"/>
            </a:solidFill>
            <a:prstDash val="solid"/>
          </a:ln>
          <a:effectLst>
            <a:outerShdw sx="100000" sy="100000" kx="0" ky="0" algn="bl" rotWithShape="0" blurRad="15240" dist="50800" dir="2700000">
              <a:srgbClr val="8A97A6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419856" y="1975104"/>
            <a:ext cx="2615184" cy="146304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39312" y="2322576"/>
            <a:ext cx="493776" cy="493776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39312" y="2436144"/>
            <a:ext cx="493776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297680" y="235915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3639312" y="3182112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¿CUÁNDO?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3840480" y="3840480"/>
            <a:ext cx="1773936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94176" y="418795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momento · frecuencia · duración</a:t>
            </a:r>
            <a:endParaRPr lang="en-US" sz="1320" dirty="0"/>
          </a:p>
        </p:txBody>
      </p:sp>
      <p:sp>
        <p:nvSpPr>
          <p:cNvPr id="27" name="Shape 24"/>
          <p:cNvSpPr/>
          <p:nvPr/>
        </p:nvSpPr>
        <p:spPr>
          <a:xfrm>
            <a:off x="6181344" y="1975104"/>
            <a:ext cx="2615184" cy="3456432"/>
          </a:xfrm>
          <a:prstGeom prst="roundRect">
            <a:avLst>
              <a:gd name="adj" fmla="val 2098"/>
            </a:avLst>
          </a:prstGeom>
          <a:solidFill>
            <a:srgbClr val="FBF3D9"/>
          </a:solidFill>
          <a:ln w="12700">
            <a:solidFill>
              <a:srgbClr val="E0BC5A"/>
            </a:solidFill>
            <a:prstDash val="solid"/>
          </a:ln>
          <a:effectLst>
            <a:outerShdw sx="100000" sy="100000" kx="0" ky="0" algn="bl" rotWithShape="0" blurRad="15240" dist="50800" dir="2700000">
              <a:srgbClr val="8A97A6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181344" y="1975104"/>
            <a:ext cx="2615184" cy="1463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0" y="2322576"/>
            <a:ext cx="493776" cy="49377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0" y="2436144"/>
            <a:ext cx="493776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059168" y="235915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RELACIONAL</a:t>
            </a:r>
            <a:endParaRPr lang="en-US" sz="1120" dirty="0"/>
          </a:p>
        </p:txBody>
      </p:sp>
      <p:sp>
        <p:nvSpPr>
          <p:cNvPr id="32" name="Text 29"/>
          <p:cNvSpPr/>
          <p:nvPr/>
        </p:nvSpPr>
        <p:spPr>
          <a:xfrm>
            <a:off x="6400800" y="3182112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¿QUIÉNES?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6601968" y="3840480"/>
            <a:ext cx="1773936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55664" y="418795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personas · grupos · interacciones</a:t>
            </a:r>
            <a:endParaRPr lang="en-US" sz="1320" dirty="0"/>
          </a:p>
        </p:txBody>
      </p:sp>
      <p:sp>
        <p:nvSpPr>
          <p:cNvPr id="35" name="Shape 32"/>
          <p:cNvSpPr/>
          <p:nvPr/>
        </p:nvSpPr>
        <p:spPr>
          <a:xfrm>
            <a:off x="8942832" y="1975104"/>
            <a:ext cx="2615184" cy="3456432"/>
          </a:xfrm>
          <a:prstGeom prst="roundRect">
            <a:avLst>
              <a:gd name="adj" fmla="val 2098"/>
            </a:avLst>
          </a:prstGeom>
          <a:solidFill>
            <a:srgbClr val="E5F3EA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5240" dist="50800" dir="2700000">
              <a:srgbClr val="8A97A6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8942832" y="1975104"/>
            <a:ext cx="2615184" cy="14630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162288" y="2322576"/>
            <a:ext cx="493776" cy="49377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162288" y="2436144"/>
            <a:ext cx="493776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9820656" y="235915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INSTITUCIONAL Y MATERIAL</a:t>
            </a:r>
            <a:endParaRPr lang="en-US" sz="940" dirty="0"/>
          </a:p>
        </p:txBody>
      </p:sp>
      <p:sp>
        <p:nvSpPr>
          <p:cNvPr id="40" name="Text 37"/>
          <p:cNvSpPr/>
          <p:nvPr/>
        </p:nvSpPr>
        <p:spPr>
          <a:xfrm>
            <a:off x="9162288" y="3182112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INFLUYE?</a:t>
            </a:r>
            <a:endParaRPr lang="en-US" sz="1720" dirty="0"/>
          </a:p>
        </p:txBody>
      </p:sp>
      <p:sp>
        <p:nvSpPr>
          <p:cNvPr id="41" name="Shape 38"/>
          <p:cNvSpPr/>
          <p:nvPr/>
        </p:nvSpPr>
        <p:spPr>
          <a:xfrm>
            <a:off x="9363456" y="3840480"/>
            <a:ext cx="1773936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7152" y="418795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normas · información · infraestructura</a:t>
            </a:r>
            <a:endParaRPr lang="en-US" sz="1320" dirty="0"/>
          </a:p>
        </p:txBody>
      </p:sp>
      <p:sp>
        <p:nvSpPr>
          <p:cNvPr id="43" name="Shape 40"/>
          <p:cNvSpPr/>
          <p:nvPr/>
        </p:nvSpPr>
        <p:spPr>
          <a:xfrm>
            <a:off x="1316736" y="5742432"/>
            <a:ext cx="9564624" cy="493776"/>
          </a:xfrm>
          <a:prstGeom prst="roundRect">
            <a:avLst>
              <a:gd name="adj" fmla="val 9259"/>
            </a:avLst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627632" y="5888736"/>
            <a:ext cx="8942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problema bien delimitado se puede observar, discutir y contrastar.</a:t>
            </a:r>
            <a:endParaRPr lang="en-US" sz="14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0"/>
            <a:ext cx="402336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33151"/>
            <a:ext cx="1298448" cy="9418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566928"/>
            <a:ext cx="3419856" cy="5559552"/>
          </a:xfrm>
          <a:prstGeom prst="roundRect">
            <a:avLst>
              <a:gd name="adj" fmla="val 1604"/>
            </a:avLst>
          </a:prstGeom>
          <a:solidFill>
            <a:srgbClr val="031D3B"/>
          </a:solidFill>
          <a:ln w="12700">
            <a:solidFill>
              <a:srgbClr val="031D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6112" y="877824"/>
            <a:ext cx="2029968" cy="347472"/>
          </a:xfrm>
          <a:prstGeom prst="roundRect">
            <a:avLst>
              <a:gd name="adj" fmla="val 13158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94640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RELACIONAL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896112" y="1499616"/>
            <a:ext cx="27797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buscamos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culpables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914400" y="2706624"/>
            <a:ext cx="2706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Buscamos comprender personas, prácticas y condiciones.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3730752"/>
            <a:ext cx="2688336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023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Eviten frases como: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14400" y="4407408"/>
            <a:ext cx="2651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“Nadie recicla”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“A todos les molesta”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“Siempre ocurre”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407408" y="713232"/>
            <a:ext cx="5907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posiciones dentro de la red del problema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4425696" y="1261872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misma persona o grupo puede aparecer en más de una.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4407408" y="1865376"/>
            <a:ext cx="6821424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45152" y="2157984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45152" y="2267346"/>
            <a:ext cx="47548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358384" y="2048256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DIRECTAMENTE INVOLUCRADOS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8577072" y="2029968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Interactúan cotidianamente con la situación.</a:t>
            </a:r>
            <a:endParaRPr lang="en-US" sz="1240" dirty="0"/>
          </a:p>
        </p:txBody>
      </p:sp>
      <p:sp>
        <p:nvSpPr>
          <p:cNvPr id="21" name="Shape 18"/>
          <p:cNvSpPr/>
          <p:nvPr/>
        </p:nvSpPr>
        <p:spPr>
          <a:xfrm>
            <a:off x="4407408" y="3255264"/>
            <a:ext cx="6821424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45152" y="3547872"/>
            <a:ext cx="475488" cy="475488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45152" y="3657234"/>
            <a:ext cx="47548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358384" y="343814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AFECTADOS DIRECTA O INDIRECTAMENTE</a:t>
            </a:r>
            <a:endParaRPr lang="en-US" sz="1220" dirty="0"/>
          </a:p>
        </p:txBody>
      </p:sp>
      <p:sp>
        <p:nvSpPr>
          <p:cNvPr id="25" name="Text 22"/>
          <p:cNvSpPr/>
          <p:nvPr/>
        </p:nvSpPr>
        <p:spPr>
          <a:xfrm>
            <a:off x="8577072" y="3419856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Experimentan alguna consecuencia del problema.</a:t>
            </a:r>
            <a:endParaRPr lang="en-US" sz="1240" dirty="0"/>
          </a:p>
        </p:txBody>
      </p:sp>
      <p:sp>
        <p:nvSpPr>
          <p:cNvPr id="26" name="Shape 23"/>
          <p:cNvSpPr/>
          <p:nvPr/>
        </p:nvSpPr>
        <p:spPr>
          <a:xfrm>
            <a:off x="4407408" y="4645152"/>
            <a:ext cx="6821424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45152" y="4937760"/>
            <a:ext cx="475488" cy="47548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45152" y="5047122"/>
            <a:ext cx="47548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358384" y="4828032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CAPACIDAD DE APORTAR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577072" y="4809744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Entregan información o participan en una mejora.</a:t>
            </a:r>
            <a:endParaRPr lang="en-US" sz="1240" dirty="0"/>
          </a:p>
        </p:txBody>
      </p:sp>
      <p:sp>
        <p:nvSpPr>
          <p:cNvPr id="31" name="Text 28"/>
          <p:cNvSpPr/>
          <p:nvPr/>
        </p:nvSpPr>
        <p:spPr>
          <a:xfrm>
            <a:off x="658368" y="6528816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1 · Bloque 2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716768" y="64465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0"/>
            <a:ext cx="402336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33151"/>
            <a:ext cx="1298448" cy="9418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93776"/>
            <a:ext cx="2907792" cy="5760720"/>
          </a:xfrm>
          <a:prstGeom prst="roundRect">
            <a:avLst>
              <a:gd name="adj" fmla="val 1887"/>
            </a:avLst>
          </a:prstGeom>
          <a:solidFill>
            <a:srgbClr val="031D3B"/>
          </a:solidFill>
          <a:ln w="12700">
            <a:solidFill>
              <a:srgbClr val="031D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9536" y="822960"/>
            <a:ext cx="2322576" cy="347472"/>
          </a:xfrm>
          <a:prstGeom prst="roundRect">
            <a:avLst>
              <a:gd name="adj" fmla="val 13158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976" y="89154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POR EQUIPOS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822960" y="1444752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08:00</a:t>
            </a:r>
            <a:endParaRPr lang="en-US" sz="4100" dirty="0"/>
          </a:p>
        </p:txBody>
      </p:sp>
      <p:sp>
        <p:nvSpPr>
          <p:cNvPr id="10" name="Text 7"/>
          <p:cNvSpPr/>
          <p:nvPr/>
        </p:nvSpPr>
        <p:spPr>
          <a:xfrm>
            <a:off x="896112" y="2578608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SITUADO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PROBLEMA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3767328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Precisen el alcance.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completen con suposiciones.</a:t>
            </a:r>
            <a:endParaRPr lang="en-US" sz="1420" dirty="0"/>
          </a:p>
        </p:txBody>
      </p:sp>
      <p:sp>
        <p:nvSpPr>
          <p:cNvPr id="12" name="Shape 9"/>
          <p:cNvSpPr/>
          <p:nvPr/>
        </p:nvSpPr>
        <p:spPr>
          <a:xfrm>
            <a:off x="969264" y="5230368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0704" y="52989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3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EQUIPO REDACTA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3877056" y="640080"/>
            <a:ext cx="6144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Construyan la escena completa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895344" y="120700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Respondan desde sus entregables y lo que realmente conocen.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3877056" y="1773936"/>
            <a:ext cx="3310128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59936" y="1920240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LUGAR ESPECÍFICO</a:t>
            </a:r>
            <a:endParaRPr lang="en-US" sz="980" dirty="0"/>
          </a:p>
        </p:txBody>
      </p:sp>
      <p:sp>
        <p:nvSpPr>
          <p:cNvPr id="18" name="Text 15"/>
          <p:cNvSpPr/>
          <p:nvPr/>
        </p:nvSpPr>
        <p:spPr>
          <a:xfrm>
            <a:off x="4059936" y="2212848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ocurre?</a:t>
            </a:r>
            <a:endParaRPr lang="en-US" sz="1240" dirty="0"/>
          </a:p>
        </p:txBody>
      </p:sp>
      <p:sp>
        <p:nvSpPr>
          <p:cNvPr id="19" name="Shape 16"/>
          <p:cNvSpPr/>
          <p:nvPr/>
        </p:nvSpPr>
        <p:spPr>
          <a:xfrm>
            <a:off x="7370064" y="1773936"/>
            <a:ext cx="3401568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52944" y="1920240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MOMENTO Y FRECUENCIA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7552944" y="2212848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¿Cuándo y cuánto se repite?</a:t>
            </a:r>
            <a:endParaRPr lang="en-US" sz="1240" dirty="0"/>
          </a:p>
        </p:txBody>
      </p:sp>
      <p:sp>
        <p:nvSpPr>
          <p:cNvPr id="22" name="Shape 19"/>
          <p:cNvSpPr/>
          <p:nvPr/>
        </p:nvSpPr>
        <p:spPr>
          <a:xfrm>
            <a:off x="3877056" y="2816352"/>
            <a:ext cx="3310128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59936" y="2962656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ACTORES INVOLUCRADOS</a:t>
            </a:r>
            <a:endParaRPr lang="en-US" sz="980" dirty="0"/>
          </a:p>
        </p:txBody>
      </p:sp>
      <p:sp>
        <p:nvSpPr>
          <p:cNvPr id="24" name="Text 21"/>
          <p:cNvSpPr/>
          <p:nvPr/>
        </p:nvSpPr>
        <p:spPr>
          <a:xfrm>
            <a:off x="4059936" y="3255264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¿Quiénes interactúan?</a:t>
            </a:r>
            <a:endParaRPr lang="en-US" sz="1240" dirty="0"/>
          </a:p>
        </p:txBody>
      </p:sp>
      <p:sp>
        <p:nvSpPr>
          <p:cNvPr id="25" name="Shape 22"/>
          <p:cNvSpPr/>
          <p:nvPr/>
        </p:nvSpPr>
        <p:spPr>
          <a:xfrm>
            <a:off x="7370064" y="2816352"/>
            <a:ext cx="3401568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52944" y="2962656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PERSONAS O GRUPOS AFECTADOS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7552944" y="325526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¿Quiénes reciben consecuencias?</a:t>
            </a:r>
            <a:endParaRPr lang="en-US" sz="1240" dirty="0"/>
          </a:p>
        </p:txBody>
      </p:sp>
      <p:sp>
        <p:nvSpPr>
          <p:cNvPr id="28" name="Text 25"/>
          <p:cNvSpPr/>
          <p:nvPr/>
        </p:nvSpPr>
        <p:spPr>
          <a:xfrm>
            <a:off x="3895344" y="39136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CONDICIONES QUE PODRÍAN INFLUIR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877056" y="4261104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9EEF4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968496" y="432968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HÁBITOS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5285232" y="4261104"/>
            <a:ext cx="135331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76672" y="43296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</a:t>
            </a:r>
            <a:endParaRPr lang="en-US" sz="880" dirty="0"/>
          </a:p>
        </p:txBody>
      </p:sp>
      <p:sp>
        <p:nvSpPr>
          <p:cNvPr id="33" name="Shape 30"/>
          <p:cNvSpPr/>
          <p:nvPr/>
        </p:nvSpPr>
        <p:spPr>
          <a:xfrm>
            <a:off x="6748272" y="4261104"/>
            <a:ext cx="1627632" cy="329184"/>
          </a:xfrm>
          <a:prstGeom prst="roundRect">
            <a:avLst>
              <a:gd name="adj" fmla="val 13889"/>
            </a:avLst>
          </a:prstGeom>
          <a:solidFill>
            <a:srgbClr val="E9EEF4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39712" y="4329684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</a:t>
            </a:r>
            <a:endParaRPr lang="en-US" sz="770" dirty="0"/>
          </a:p>
        </p:txBody>
      </p:sp>
      <p:sp>
        <p:nvSpPr>
          <p:cNvPr id="35" name="Shape 32"/>
          <p:cNvSpPr/>
          <p:nvPr/>
        </p:nvSpPr>
        <p:spPr>
          <a:xfrm>
            <a:off x="8485632" y="4261104"/>
            <a:ext cx="135331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77072" y="43296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ORGANIZACIÓN</a:t>
            </a:r>
            <a:endParaRPr lang="en-US" sz="880" dirty="0"/>
          </a:p>
        </p:txBody>
      </p:sp>
      <p:sp>
        <p:nvSpPr>
          <p:cNvPr id="37" name="Shape 34"/>
          <p:cNvSpPr/>
          <p:nvPr/>
        </p:nvSpPr>
        <p:spPr>
          <a:xfrm>
            <a:off x="9948672" y="4261104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9EEF4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040112" y="432968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NORMAS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3858768" y="4882896"/>
            <a:ext cx="747979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33088" y="5102352"/>
            <a:ext cx="693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__________, DURANTE __________, OCURRE __________.</a:t>
            </a:r>
            <a:endParaRPr lang="en-US" sz="1360" dirty="0"/>
          </a:p>
        </p:txBody>
      </p:sp>
      <p:sp>
        <p:nvSpPr>
          <p:cNvPr id="41" name="Text 38"/>
          <p:cNvSpPr/>
          <p:nvPr/>
        </p:nvSpPr>
        <p:spPr>
          <a:xfrm>
            <a:off x="4133088" y="5504688"/>
            <a:ext cx="693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INVOLUCRA O AFECTA A __________ Y PODRÍA RELACIONARSE CON __________.</a:t>
            </a:r>
            <a:endParaRPr lang="en-US" sz="1260" dirty="0"/>
          </a:p>
        </p:txBody>
      </p:sp>
      <p:sp>
        <p:nvSpPr>
          <p:cNvPr id="42" name="Text 39"/>
          <p:cNvSpPr/>
          <p:nvPr/>
        </p:nvSpPr>
        <p:spPr>
          <a:xfrm>
            <a:off x="658368" y="6528816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1 · Bloque 2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716768" y="64465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0"/>
            <a:ext cx="402336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33151"/>
            <a:ext cx="1298448" cy="9418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" y="475488"/>
            <a:ext cx="2212848" cy="347472"/>
          </a:xfrm>
          <a:prstGeom prst="roundRect">
            <a:avLst>
              <a:gd name="adj" fmla="val 13158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54406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20 MINUTOS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4944" y="1188720"/>
            <a:ext cx="523036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sabemos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lo que suponemos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13232" y="2761488"/>
            <a:ext cx="5029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es reconocer cuánto respaldo tiene cada afirmación.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13232" y="4169664"/>
            <a:ext cx="5047488" cy="1060704"/>
          </a:xfrm>
          <a:prstGeom prst="roundRect">
            <a:avLst>
              <a:gd name="adj" fmla="val 431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4489704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Estar de acuerdo no reemplaza la evidencia.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7589520" y="1591056"/>
            <a:ext cx="0" cy="3602736"/>
          </a:xfrm>
          <a:prstGeom prst="line">
            <a:avLst/>
          </a:prstGeom>
          <a:noFill/>
          <a:ln w="12700">
            <a:solidFill>
              <a:srgbClr val="52759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86600" y="1408176"/>
            <a:ext cx="1005840" cy="10058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86600" y="17373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412480" y="1536192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OBSERVAMOS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8412480" y="192024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hecho o antecedente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7086600" y="2852928"/>
            <a:ext cx="1005840" cy="100584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86600" y="3182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412480" y="2980944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EXPLICAMOS</a:t>
            </a:r>
            <a:endParaRPr lang="en-US" sz="1440" dirty="0"/>
          </a:p>
        </p:txBody>
      </p:sp>
      <p:sp>
        <p:nvSpPr>
          <p:cNvPr id="20" name="Text 17"/>
          <p:cNvSpPr/>
          <p:nvPr/>
        </p:nvSpPr>
        <p:spPr>
          <a:xfrm>
            <a:off x="8412480" y="336499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interpretación o hipótesis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7086600" y="4297680"/>
            <a:ext cx="1005840" cy="100584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86600" y="46268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412480" y="4425696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ASUMIMOS</a:t>
            </a:r>
            <a:endParaRPr lang="en-US" sz="1440" dirty="0"/>
          </a:p>
        </p:txBody>
      </p:sp>
      <p:sp>
        <p:nvSpPr>
          <p:cNvPr id="24" name="Text 21"/>
          <p:cNvSpPr/>
          <p:nvPr/>
        </p:nvSpPr>
        <p:spPr>
          <a:xfrm>
            <a:off x="8412480" y="480974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supuesto o generalización</a:t>
            </a:r>
            <a:endParaRPr lang="en-US" sz="1220" dirty="0"/>
          </a:p>
        </p:txBody>
      </p:sp>
      <p:sp>
        <p:nvSpPr>
          <p:cNvPr id="25" name="Text 22"/>
          <p:cNvSpPr/>
          <p:nvPr/>
        </p:nvSpPr>
        <p:spPr>
          <a:xfrm>
            <a:off x="10716768" y="644652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E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0"/>
            <a:ext cx="402336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CRÍTICA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372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todo lo que decimos tiene el mismo respaldo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58368" y="1188720"/>
            <a:ext cx="928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está en el origen de la información y en cómo la comunicamos.</a:t>
            </a:r>
            <a:endParaRPr lang="en-US" sz="140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33151"/>
            <a:ext cx="1298448" cy="9418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28816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6768" y="64465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3232" y="1828800"/>
            <a:ext cx="10716768" cy="1024128"/>
          </a:xfrm>
          <a:prstGeom prst="roundRect">
            <a:avLst>
              <a:gd name="adj" fmla="val 4464"/>
            </a:avLst>
          </a:prstGeom>
          <a:solidFill>
            <a:srgbClr val="E5F3EA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2103120"/>
            <a:ext cx="475488" cy="47548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212482"/>
            <a:ext cx="47548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554480" y="197510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OBSERVACIÓN O ANTECEDENTE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4151376" y="197510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 visto, registrado, medido o informado por una fuente identificable.</a:t>
            </a:r>
            <a:endParaRPr lang="en-US" sz="1210" dirty="0"/>
          </a:p>
        </p:txBody>
      </p:sp>
      <p:sp>
        <p:nvSpPr>
          <p:cNvPr id="16" name="Text 13"/>
          <p:cNvSpPr/>
          <p:nvPr/>
        </p:nvSpPr>
        <p:spPr>
          <a:xfrm>
            <a:off x="7406640" y="197510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i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“Al finalizar dos recreos observamos residuos fuera del contenedor”.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1078992" y="3145536"/>
            <a:ext cx="10351008" cy="1024128"/>
          </a:xfrm>
          <a:prstGeom prst="roundRect">
            <a:avLst>
              <a:gd name="adj" fmla="val 4464"/>
            </a:avLst>
          </a:prstGeom>
          <a:solidFill>
            <a:srgbClr val="FBF3D9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61872" y="3419856"/>
            <a:ext cx="475488" cy="47548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61872" y="3529218"/>
            <a:ext cx="47548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920240" y="329184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INTERPRETACIÓN O HIPÓTESIS</a:t>
            </a:r>
            <a:endParaRPr lang="en-US" sz="1160" dirty="0"/>
          </a:p>
        </p:txBody>
      </p:sp>
      <p:sp>
        <p:nvSpPr>
          <p:cNvPr id="21" name="Text 18"/>
          <p:cNvSpPr/>
          <p:nvPr/>
        </p:nvSpPr>
        <p:spPr>
          <a:xfrm>
            <a:off x="4517136" y="32918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una explicación posible construida desde lo observado.</a:t>
            </a:r>
            <a:endParaRPr lang="en-US" sz="1210" dirty="0"/>
          </a:p>
        </p:txBody>
      </p:sp>
      <p:sp>
        <p:nvSpPr>
          <p:cNvPr id="22" name="Text 19"/>
          <p:cNvSpPr/>
          <p:nvPr/>
        </p:nvSpPr>
        <p:spPr>
          <a:xfrm>
            <a:off x="7772400" y="32918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i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“La ubicación del contenedor podría dificultar su uso”.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1444752" y="4462272"/>
            <a:ext cx="9985248" cy="1024128"/>
          </a:xfrm>
          <a:prstGeom prst="roundRect">
            <a:avLst>
              <a:gd name="adj" fmla="val 4464"/>
            </a:avLst>
          </a:prstGeom>
          <a:solidFill>
            <a:srgbClr val="FCEBEC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27632" y="4736592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27632" y="4845954"/>
            <a:ext cx="47548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286000" y="4608576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SUPUESTO O GENERALIZACIÓN</a:t>
            </a:r>
            <a:endParaRPr lang="en-US" sz="1320" dirty="0"/>
          </a:p>
        </p:txBody>
      </p:sp>
      <p:sp>
        <p:nvSpPr>
          <p:cNvPr id="27" name="Text 24"/>
          <p:cNvSpPr/>
          <p:nvPr/>
        </p:nvSpPr>
        <p:spPr>
          <a:xfrm>
            <a:off x="4882896" y="460857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presenta como certeza sin antecedentes suficientes.</a:t>
            </a:r>
            <a:endParaRPr lang="en-US" sz="1210" dirty="0"/>
          </a:p>
        </p:txBody>
      </p:sp>
      <p:sp>
        <p:nvSpPr>
          <p:cNvPr id="28" name="Text 25"/>
          <p:cNvSpPr/>
          <p:nvPr/>
        </p:nvSpPr>
        <p:spPr>
          <a:xfrm>
            <a:off x="8138160" y="460857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i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 nadie le interesa reciclar”.</a:t>
            </a:r>
            <a:endParaRPr lang="en-US" sz="1180" dirty="0"/>
          </a:p>
        </p:txBody>
      </p:sp>
      <p:sp>
        <p:nvSpPr>
          <p:cNvPr id="29" name="Text 26"/>
          <p:cNvSpPr/>
          <p:nvPr/>
        </p:nvSpPr>
        <p:spPr>
          <a:xfrm>
            <a:off x="1609344" y="5815584"/>
            <a:ext cx="8979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hipótesis orienta la búsqueda. El error es presentarla como un hecho confirmado.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0"/>
            <a:ext cx="402336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SEMÁFORO DE EVIDENCIA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372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color indica qué decisión tomar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58368" y="1188720"/>
            <a:ext cx="928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evalúa al equipo: muestra cuánto respaldo existe hoy.</a:t>
            </a:r>
            <a:endParaRPr lang="en-US" sz="140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33151"/>
            <a:ext cx="1298448" cy="9418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28816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6768" y="64465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9808" y="1847088"/>
            <a:ext cx="10698480" cy="2066544"/>
          </a:xfrm>
          <a:prstGeom prst="roundRect">
            <a:avLst>
              <a:gd name="adj" fmla="val 2655"/>
            </a:avLst>
          </a:prstGeom>
          <a:solidFill>
            <a:srgbClr val="031D3B"/>
          </a:solidFill>
          <a:ln w="12700">
            <a:solidFill>
              <a:srgbClr val="031D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52144" y="2286000"/>
            <a:ext cx="1133856" cy="113385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152144" y="266090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505456" y="2249424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TENEMOS RESPALDO</a:t>
            </a:r>
            <a:endParaRPr lang="en-US" sz="1260" dirty="0"/>
          </a:p>
        </p:txBody>
      </p:sp>
      <p:sp>
        <p:nvSpPr>
          <p:cNvPr id="15" name="Text 12"/>
          <p:cNvSpPr/>
          <p:nvPr/>
        </p:nvSpPr>
        <p:spPr>
          <a:xfrm>
            <a:off x="2505456" y="290779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 una fuente identificable.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1152144" y="4297680"/>
            <a:ext cx="2944368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35024" y="451713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MANTENER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71600" y="490118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Anotar qué evidencia la sostiene.</a:t>
            </a:r>
            <a:endParaRPr lang="en-US" sz="1140" dirty="0"/>
          </a:p>
        </p:txBody>
      </p:sp>
      <p:sp>
        <p:nvSpPr>
          <p:cNvPr id="19" name="Shape 16"/>
          <p:cNvSpPr/>
          <p:nvPr/>
        </p:nvSpPr>
        <p:spPr>
          <a:xfrm>
            <a:off x="4498848" y="2286000"/>
            <a:ext cx="1133856" cy="113385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498848" y="266090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852160" y="2249424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NECESITAMOS CONTRASTAR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5852160" y="290779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una explicación posible.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4498848" y="4297680"/>
            <a:ext cx="2944368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81728" y="451713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CONTRASTAR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718304" y="490118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Buscar otra fuente o perspectiva.</a:t>
            </a:r>
            <a:endParaRPr lang="en-US" sz="1140" dirty="0"/>
          </a:p>
        </p:txBody>
      </p:sp>
      <p:sp>
        <p:nvSpPr>
          <p:cNvPr id="26" name="Shape 23"/>
          <p:cNvSpPr/>
          <p:nvPr/>
        </p:nvSpPr>
        <p:spPr>
          <a:xfrm>
            <a:off x="7845552" y="2286000"/>
            <a:ext cx="1133856" cy="113385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845552" y="266090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9198864" y="2249424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PODEMOS AFIRMARLO</a:t>
            </a:r>
            <a:endParaRPr lang="en-US" sz="1260" dirty="0"/>
          </a:p>
        </p:txBody>
      </p:sp>
      <p:sp>
        <p:nvSpPr>
          <p:cNvPr id="29" name="Text 26"/>
          <p:cNvSpPr/>
          <p:nvPr/>
        </p:nvSpPr>
        <p:spPr>
          <a:xfrm>
            <a:off x="9198864" y="290779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respaldo o generaliza.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7845552" y="4297680"/>
            <a:ext cx="2944368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28432" y="451713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REFORMULAR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8065008" y="490118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Describir solo lo que conocemos.</a:t>
            </a:r>
            <a:endParaRPr lang="en-US" sz="1140" dirty="0"/>
          </a:p>
        </p:txBody>
      </p:sp>
      <p:sp>
        <p:nvSpPr>
          <p:cNvPr id="33" name="Text 30"/>
          <p:cNvSpPr/>
          <p:nvPr/>
        </p:nvSpPr>
        <p:spPr>
          <a:xfrm>
            <a:off x="2194560" y="5833872"/>
            <a:ext cx="7808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estado puede cambiar cuando aparece nueva información.</a:t>
            </a:r>
            <a:endParaRPr lang="en-US" sz="14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0"/>
            <a:ext cx="402336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CONTRASTE RESPONSABLE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372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fuente aporta; dos perspectivas permiten contrastar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58368" y="1188720"/>
            <a:ext cx="928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información falta, se registra. No se inventa.</a:t>
            </a:r>
            <a:endParaRPr lang="en-US" sz="140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33151"/>
            <a:ext cx="1298448" cy="9418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28816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6768" y="64465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889504" y="2834640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1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CONTRASTAR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2816352" y="3017520"/>
            <a:ext cx="1463040" cy="1463040"/>
          </a:xfrm>
          <a:prstGeom prst="ellipse">
            <a:avLst/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53512" y="346557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AFIRMACIÓN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REVISAR</a:t>
            </a:r>
            <a:endParaRPr lang="en-US" sz="1240" dirty="0"/>
          </a:p>
        </p:txBody>
      </p:sp>
      <p:sp>
        <p:nvSpPr>
          <p:cNvPr id="14" name="Shape 11"/>
          <p:cNvSpPr/>
          <p:nvPr/>
        </p:nvSpPr>
        <p:spPr>
          <a:xfrm>
            <a:off x="749808" y="1975104"/>
            <a:ext cx="2139696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211226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OBSERVACIÓN DIRECTA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896112" y="24505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visto en el espacio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4498848" y="1975104"/>
            <a:ext cx="2139696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45152" y="211226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FICHA O REGISTRO</a:t>
            </a:r>
            <a:endParaRPr lang="en-US" sz="1020" dirty="0"/>
          </a:p>
        </p:txBody>
      </p:sp>
      <p:sp>
        <p:nvSpPr>
          <p:cNvPr id="19" name="Text 16"/>
          <p:cNvSpPr/>
          <p:nvPr/>
        </p:nvSpPr>
        <p:spPr>
          <a:xfrm>
            <a:off x="4645152" y="24505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documentado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749808" y="4590288"/>
            <a:ext cx="2139696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6112" y="472744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VOZ DE LA COMUNIDAD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896112" y="506577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Otra perspectiva</a:t>
            </a:r>
            <a:endParaRPr lang="en-US" sz="1040" dirty="0"/>
          </a:p>
        </p:txBody>
      </p:sp>
      <p:sp>
        <p:nvSpPr>
          <p:cNvPr id="23" name="Shape 20"/>
          <p:cNvSpPr/>
          <p:nvPr/>
        </p:nvSpPr>
        <p:spPr>
          <a:xfrm>
            <a:off x="4498848" y="4590288"/>
            <a:ext cx="2139696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45152" y="472744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INFORMACIÓN INSTITUCIONAL</a:t>
            </a:r>
            <a:endParaRPr lang="en-US" sz="920" dirty="0"/>
          </a:p>
        </p:txBody>
      </p:sp>
      <p:sp>
        <p:nvSpPr>
          <p:cNvPr id="25" name="Text 22"/>
          <p:cNvSpPr/>
          <p:nvPr/>
        </p:nvSpPr>
        <p:spPr>
          <a:xfrm>
            <a:off x="4645152" y="506577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Normas o datos disponibles</a:t>
            </a:r>
            <a:endParaRPr lang="en-US" sz="1040" dirty="0"/>
          </a:p>
        </p:txBody>
      </p:sp>
      <p:sp>
        <p:nvSpPr>
          <p:cNvPr id="26" name="Text 23"/>
          <p:cNvSpPr/>
          <p:nvPr/>
        </p:nvSpPr>
        <p:spPr>
          <a:xfrm>
            <a:off x="1005840" y="5705856"/>
            <a:ext cx="5376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Comparen al menos dos fuentes disponibles.</a:t>
            </a:r>
            <a:endParaRPr lang="en-US" sz="1340" dirty="0"/>
          </a:p>
        </p:txBody>
      </p:sp>
      <p:sp>
        <p:nvSpPr>
          <p:cNvPr id="27" name="Shape 24"/>
          <p:cNvSpPr/>
          <p:nvPr/>
        </p:nvSpPr>
        <p:spPr>
          <a:xfrm>
            <a:off x="7370064" y="1865376"/>
            <a:ext cx="4059936" cy="4133088"/>
          </a:xfrm>
          <a:prstGeom prst="roundRect">
            <a:avLst>
              <a:gd name="adj" fmla="val 1351"/>
            </a:avLst>
          </a:prstGeom>
          <a:solidFill>
            <a:srgbClr val="031D3B"/>
          </a:solidFill>
          <a:ln w="12700">
            <a:solidFill>
              <a:srgbClr val="031D3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99248" y="2176272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90688" y="224485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 ÉTICO</a:t>
            </a:r>
            <a:endParaRPr lang="en-US" sz="980" dirty="0"/>
          </a:p>
        </p:txBody>
      </p:sp>
      <p:sp>
        <p:nvSpPr>
          <p:cNvPr id="30" name="Text 27"/>
          <p:cNvSpPr/>
          <p:nvPr/>
        </p:nvSpPr>
        <p:spPr>
          <a:xfrm>
            <a:off x="7717536" y="2761488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calidad también depende de cómo obtenemos y comunicamos la información.</a:t>
            </a:r>
            <a:endParaRPr lang="en-US" sz="1520" dirty="0"/>
          </a:p>
        </p:txBody>
      </p:sp>
      <p:sp>
        <p:nvSpPr>
          <p:cNvPr id="31" name="Shape 28"/>
          <p:cNvSpPr/>
          <p:nvPr/>
        </p:nvSpPr>
        <p:spPr>
          <a:xfrm>
            <a:off x="7717536" y="3657600"/>
            <a:ext cx="347472" cy="34747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17536" y="3737519"/>
            <a:ext cx="347472" cy="14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266176" y="3694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nombres ni datos personales innecesarios</a:t>
            </a:r>
            <a:endParaRPr lang="en-US" sz="1110" dirty="0"/>
          </a:p>
        </p:txBody>
      </p:sp>
      <p:sp>
        <p:nvSpPr>
          <p:cNvPr id="34" name="Shape 31"/>
          <p:cNvSpPr/>
          <p:nvPr/>
        </p:nvSpPr>
        <p:spPr>
          <a:xfrm>
            <a:off x="7717536" y="4169664"/>
            <a:ext cx="347472" cy="347472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17536" y="4249583"/>
            <a:ext cx="347472" cy="14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8266176" y="4206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fotografías de personas sin autorización</a:t>
            </a:r>
            <a:endParaRPr lang="en-US" sz="1110" dirty="0"/>
          </a:p>
        </p:txBody>
      </p:sp>
      <p:sp>
        <p:nvSpPr>
          <p:cNvPr id="37" name="Shape 34"/>
          <p:cNvSpPr/>
          <p:nvPr/>
        </p:nvSpPr>
        <p:spPr>
          <a:xfrm>
            <a:off x="7717536" y="4681728"/>
            <a:ext cx="347472" cy="34747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717536" y="4761647"/>
            <a:ext cx="347472" cy="14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266176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atribuir una conducta a un grupo completo</a:t>
            </a:r>
            <a:endParaRPr lang="en-US" sz="1110" dirty="0"/>
          </a:p>
        </p:txBody>
      </p:sp>
      <p:sp>
        <p:nvSpPr>
          <p:cNvPr id="40" name="Shape 37"/>
          <p:cNvSpPr/>
          <p:nvPr/>
        </p:nvSpPr>
        <p:spPr>
          <a:xfrm>
            <a:off x="7717536" y="5193792"/>
            <a:ext cx="347472" cy="34747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717536" y="5273711"/>
            <a:ext cx="347472" cy="14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8266176" y="5230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Describir sin ridiculizar ni estigmatizar</a:t>
            </a:r>
            <a:endParaRPr lang="en-US" sz="11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0"/>
            <a:ext cx="402336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33151"/>
            <a:ext cx="1298448" cy="9418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93776"/>
            <a:ext cx="2907792" cy="5760720"/>
          </a:xfrm>
          <a:prstGeom prst="roundRect">
            <a:avLst>
              <a:gd name="adj" fmla="val 1887"/>
            </a:avLst>
          </a:prstGeom>
          <a:solidFill>
            <a:srgbClr val="031D3B"/>
          </a:solidFill>
          <a:ln w="12700">
            <a:solidFill>
              <a:srgbClr val="031D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9536" y="822960"/>
            <a:ext cx="2322576" cy="347472"/>
          </a:xfrm>
          <a:prstGeom prst="roundRect">
            <a:avLst>
              <a:gd name="adj" fmla="val 13158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976" y="89154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POR EQUIPOS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822960" y="1389888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12:00</a:t>
            </a:r>
            <a:endParaRPr lang="en-US" sz="4100" dirty="0"/>
          </a:p>
        </p:txBody>
      </p:sp>
      <p:sp>
        <p:nvSpPr>
          <p:cNvPr id="10" name="Text 7"/>
          <p:cNvSpPr/>
          <p:nvPr/>
        </p:nvSpPr>
        <p:spPr>
          <a:xfrm>
            <a:off x="896112" y="2450592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MATRIZ DE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96112" y="3493008"/>
            <a:ext cx="329184" cy="3291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68720"/>
            <a:ext cx="329184" cy="138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371600" y="3529584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Elijan 3 afirmaciones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96112" y="3968496"/>
            <a:ext cx="329184" cy="3291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4044208"/>
            <a:ext cx="329184" cy="138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371600" y="400507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Marquen el estado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896112" y="4443984"/>
            <a:ext cx="329184" cy="329184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96112" y="4519696"/>
            <a:ext cx="329184" cy="138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371600" y="448056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Anoten la fuente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896112" y="4919472"/>
            <a:ext cx="329184" cy="3291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6112" y="4995184"/>
            <a:ext cx="329184" cy="138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371600" y="495604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Decidan qué sigue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3858768" y="640080"/>
            <a:ext cx="6327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Revisen lo que afirman, no lo que desean demostrar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3877056" y="1207008"/>
            <a:ext cx="6272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Trabajen desde el mapa situado y los antecedentes disponibles.</a:t>
            </a:r>
            <a:endParaRPr lang="en-US" sz="1420" dirty="0"/>
          </a:p>
        </p:txBody>
      </p:sp>
      <p:sp>
        <p:nvSpPr>
          <p:cNvPr id="25" name="Shape 22"/>
          <p:cNvSpPr/>
          <p:nvPr/>
        </p:nvSpPr>
        <p:spPr>
          <a:xfrm>
            <a:off x="3858768" y="1792224"/>
            <a:ext cx="2761488" cy="438912"/>
          </a:xfrm>
          <a:prstGeom prst="rect">
            <a:avLst/>
          </a:prstGeom>
          <a:solidFill>
            <a:srgbClr val="082B5C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931920" y="1920240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AFIRMACIÓN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6620256" y="1792224"/>
            <a:ext cx="1133856" cy="438912"/>
          </a:xfrm>
          <a:prstGeom prst="rect">
            <a:avLst/>
          </a:prstGeom>
          <a:solidFill>
            <a:srgbClr val="E9EE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93408" y="1920240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940" dirty="0"/>
          </a:p>
        </p:txBody>
      </p:sp>
      <p:sp>
        <p:nvSpPr>
          <p:cNvPr id="29" name="Shape 26"/>
          <p:cNvSpPr/>
          <p:nvPr/>
        </p:nvSpPr>
        <p:spPr>
          <a:xfrm>
            <a:off x="7754112" y="1792224"/>
            <a:ext cx="1572768" cy="438912"/>
          </a:xfrm>
          <a:prstGeom prst="rect">
            <a:avLst/>
          </a:prstGeom>
          <a:solidFill>
            <a:srgbClr val="E9EE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27264" y="192024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</a:t>
            </a:r>
            <a:endParaRPr lang="en-US" sz="940" dirty="0"/>
          </a:p>
        </p:txBody>
      </p:sp>
      <p:sp>
        <p:nvSpPr>
          <p:cNvPr id="31" name="Shape 28"/>
          <p:cNvSpPr/>
          <p:nvPr/>
        </p:nvSpPr>
        <p:spPr>
          <a:xfrm>
            <a:off x="9326880" y="1792224"/>
            <a:ext cx="1975104" cy="438912"/>
          </a:xfrm>
          <a:prstGeom prst="rect">
            <a:avLst/>
          </a:prstGeom>
          <a:solidFill>
            <a:srgbClr val="E9EE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400032" y="1920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FALTA O DECIDIMOS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858768" y="2231136"/>
            <a:ext cx="276148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986784" y="257860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Escriban una afirmación central</a:t>
            </a:r>
            <a:endParaRPr lang="en-US" sz="1120" dirty="0"/>
          </a:p>
        </p:txBody>
      </p:sp>
      <p:sp>
        <p:nvSpPr>
          <p:cNvPr id="35" name="Shape 32"/>
          <p:cNvSpPr/>
          <p:nvPr/>
        </p:nvSpPr>
        <p:spPr>
          <a:xfrm>
            <a:off x="6620256" y="2231136"/>
            <a:ext cx="1133856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748272" y="2578608"/>
            <a:ext cx="219456" cy="219456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059168" y="2578608"/>
            <a:ext cx="219456" cy="219456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370064" y="2578608"/>
            <a:ext cx="219456" cy="219456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54112" y="2231136"/>
            <a:ext cx="157276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0" y="25420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la respalda?</a:t>
            </a:r>
            <a:endParaRPr lang="en-US" sz="1040" dirty="0"/>
          </a:p>
        </p:txBody>
      </p:sp>
      <p:sp>
        <p:nvSpPr>
          <p:cNvPr id="41" name="Shape 38"/>
          <p:cNvSpPr/>
          <p:nvPr/>
        </p:nvSpPr>
        <p:spPr>
          <a:xfrm>
            <a:off x="9326880" y="2231136"/>
            <a:ext cx="197510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436608" y="254203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Mantener · contrastar · reformular</a:t>
            </a:r>
            <a:endParaRPr lang="en-US" sz="960" dirty="0"/>
          </a:p>
        </p:txBody>
      </p:sp>
      <p:sp>
        <p:nvSpPr>
          <p:cNvPr id="43" name="Shape 40"/>
          <p:cNvSpPr/>
          <p:nvPr/>
        </p:nvSpPr>
        <p:spPr>
          <a:xfrm>
            <a:off x="3858768" y="3182112"/>
            <a:ext cx="276148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986784" y="3529584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Escriban una afirmación central</a:t>
            </a:r>
            <a:endParaRPr lang="en-US" sz="1120" dirty="0"/>
          </a:p>
        </p:txBody>
      </p:sp>
      <p:sp>
        <p:nvSpPr>
          <p:cNvPr id="45" name="Shape 42"/>
          <p:cNvSpPr/>
          <p:nvPr/>
        </p:nvSpPr>
        <p:spPr>
          <a:xfrm>
            <a:off x="6620256" y="3182112"/>
            <a:ext cx="1133856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748272" y="3529584"/>
            <a:ext cx="219456" cy="219456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059168" y="3529584"/>
            <a:ext cx="219456" cy="219456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370064" y="3529584"/>
            <a:ext cx="219456" cy="219456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754112" y="3182112"/>
            <a:ext cx="157276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863840" y="34930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la respalda?</a:t>
            </a:r>
            <a:endParaRPr lang="en-US" sz="1040" dirty="0"/>
          </a:p>
        </p:txBody>
      </p:sp>
      <p:sp>
        <p:nvSpPr>
          <p:cNvPr id="51" name="Shape 48"/>
          <p:cNvSpPr/>
          <p:nvPr/>
        </p:nvSpPr>
        <p:spPr>
          <a:xfrm>
            <a:off x="9326880" y="3182112"/>
            <a:ext cx="197510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436608" y="34930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Mantener · contrastar · reformular</a:t>
            </a:r>
            <a:endParaRPr lang="en-US" sz="960" dirty="0"/>
          </a:p>
        </p:txBody>
      </p:sp>
      <p:sp>
        <p:nvSpPr>
          <p:cNvPr id="53" name="Shape 50"/>
          <p:cNvSpPr/>
          <p:nvPr/>
        </p:nvSpPr>
        <p:spPr>
          <a:xfrm>
            <a:off x="3858768" y="4133088"/>
            <a:ext cx="276148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986784" y="448056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Escriban una afirmación central</a:t>
            </a:r>
            <a:endParaRPr lang="en-US" sz="1120" dirty="0"/>
          </a:p>
        </p:txBody>
      </p:sp>
      <p:sp>
        <p:nvSpPr>
          <p:cNvPr id="55" name="Shape 52"/>
          <p:cNvSpPr/>
          <p:nvPr/>
        </p:nvSpPr>
        <p:spPr>
          <a:xfrm>
            <a:off x="6620256" y="4133088"/>
            <a:ext cx="1133856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748272" y="4480560"/>
            <a:ext cx="219456" cy="219456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059168" y="4480560"/>
            <a:ext cx="219456" cy="219456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370064" y="4480560"/>
            <a:ext cx="219456" cy="219456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754112" y="4133088"/>
            <a:ext cx="157276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863840" y="444398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la respalda?</a:t>
            </a:r>
            <a:endParaRPr lang="en-US" sz="1040" dirty="0"/>
          </a:p>
        </p:txBody>
      </p:sp>
      <p:sp>
        <p:nvSpPr>
          <p:cNvPr id="61" name="Shape 58"/>
          <p:cNvSpPr/>
          <p:nvPr/>
        </p:nvSpPr>
        <p:spPr>
          <a:xfrm>
            <a:off x="9326880" y="4133088"/>
            <a:ext cx="197510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436608" y="444398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Mantener · contrastar · reformular</a:t>
            </a:r>
            <a:endParaRPr lang="en-US" sz="960" dirty="0"/>
          </a:p>
        </p:txBody>
      </p:sp>
      <p:sp>
        <p:nvSpPr>
          <p:cNvPr id="63" name="Shape 60"/>
          <p:cNvSpPr/>
          <p:nvPr/>
        </p:nvSpPr>
        <p:spPr>
          <a:xfrm>
            <a:off x="3858768" y="5340096"/>
            <a:ext cx="7443216" cy="694944"/>
          </a:xfrm>
          <a:prstGeom prst="roundRect">
            <a:avLst>
              <a:gd name="adj" fmla="val 6579"/>
            </a:avLst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133088" y="5559552"/>
            <a:ext cx="6894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SALIDA: una afirmación sostenible · una hipótesis por contrastar · una generalización reformulada</a:t>
            </a:r>
            <a:endParaRPr lang="en-US" sz="1180" dirty="0"/>
          </a:p>
        </p:txBody>
      </p:sp>
      <p:sp>
        <p:nvSpPr>
          <p:cNvPr id="65" name="Text 62"/>
          <p:cNvSpPr/>
          <p:nvPr/>
        </p:nvSpPr>
        <p:spPr>
          <a:xfrm>
            <a:off x="658368" y="6528816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1 · Bloque 3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10716768" y="64465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0"/>
            <a:ext cx="402336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33151"/>
            <a:ext cx="1298448" cy="9418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" y="475488"/>
            <a:ext cx="2212848" cy="347472"/>
          </a:xfrm>
          <a:prstGeom prst="roundRect">
            <a:avLst>
              <a:gd name="adj" fmla="val 13158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54406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12 MINUTOS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4944" y="1170432"/>
            <a:ext cx="52852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¿La idea responde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 problema validado?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713232" y="2834640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comprobamos la pertinencia social de la propuesta.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13232" y="3986784"/>
            <a:ext cx="4956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se trata de agregar más tecnología, sino de explicar con claridad qué aporta.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72784" y="1554480"/>
            <a:ext cx="2267712" cy="2907792"/>
          </a:xfrm>
          <a:prstGeom prst="roundRect">
            <a:avLst>
              <a:gd name="adj" fmla="val 2419"/>
            </a:avLst>
          </a:prstGeom>
          <a:solidFill>
            <a:srgbClr val="12385E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73952" y="1792224"/>
            <a:ext cx="475488" cy="475488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73952" y="1901586"/>
            <a:ext cx="47548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55664" y="243230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VALIDADO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83680" y="3072384"/>
            <a:ext cx="164592" cy="164592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76288" y="30358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situado</a:t>
            </a:r>
            <a:endParaRPr lang="en-US" sz="1110" dirty="0"/>
          </a:p>
        </p:txBody>
      </p:sp>
      <p:sp>
        <p:nvSpPr>
          <p:cNvPr id="17" name="Shape 14"/>
          <p:cNvSpPr/>
          <p:nvPr/>
        </p:nvSpPr>
        <p:spPr>
          <a:xfrm>
            <a:off x="6583680" y="3456432"/>
            <a:ext cx="164592" cy="164592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76288" y="34198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respaldado</a:t>
            </a:r>
            <a:endParaRPr lang="en-US" sz="1110" dirty="0"/>
          </a:p>
        </p:txBody>
      </p:sp>
      <p:sp>
        <p:nvSpPr>
          <p:cNvPr id="19" name="Shape 16"/>
          <p:cNvSpPr/>
          <p:nvPr/>
        </p:nvSpPr>
        <p:spPr>
          <a:xfrm>
            <a:off x="6583680" y="3840480"/>
            <a:ext cx="164592" cy="164592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76288" y="38039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generalizaciones</a:t>
            </a:r>
            <a:endParaRPr lang="en-US" sz="1110" dirty="0"/>
          </a:p>
        </p:txBody>
      </p:sp>
      <p:sp>
        <p:nvSpPr>
          <p:cNvPr id="21" name="Shape 18"/>
          <p:cNvSpPr/>
          <p:nvPr/>
        </p:nvSpPr>
        <p:spPr>
          <a:xfrm>
            <a:off x="9217152" y="1554480"/>
            <a:ext cx="2267712" cy="2907792"/>
          </a:xfrm>
          <a:prstGeom prst="roundRect">
            <a:avLst>
              <a:gd name="adj" fmla="val 2419"/>
            </a:avLst>
          </a:prstGeom>
          <a:solidFill>
            <a:srgbClr val="12385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418320" y="1792224"/>
            <a:ext cx="475488" cy="47548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18320" y="1901586"/>
            <a:ext cx="47548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400032" y="243230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APORTE DE LA IDEA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528048" y="3072384"/>
            <a:ext cx="164592" cy="16459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20656" y="30358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propósito</a:t>
            </a:r>
            <a:endParaRPr lang="en-US" sz="1110" dirty="0"/>
          </a:p>
        </p:txBody>
      </p:sp>
      <p:sp>
        <p:nvSpPr>
          <p:cNvPr id="27" name="Shape 24"/>
          <p:cNvSpPr/>
          <p:nvPr/>
        </p:nvSpPr>
        <p:spPr>
          <a:xfrm>
            <a:off x="9528048" y="3456432"/>
            <a:ext cx="164592" cy="16459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20656" y="34198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 para alguien</a:t>
            </a:r>
            <a:endParaRPr lang="en-US" sz="1110" dirty="0"/>
          </a:p>
        </p:txBody>
      </p:sp>
      <p:sp>
        <p:nvSpPr>
          <p:cNvPr id="29" name="Shape 26"/>
          <p:cNvSpPr/>
          <p:nvPr/>
        </p:nvSpPr>
        <p:spPr>
          <a:xfrm>
            <a:off x="9528048" y="3840480"/>
            <a:ext cx="164592" cy="16459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820656" y="38039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alcance realista</a:t>
            </a:r>
            <a:endParaRPr lang="en-US" sz="1110" dirty="0"/>
          </a:p>
        </p:txBody>
      </p:sp>
      <p:sp>
        <p:nvSpPr>
          <p:cNvPr id="31" name="Shape 28"/>
          <p:cNvSpPr/>
          <p:nvPr/>
        </p:nvSpPr>
        <p:spPr>
          <a:xfrm>
            <a:off x="8705088" y="2670048"/>
            <a:ext cx="347472" cy="49377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272784" y="4882896"/>
            <a:ext cx="5212080" cy="1078992"/>
          </a:xfrm>
          <a:prstGeom prst="roundRect">
            <a:avLst>
              <a:gd name="adj" fmla="val 4237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65392" y="5148072"/>
            <a:ext cx="4626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funcionara como esperan, ¿qué parte concreta del problema cambiaría y para quién?</a:t>
            </a:r>
            <a:endParaRPr lang="en-US" sz="1640" dirty="0"/>
          </a:p>
        </p:txBody>
      </p:sp>
      <p:sp>
        <p:nvSpPr>
          <p:cNvPr id="34" name="Text 31"/>
          <p:cNvSpPr/>
          <p:nvPr/>
        </p:nvSpPr>
        <p:spPr>
          <a:xfrm>
            <a:off x="10716768" y="644652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E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0"/>
            <a:ext cx="402336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PERTINENCIA SOCIAL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372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respuesta útil declara qué puede aportar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58368" y="1188720"/>
            <a:ext cx="928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propuesta se revisa desde el problema validado y las personas relacionadas.</a:t>
            </a:r>
            <a:endParaRPr lang="en-US" sz="140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33151"/>
            <a:ext cx="1298448" cy="9418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28816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6768" y="64465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6656" y="1847088"/>
            <a:ext cx="3438144" cy="4224528"/>
          </a:xfrm>
          <a:prstGeom prst="roundRect">
            <a:avLst>
              <a:gd name="adj" fmla="val 1596"/>
            </a:avLst>
          </a:prstGeom>
          <a:solidFill>
            <a:srgbClr val="031D3B"/>
          </a:solidFill>
          <a:ln w="12700">
            <a:solidFill>
              <a:srgbClr val="031D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2176272"/>
            <a:ext cx="1847088" cy="347472"/>
          </a:xfrm>
          <a:prstGeom prst="roundRect">
            <a:avLst>
              <a:gd name="adj" fmla="val 13158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224485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CENTRAL</a:t>
            </a:r>
            <a:endParaRPr lang="en-US" sz="940" dirty="0"/>
          </a:p>
        </p:txBody>
      </p:sp>
      <p:sp>
        <p:nvSpPr>
          <p:cNvPr id="14" name="Text 11"/>
          <p:cNvSpPr/>
          <p:nvPr/>
        </p:nvSpPr>
        <p:spPr>
          <a:xfrm>
            <a:off x="987552" y="2816352"/>
            <a:ext cx="2743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cambio concreto busca facilitar y quién podría beneficiarse?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87552" y="4224528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idea puede: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987552" y="4645152"/>
            <a:ext cx="1170432" cy="365760"/>
          </a:xfrm>
          <a:prstGeom prst="roundRect">
            <a:avLst>
              <a:gd name="adj" fmla="val 12500"/>
            </a:avLst>
          </a:prstGeom>
          <a:solidFill>
            <a:srgbClr val="12385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8992" y="471373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OBSERVAR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2322576" y="4645152"/>
            <a:ext cx="1170432" cy="365760"/>
          </a:xfrm>
          <a:prstGeom prst="roundRect">
            <a:avLst>
              <a:gd name="adj" fmla="val 12500"/>
            </a:avLst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14016" y="471373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3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PREVENIR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987552" y="5212080"/>
            <a:ext cx="1170432" cy="365760"/>
          </a:xfrm>
          <a:prstGeom prst="roundRect">
            <a:avLst>
              <a:gd name="adj" fmla="val 12500"/>
            </a:avLst>
          </a:prstGeom>
          <a:solidFill>
            <a:srgbClr val="12385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78992" y="52806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INFORMAR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2322576" y="5212080"/>
            <a:ext cx="1170432" cy="365760"/>
          </a:xfrm>
          <a:prstGeom prst="roundRect">
            <a:avLst>
              <a:gd name="adj" fmla="val 12500"/>
            </a:avLst>
          </a:prstGeom>
          <a:solidFill>
            <a:srgbClr val="12385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414016" y="52806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MEJORAR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4498848" y="1847088"/>
            <a:ext cx="6784848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45152" y="2002536"/>
            <a:ext cx="347472" cy="34747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45152" y="2082455"/>
            <a:ext cx="347472" cy="14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175504" y="198424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PERTINENCIA</a:t>
            </a:r>
            <a:endParaRPr lang="en-US" sz="1120" dirty="0"/>
          </a:p>
        </p:txBody>
      </p:sp>
      <p:sp>
        <p:nvSpPr>
          <p:cNvPr id="28" name="Text 25"/>
          <p:cNvSpPr/>
          <p:nvPr/>
        </p:nvSpPr>
        <p:spPr>
          <a:xfrm>
            <a:off x="7040880" y="1965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¿Responde al problema que validaron?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4645152" y="2679192"/>
            <a:ext cx="6638544" cy="658368"/>
          </a:xfrm>
          <a:prstGeom prst="roundRect">
            <a:avLst>
              <a:gd name="adj" fmla="val 5556"/>
            </a:avLst>
          </a:prstGeom>
          <a:solidFill>
            <a:srgbClr val="E9EEF4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91456" y="2834640"/>
            <a:ext cx="347472" cy="347472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91456" y="2914559"/>
            <a:ext cx="347472" cy="14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321808" y="281635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COHERENCIA</a:t>
            </a:r>
            <a:endParaRPr lang="en-US" sz="1120" dirty="0"/>
          </a:p>
        </p:txBody>
      </p:sp>
      <p:sp>
        <p:nvSpPr>
          <p:cNvPr id="33" name="Text 30"/>
          <p:cNvSpPr/>
          <p:nvPr/>
        </p:nvSpPr>
        <p:spPr>
          <a:xfrm>
            <a:off x="7187184" y="2798064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entiende qué parte busca cambiar?</a:t>
            </a:r>
            <a:endParaRPr lang="en-US" sz="1120" dirty="0"/>
          </a:p>
        </p:txBody>
      </p:sp>
      <p:sp>
        <p:nvSpPr>
          <p:cNvPr id="34" name="Shape 31"/>
          <p:cNvSpPr/>
          <p:nvPr/>
        </p:nvSpPr>
        <p:spPr>
          <a:xfrm>
            <a:off x="4791456" y="3511296"/>
            <a:ext cx="649224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937760" y="3666744"/>
            <a:ext cx="347472" cy="34747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37760" y="3746663"/>
            <a:ext cx="347472" cy="14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468112" y="3648456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UTILIDAD SOCIAL</a:t>
            </a:r>
            <a:endParaRPr lang="en-US" sz="1120" dirty="0"/>
          </a:p>
        </p:txBody>
      </p:sp>
      <p:sp>
        <p:nvSpPr>
          <p:cNvPr id="38" name="Text 35"/>
          <p:cNvSpPr/>
          <p:nvPr/>
        </p:nvSpPr>
        <p:spPr>
          <a:xfrm>
            <a:off x="7333488" y="3630168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usaría el resultado, información o alerta?</a:t>
            </a:r>
            <a:endParaRPr lang="en-US" sz="1120" dirty="0"/>
          </a:p>
        </p:txBody>
      </p:sp>
      <p:sp>
        <p:nvSpPr>
          <p:cNvPr id="39" name="Shape 36"/>
          <p:cNvSpPr/>
          <p:nvPr/>
        </p:nvSpPr>
        <p:spPr>
          <a:xfrm>
            <a:off x="4937760" y="4343400"/>
            <a:ext cx="6345936" cy="658368"/>
          </a:xfrm>
          <a:prstGeom prst="roundRect">
            <a:avLst>
              <a:gd name="adj" fmla="val 5556"/>
            </a:avLst>
          </a:prstGeom>
          <a:solidFill>
            <a:srgbClr val="E9EEF4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84064" y="4498848"/>
            <a:ext cx="347472" cy="34747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84064" y="4578767"/>
            <a:ext cx="347472" cy="14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5614416" y="448056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</a:t>
            </a:r>
            <a:endParaRPr lang="en-US" sz="1120" dirty="0"/>
          </a:p>
        </p:txBody>
      </p:sp>
      <p:sp>
        <p:nvSpPr>
          <p:cNvPr id="43" name="Text 40"/>
          <p:cNvSpPr/>
          <p:nvPr/>
        </p:nvSpPr>
        <p:spPr>
          <a:xfrm>
            <a:off x="7479792" y="4462272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¿Describe un aporte realista sin prometer resolver todo?</a:t>
            </a:r>
            <a:endParaRPr lang="en-US" sz="1120" dirty="0"/>
          </a:p>
        </p:txBody>
      </p:sp>
      <p:sp>
        <p:nvSpPr>
          <p:cNvPr id="44" name="Shape 41"/>
          <p:cNvSpPr/>
          <p:nvPr/>
        </p:nvSpPr>
        <p:spPr>
          <a:xfrm>
            <a:off x="5084064" y="5175504"/>
            <a:ext cx="619963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230368" y="5330952"/>
            <a:ext cx="347472" cy="34747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30368" y="5410871"/>
            <a:ext cx="347472" cy="14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5760720" y="531266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RESPETO POR EL CONTEXTO</a:t>
            </a:r>
            <a:endParaRPr lang="en-US" sz="940" dirty="0"/>
          </a:p>
        </p:txBody>
      </p:sp>
      <p:sp>
        <p:nvSpPr>
          <p:cNvPr id="48" name="Text 45"/>
          <p:cNvSpPr/>
          <p:nvPr/>
        </p:nvSpPr>
        <p:spPr>
          <a:xfrm>
            <a:off x="7626096" y="5294376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¿Considera a las personas sin culpabilizar ni excluir?</a:t>
            </a:r>
            <a:endParaRPr lang="en-US" sz="11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0"/>
            <a:ext cx="402336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33151"/>
            <a:ext cx="1298448" cy="9418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93776"/>
            <a:ext cx="2907792" cy="5760720"/>
          </a:xfrm>
          <a:prstGeom prst="roundRect">
            <a:avLst>
              <a:gd name="adj" fmla="val 1887"/>
            </a:avLst>
          </a:prstGeom>
          <a:solidFill>
            <a:srgbClr val="031D3B"/>
          </a:solidFill>
          <a:ln w="12700">
            <a:solidFill>
              <a:srgbClr val="031D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822960"/>
            <a:ext cx="2395728" cy="347472"/>
          </a:xfrm>
          <a:prstGeom prst="roundRect">
            <a:avLst>
              <a:gd name="adj" fmla="val 13158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89154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OBLIGATORIO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822960" y="1408176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09:30</a:t>
            </a:r>
            <a:endParaRPr lang="en-US" sz="4100" dirty="0"/>
          </a:p>
        </p:txBody>
      </p:sp>
      <p:sp>
        <p:nvSpPr>
          <p:cNvPr id="10" name="Text 7"/>
          <p:cNvSpPr/>
          <p:nvPr/>
        </p:nvSpPr>
        <p:spPr>
          <a:xfrm>
            <a:off x="877824" y="2487168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FICHA FINAL DE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50976" y="3474720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07:00 · completar ficha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02:30 · declaraciones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896112" y="5138928"/>
            <a:ext cx="2249424" cy="347472"/>
          </a:xfrm>
          <a:prstGeom prst="roundRect">
            <a:avLst>
              <a:gd name="adj" fmla="val 13158"/>
            </a:avLst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" y="5207508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3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SEGUNDOS POR EQUIPO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3840480" y="640080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Conviertan lo validado en una decisión clara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3858768" y="1207008"/>
            <a:ext cx="619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Completen la ficha y preparen una declaración breve.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3822192" y="1664208"/>
            <a:ext cx="7461504" cy="3858768"/>
          </a:xfrm>
          <a:prstGeom prst="roundRect">
            <a:avLst>
              <a:gd name="adj" fmla="val 118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96512" y="190195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VALIDADO</a:t>
            </a:r>
            <a:endParaRPr lang="en-US" sz="940" dirty="0"/>
          </a:p>
        </p:txBody>
      </p:sp>
      <p:sp>
        <p:nvSpPr>
          <p:cNvPr id="18" name="Text 15"/>
          <p:cNvSpPr/>
          <p:nvPr/>
        </p:nvSpPr>
        <p:spPr>
          <a:xfrm>
            <a:off x="4096512" y="2212848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__________, ocurre __________, afecta o involucra a __________ y sabemos que ocurre porque __________.</a:t>
            </a:r>
            <a:endParaRPr lang="en-US" sz="1280" dirty="0"/>
          </a:p>
        </p:txBody>
      </p:sp>
      <p:sp>
        <p:nvSpPr>
          <p:cNvPr id="19" name="Shape 16"/>
          <p:cNvSpPr/>
          <p:nvPr/>
        </p:nvSpPr>
        <p:spPr>
          <a:xfrm>
            <a:off x="4096512" y="2779776"/>
            <a:ext cx="6912864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96512" y="2999232"/>
            <a:ext cx="3273552" cy="603504"/>
          </a:xfrm>
          <a:prstGeom prst="roundRect">
            <a:avLst>
              <a:gd name="adj" fmla="val 4545"/>
            </a:avLst>
          </a:prstGeom>
          <a:solidFill>
            <a:srgbClr val="F5F2EC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24528" y="309067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CONSECUENCIA OBSERVABLE</a:t>
            </a:r>
            <a:endParaRPr lang="en-US" sz="860" dirty="0"/>
          </a:p>
        </p:txBody>
      </p:sp>
      <p:sp>
        <p:nvSpPr>
          <p:cNvPr id="22" name="Text 19"/>
          <p:cNvSpPr/>
          <p:nvPr/>
        </p:nvSpPr>
        <p:spPr>
          <a:xfrm>
            <a:off x="4224528" y="33284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efecto produce?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7626096" y="2999232"/>
            <a:ext cx="3273552" cy="603504"/>
          </a:xfrm>
          <a:prstGeom prst="roundRect">
            <a:avLst>
              <a:gd name="adj" fmla="val 4545"/>
            </a:avLst>
          </a:prstGeom>
          <a:solidFill>
            <a:srgbClr val="FBF3D9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54112" y="309067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 PENDIENTE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7754112" y="33284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falta contrastar?</a:t>
            </a:r>
            <a:endParaRPr lang="en-US" sz="1030" dirty="0"/>
          </a:p>
        </p:txBody>
      </p:sp>
      <p:sp>
        <p:nvSpPr>
          <p:cNvPr id="26" name="Shape 23"/>
          <p:cNvSpPr/>
          <p:nvPr/>
        </p:nvSpPr>
        <p:spPr>
          <a:xfrm>
            <a:off x="4096512" y="3767328"/>
            <a:ext cx="3273552" cy="603504"/>
          </a:xfrm>
          <a:prstGeom prst="roundRect">
            <a:avLst>
              <a:gd name="adj" fmla="val 4545"/>
            </a:avLst>
          </a:prstGeom>
          <a:solidFill>
            <a:srgbClr val="F5F2EC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24528" y="3858768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APORTE DE LA IDEA</a:t>
            </a:r>
            <a:endParaRPr lang="en-US" sz="860" dirty="0"/>
          </a:p>
        </p:txBody>
      </p:sp>
      <p:sp>
        <p:nvSpPr>
          <p:cNvPr id="28" name="Text 25"/>
          <p:cNvSpPr/>
          <p:nvPr/>
        </p:nvSpPr>
        <p:spPr>
          <a:xfrm>
            <a:off x="4224528" y="40965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busca observar, prevenir, informar o mejorar?</a:t>
            </a:r>
            <a:endParaRPr lang="en-US" sz="940" dirty="0"/>
          </a:p>
        </p:txBody>
      </p:sp>
      <p:sp>
        <p:nvSpPr>
          <p:cNvPr id="29" name="Shape 26"/>
          <p:cNvSpPr/>
          <p:nvPr/>
        </p:nvSpPr>
        <p:spPr>
          <a:xfrm>
            <a:off x="7626096" y="3767328"/>
            <a:ext cx="3273552" cy="603504"/>
          </a:xfrm>
          <a:prstGeom prst="roundRect">
            <a:avLst>
              <a:gd name="adj" fmla="val 4545"/>
            </a:avLst>
          </a:prstGeom>
          <a:solidFill>
            <a:srgbClr val="F5F2EC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54112" y="3858768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 ACTUAL</a:t>
            </a:r>
            <a:endParaRPr lang="en-US" sz="860" dirty="0"/>
          </a:p>
        </p:txBody>
      </p:sp>
      <p:sp>
        <p:nvSpPr>
          <p:cNvPr id="31" name="Text 28"/>
          <p:cNvSpPr/>
          <p:nvPr/>
        </p:nvSpPr>
        <p:spPr>
          <a:xfrm>
            <a:off x="7754112" y="40965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queda fuera de su alcance?</a:t>
            </a:r>
            <a:endParaRPr lang="en-US" sz="1030" dirty="0"/>
          </a:p>
        </p:txBody>
      </p:sp>
      <p:sp>
        <p:nvSpPr>
          <p:cNvPr id="32" name="Shape 29"/>
          <p:cNvSpPr/>
          <p:nvPr/>
        </p:nvSpPr>
        <p:spPr>
          <a:xfrm>
            <a:off x="4096512" y="4535424"/>
            <a:ext cx="6912864" cy="603504"/>
          </a:xfrm>
          <a:prstGeom prst="roundRect">
            <a:avLst>
              <a:gd name="adj" fmla="val 4545"/>
            </a:avLst>
          </a:prstGeom>
          <a:solidFill>
            <a:srgbClr val="F5F2EC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24528" y="4626864"/>
            <a:ext cx="66568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 PASO VERIFICABLE</a:t>
            </a:r>
            <a:endParaRPr lang="en-US" sz="860" dirty="0"/>
          </a:p>
        </p:txBody>
      </p:sp>
      <p:sp>
        <p:nvSpPr>
          <p:cNvPr id="34" name="Text 31"/>
          <p:cNvSpPr/>
          <p:nvPr/>
        </p:nvSpPr>
        <p:spPr>
          <a:xfrm>
            <a:off x="4224528" y="4864608"/>
            <a:ext cx="6656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avance podrán demostrar?</a:t>
            </a:r>
            <a:endParaRPr lang="en-US" sz="1030" dirty="0"/>
          </a:p>
        </p:txBody>
      </p:sp>
      <p:sp>
        <p:nvSpPr>
          <p:cNvPr id="35" name="Shape 32"/>
          <p:cNvSpPr/>
          <p:nvPr/>
        </p:nvSpPr>
        <p:spPr>
          <a:xfrm>
            <a:off x="3822192" y="5669280"/>
            <a:ext cx="7461504" cy="530352"/>
          </a:xfrm>
          <a:prstGeom prst="roundRect">
            <a:avLst>
              <a:gd name="adj" fmla="val 6897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078224" y="581558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“Nuestro problema ocurre en… Sabemos que ocurre porque… Nuestra idea aporta mediante… Antes de la Mentoría 2 necesitamos…”</a:t>
            </a:r>
            <a:endParaRPr lang="en-US" sz="1070" dirty="0"/>
          </a:p>
        </p:txBody>
      </p:sp>
      <p:sp>
        <p:nvSpPr>
          <p:cNvPr id="37" name="Text 34"/>
          <p:cNvSpPr/>
          <p:nvPr/>
        </p:nvSpPr>
        <p:spPr>
          <a:xfrm>
            <a:off x="658368" y="6528816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1 · Bloque 4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716768" y="64465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3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3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0"/>
            <a:ext cx="402336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33151"/>
            <a:ext cx="1298448" cy="9418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" y="475488"/>
            <a:ext cx="1810512" cy="347472"/>
          </a:xfrm>
          <a:prstGeom prst="roundRect">
            <a:avLst>
              <a:gd name="adj" fmla="val 13158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54406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3 MINUTOS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694944" y="1024128"/>
            <a:ext cx="8979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validado abre la siguiente etapa</a:t>
            </a:r>
            <a:endParaRPr lang="en-US" sz="2900" dirty="0"/>
          </a:p>
        </p:txBody>
      </p:sp>
      <p:sp>
        <p:nvSpPr>
          <p:cNvPr id="9" name="Shape 6"/>
          <p:cNvSpPr/>
          <p:nvPr/>
        </p:nvSpPr>
        <p:spPr>
          <a:xfrm>
            <a:off x="713232" y="1700784"/>
            <a:ext cx="1389888" cy="365760"/>
          </a:xfrm>
          <a:prstGeom prst="roundRect">
            <a:avLst>
              <a:gd name="adj" fmla="val 12500"/>
            </a:avLst>
          </a:prstGeom>
          <a:solidFill>
            <a:srgbClr val="12385E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176936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SITUADO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2231136" y="1700784"/>
            <a:ext cx="1389888" cy="365760"/>
          </a:xfrm>
          <a:prstGeom prst="roundRect">
            <a:avLst>
              <a:gd name="adj" fmla="val 12500"/>
            </a:avLst>
          </a:prstGeom>
          <a:solidFill>
            <a:srgbClr val="12385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22576" y="176936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RESPALDADO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4005072" y="1700784"/>
            <a:ext cx="1389888" cy="365760"/>
          </a:xfrm>
          <a:prstGeom prst="roundRect">
            <a:avLst>
              <a:gd name="adj" fmla="val 12500"/>
            </a:avLst>
          </a:prstGeom>
          <a:solidFill>
            <a:srgbClr val="12385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96512" y="176936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PERTINENTE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713232" y="2395728"/>
            <a:ext cx="2907792" cy="1243584"/>
          </a:xfrm>
          <a:prstGeom prst="roundRect">
            <a:avLst>
              <a:gd name="adj" fmla="val 3676"/>
            </a:avLst>
          </a:prstGeom>
          <a:solidFill>
            <a:srgbClr val="12385E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2633472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MENTORÍA 1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914400" y="299923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validado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 contexto afectado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858768" y="2779776"/>
            <a:ext cx="384048" cy="438912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07408" y="2395728"/>
            <a:ext cx="2907792" cy="1243584"/>
          </a:xfrm>
          <a:prstGeom prst="roundRect">
            <a:avLst>
              <a:gd name="adj" fmla="val 3676"/>
            </a:avLst>
          </a:prstGeom>
          <a:solidFill>
            <a:srgbClr val="12385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08576" y="2633472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 SESIONES</a:t>
            </a:r>
            <a:endParaRPr lang="en-US" sz="940" dirty="0"/>
          </a:p>
        </p:txBody>
      </p:sp>
      <p:sp>
        <p:nvSpPr>
          <p:cNvPr id="21" name="Text 18"/>
          <p:cNvSpPr/>
          <p:nvPr/>
        </p:nvSpPr>
        <p:spPr>
          <a:xfrm>
            <a:off x="4608576" y="299923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paso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verificable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552944" y="2779776"/>
            <a:ext cx="384048" cy="438912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01584" y="2395728"/>
            <a:ext cx="2907792" cy="1243584"/>
          </a:xfrm>
          <a:prstGeom prst="roundRect">
            <a:avLst>
              <a:gd name="adj" fmla="val 3676"/>
            </a:avLst>
          </a:prstGeom>
          <a:solidFill>
            <a:srgbClr val="12385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02752" y="2633472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MENTORÍA 2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8302752" y="299923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Solución + componentes,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materiales o recursos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713232" y="4133088"/>
            <a:ext cx="10296144" cy="1280160"/>
          </a:xfrm>
          <a:prstGeom prst="roundRect">
            <a:avLst>
              <a:gd name="adj" fmla="val 3571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42416" y="4443984"/>
            <a:ext cx="9637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VALIDAMOS QUE ________________________________________________.</a:t>
            </a:r>
            <a:endParaRPr lang="en-US" sz="1540" dirty="0"/>
          </a:p>
        </p:txBody>
      </p:sp>
      <p:sp>
        <p:nvSpPr>
          <p:cNvPr id="28" name="Text 25"/>
          <p:cNvSpPr/>
          <p:nvPr/>
        </p:nvSpPr>
        <p:spPr>
          <a:xfrm>
            <a:off x="1042416" y="4882896"/>
            <a:ext cx="9637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LA MENTORÍA 2 AVANZAREMOS EN ____________________________.</a:t>
            </a:r>
            <a:endParaRPr lang="en-US" sz="1420" dirty="0"/>
          </a:p>
        </p:txBody>
      </p:sp>
      <p:sp>
        <p:nvSpPr>
          <p:cNvPr id="29" name="Text 26"/>
          <p:cNvSpPr/>
          <p:nvPr/>
        </p:nvSpPr>
        <p:spPr>
          <a:xfrm>
            <a:off x="914400" y="5833872"/>
            <a:ext cx="9893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equipo conserva: entregables de talleres · mapa situado · matriz de evidencia · ficha final · próximo paso</a:t>
            </a:r>
            <a:endParaRPr lang="en-US" sz="1180" dirty="0"/>
          </a:p>
        </p:txBody>
      </p:sp>
      <p:sp>
        <p:nvSpPr>
          <p:cNvPr id="30" name="Text 27"/>
          <p:cNvSpPr/>
          <p:nvPr/>
        </p:nvSpPr>
        <p:spPr>
          <a:xfrm>
            <a:off x="10716768" y="644652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E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AIEP Osorno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Mentoría 1 - ¿El problema es real?</dc:title>
  <dc:subject>Mentoría 1 - Problema y contexto afectado</dc:subject>
  <dc:creator>GeoGreen Escolar Osorno</dc:creator>
  <cp:lastModifiedBy>GeoGreen Escolar Osorno</cp:lastModifiedBy>
  <cp:revision>1</cp:revision>
  <dcterms:created xsi:type="dcterms:W3CDTF">2026-07-14T03:45:51Z</dcterms:created>
  <dcterms:modified xsi:type="dcterms:W3CDTF">2026-07-14T03:45:51Z</dcterms:modified>
</cp:coreProperties>
</file>