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mentorias\04\ppt\source\assets\images\portada-estudiantes-ensayo-pitch-geogreen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277856" y="182880"/>
            <a:ext cx="1645920" cy="1042416"/>
          </a:xfrm>
          <a:prstGeom prst="roundRect">
            <a:avLst>
              <a:gd name="adj" fmla="val 3509"/>
            </a:avLst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pic>
        <p:nvPicPr>
          <p:cNvPr id="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3135" y="256032"/>
            <a:ext cx="1235361" cy="8961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62179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94944" y="1225296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Comunicar para que</a:t>
            </a:r>
            <a:endParaRPr lang="en-US" sz="3550" dirty="0"/>
          </a:p>
          <a:p>
            <a:pPr indent="0" marL="0">
              <a:buNone/>
            </a:pPr>
            <a:r>
              <a:rPr lang="en-US" sz="3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idea avance</a:t>
            </a:r>
            <a:endParaRPr lang="en-US" sz="3550" dirty="0"/>
          </a:p>
        </p:txBody>
      </p:sp>
      <p:sp>
        <p:nvSpPr>
          <p:cNvPr id="10" name="Shape 6"/>
          <p:cNvSpPr/>
          <p:nvPr/>
        </p:nvSpPr>
        <p:spPr>
          <a:xfrm>
            <a:off x="713232" y="2798064"/>
            <a:ext cx="91440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13232" y="312724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· soporte visual · roles · ensayo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3232" y="3822192"/>
            <a:ext cx="4407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propuesta crece cuando otras personas pueden comprenderla.</a:t>
            </a:r>
            <a:endParaRPr lang="en-US" sz="2050" dirty="0"/>
          </a:p>
        </p:txBody>
      </p:sp>
      <p:sp>
        <p:nvSpPr>
          <p:cNvPr id="13" name="Shape 9"/>
          <p:cNvSpPr/>
          <p:nvPr/>
        </p:nvSpPr>
        <p:spPr>
          <a:xfrm>
            <a:off x="713232" y="5742432"/>
            <a:ext cx="221284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6384" y="577900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 28 SEP · 60 MIN</a:t>
            </a:r>
            <a:endParaRPr lang="en-US" sz="1020" dirty="0"/>
          </a:p>
        </p:txBody>
      </p:sp>
      <p:sp>
        <p:nvSpPr>
          <p:cNvPr id="15" name="Text 11"/>
          <p:cNvSpPr/>
          <p:nvPr/>
        </p:nvSpPr>
        <p:spPr>
          <a:xfrm>
            <a:off x="3182112" y="5824728"/>
            <a:ext cx="3602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AIEP Osorno · Instituto Comercial Liceo Bicentenario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MISIÓN DE HOY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76656" y="822960"/>
            <a:ext cx="9372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Transformar trabajo en una presentación que se entienda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94944" y="1536192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comenzamos otra idea. Recuperamos, ordenamos, coordinamos y mejoramos la que el equipo ya construyó.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1444752" y="2816352"/>
            <a:ext cx="9070848" cy="0"/>
          </a:xfrm>
          <a:prstGeom prst="line">
            <a:avLst/>
          </a:prstGeom>
          <a:noFill/>
          <a:ln w="12700">
            <a:solidFill>
              <a:srgbClr val="1D4E89">
                <a:alpha val="95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2487168"/>
            <a:ext cx="676656" cy="67665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6809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RECUPERAR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02336" y="3657600"/>
            <a:ext cx="20665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ya sabemos y podemos mostrar.</a:t>
            </a:r>
            <a:endParaRPr lang="en-US" sz="1240" dirty="0"/>
          </a:p>
        </p:txBody>
      </p:sp>
      <p:sp>
        <p:nvSpPr>
          <p:cNvPr id="14" name="Shape 11"/>
          <p:cNvSpPr/>
          <p:nvPr/>
        </p:nvSpPr>
        <p:spPr>
          <a:xfrm>
            <a:off x="3794760" y="2487168"/>
            <a:ext cx="676656" cy="6766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9476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46557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ORDENAR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3099816" y="3657600"/>
            <a:ext cx="20665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relato que otra persona pueda seguir.</a:t>
            </a:r>
            <a:endParaRPr lang="en-US" sz="1240" dirty="0"/>
          </a:p>
        </p:txBody>
      </p:sp>
      <p:sp>
        <p:nvSpPr>
          <p:cNvPr id="18" name="Shape 15"/>
          <p:cNvSpPr/>
          <p:nvPr/>
        </p:nvSpPr>
        <p:spPr>
          <a:xfrm>
            <a:off x="6492240" y="2487168"/>
            <a:ext cx="676656" cy="6766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16305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COORDINAR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797296" y="3657600"/>
            <a:ext cx="20665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Seis aportes, soporte y transiciones.</a:t>
            </a:r>
            <a:endParaRPr lang="en-US" sz="1240" dirty="0"/>
          </a:p>
        </p:txBody>
      </p:sp>
      <p:sp>
        <p:nvSpPr>
          <p:cNvPr id="22" name="Shape 19"/>
          <p:cNvSpPr/>
          <p:nvPr/>
        </p:nvSpPr>
        <p:spPr>
          <a:xfrm>
            <a:off x="9189720" y="2487168"/>
            <a:ext cx="676656" cy="67665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8972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86053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MEJORAR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8494776" y="3657600"/>
            <a:ext cx="20665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Ensayar, observar, ajustar y comprobar.</a:t>
            </a:r>
            <a:endParaRPr lang="en-US" sz="1240" dirty="0"/>
          </a:p>
        </p:txBody>
      </p:sp>
      <p:sp>
        <p:nvSpPr>
          <p:cNvPr id="26" name="Shape 23"/>
          <p:cNvSpPr/>
          <p:nvPr/>
        </p:nvSpPr>
        <p:spPr>
          <a:xfrm>
            <a:off x="1243584" y="5102352"/>
            <a:ext cx="9692640" cy="768096"/>
          </a:xfrm>
          <a:prstGeom prst="roundRect">
            <a:avLst>
              <a:gd name="adj" fmla="val 4762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36192" y="528523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05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OBLIGATORIA</a:t>
            </a:r>
            <a:endParaRPr lang="en-US" sz="1080" dirty="0"/>
          </a:p>
        </p:txBody>
      </p:sp>
      <p:sp>
        <p:nvSpPr>
          <p:cNvPr id="28" name="Text 25"/>
          <p:cNvSpPr/>
          <p:nvPr/>
        </p:nvSpPr>
        <p:spPr>
          <a:xfrm>
            <a:off x="3310128" y="5230368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Guion + soporte visual + seis roles y tiempos + una corrección comprobada</a:t>
            </a:r>
            <a:endParaRPr lang="en-US" sz="1650" dirty="0"/>
          </a:p>
        </p:txBody>
      </p:sp>
      <p:sp>
        <p:nvSpPr>
          <p:cNvPr id="29" name="Text 2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0" name="Text 2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DE 60 MINUTOS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hora, cinco movimientos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movimiento produce algo concreto y prepara el siguiente.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201168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00:00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0442448" y="201168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01:00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325880" y="3163824"/>
            <a:ext cx="9336024" cy="0"/>
          </a:xfrm>
          <a:prstGeom prst="line">
            <a:avLst/>
          </a:prstGeom>
          <a:noFill/>
          <a:ln w="12700">
            <a:solidFill>
              <a:srgbClr val="E9EEF4"/>
            </a:solidFill>
            <a:prstDash val="solid"/>
            <a:headEnd type="none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338328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RECUPERAR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32688" y="2770632"/>
            <a:ext cx="786384" cy="7863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2980944"/>
            <a:ext cx="7863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932688" y="3310128"/>
            <a:ext cx="786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56616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 + respaldo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560320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CONSTRUIR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3099816" y="2715768"/>
            <a:ext cx="896112" cy="89611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99816" y="2980944"/>
            <a:ext cx="8961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3099816" y="3310128"/>
            <a:ext cx="8961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2578608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comprensible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791456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COORDINAR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5349240" y="2734056"/>
            <a:ext cx="859536" cy="85953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49240" y="2980944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5349240" y="3310128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4809744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Soporte + seis voces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123176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ENSAYAR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7598664" y="2651760"/>
            <a:ext cx="1024128" cy="102412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598664" y="2980944"/>
            <a:ext cx="1024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7598664" y="331012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141464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 + comprobar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9674352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CERRAR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10332720" y="2834640"/>
            <a:ext cx="658368" cy="658368"/>
          </a:xfrm>
          <a:prstGeom prst="ellipse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332720" y="2980944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700" dirty="0"/>
          </a:p>
        </p:txBody>
      </p:sp>
      <p:sp>
        <p:nvSpPr>
          <p:cNvPr id="37" name="Text 34"/>
          <p:cNvSpPr/>
          <p:nvPr/>
        </p:nvSpPr>
        <p:spPr>
          <a:xfrm>
            <a:off x="10332720" y="3310128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9692640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Versión preparada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969264" y="4846320"/>
            <a:ext cx="10241280" cy="859536"/>
          </a:xfrm>
          <a:prstGeom prst="roundRect">
            <a:avLst>
              <a:gd name="adj" fmla="val 4255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33856" y="5047488"/>
            <a:ext cx="1572768" cy="457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261872" y="5193792"/>
            <a:ext cx="1316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TRAMO CLAVE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2980944" y="5074920"/>
            <a:ext cx="7726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 minutos para ensayar, observar y convertir una dificultad en una mejora comprobable.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talleres\03\media\fotos\prototipo-oled-geogreen-landscape.png">    </p:cNvPr>
          <p:cNvPicPr>
            <a:picLocks noChangeAspect="1"/>
          </p:cNvPicPr>
          <p:nvPr/>
        </p:nvPicPr>
        <p:blipFill>
          <a:blip r:embed="rId1"/>
          <a:srcRect l="18125" r="18125" t="0" b="0"/>
          <a:stretch/>
        </p:blipFill>
        <p:spPr>
          <a:xfrm>
            <a:off x="6729984" y="0"/>
            <a:ext cx="5458968" cy="6858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341864" y="146304"/>
            <a:ext cx="1609344" cy="1024128"/>
          </a:xfrm>
          <a:prstGeom prst="roundRect">
            <a:avLst>
              <a:gd name="adj" fmla="val 3571"/>
            </a:avLst>
          </a:prstGeom>
          <a:solidFill>
            <a:srgbClr val="031D3B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94944" y="512064"/>
            <a:ext cx="2487168" cy="365760"/>
          </a:xfrm>
          <a:prstGeom prst="roundRect">
            <a:avLst>
              <a:gd name="adj" fmla="val 125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" y="54864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10 MINUTOS</a:t>
            </a:r>
            <a:endParaRPr lang="en-US" sz="1080" dirty="0"/>
          </a:p>
        </p:txBody>
      </p:sp>
      <p:sp>
        <p:nvSpPr>
          <p:cNvPr id="10" name="Text 6"/>
          <p:cNvSpPr/>
          <p:nvPr/>
        </p:nvSpPr>
        <p:spPr>
          <a:xfrm>
            <a:off x="694944" y="1225296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presentar,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recuperen su historia</a:t>
            </a:r>
            <a:endParaRPr lang="en-US" sz="3200" dirty="0"/>
          </a:p>
        </p:txBody>
      </p:sp>
      <p:sp>
        <p:nvSpPr>
          <p:cNvPr id="11" name="Text 7"/>
          <p:cNvSpPr/>
          <p:nvPr/>
        </p:nvSpPr>
        <p:spPr>
          <a:xfrm>
            <a:off x="731520" y="2706624"/>
            <a:ext cx="4956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parten de cero. Cada mentoría dejó una decisión, un producto o una evidencia que ahora debe entrar al relato.</a:t>
            </a:r>
            <a:endParaRPr lang="en-US" sz="1510" dirty="0"/>
          </a:p>
        </p:txBody>
      </p:sp>
      <p:sp>
        <p:nvSpPr>
          <p:cNvPr id="12" name="Shape 8"/>
          <p:cNvSpPr/>
          <p:nvPr/>
        </p:nvSpPr>
        <p:spPr>
          <a:xfrm>
            <a:off x="731520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120" dirty="0"/>
          </a:p>
        </p:txBody>
      </p:sp>
      <p:sp>
        <p:nvSpPr>
          <p:cNvPr id="14" name="Shape 10"/>
          <p:cNvSpPr/>
          <p:nvPr/>
        </p:nvSpPr>
        <p:spPr>
          <a:xfrm>
            <a:off x="2432304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05456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120" dirty="0"/>
          </a:p>
        </p:txBody>
      </p:sp>
      <p:sp>
        <p:nvSpPr>
          <p:cNvPr id="16" name="Shape 12"/>
          <p:cNvSpPr/>
          <p:nvPr/>
        </p:nvSpPr>
        <p:spPr>
          <a:xfrm>
            <a:off x="4133088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206240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1120" dirty="0"/>
          </a:p>
        </p:txBody>
      </p:sp>
      <p:sp>
        <p:nvSpPr>
          <p:cNvPr id="18" name="Shape 14"/>
          <p:cNvSpPr/>
          <p:nvPr/>
        </p:nvSpPr>
        <p:spPr>
          <a:xfrm>
            <a:off x="731520" y="4974336"/>
            <a:ext cx="4983480" cy="768096"/>
          </a:xfrm>
          <a:prstGeom prst="roundRect">
            <a:avLst>
              <a:gd name="adj" fmla="val 4762"/>
            </a:avLst>
          </a:prstGeom>
          <a:solidFill>
            <a:srgbClr val="0D223A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87552" y="51937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no inventa valor: hace visible el proceso que el equipo puede respaldar.</a:t>
            </a:r>
            <a:endParaRPr lang="en-US" sz="1540" dirty="0"/>
          </a:p>
        </p:txBody>
      </p:sp>
      <p:sp>
        <p:nvSpPr>
          <p:cNvPr id="20" name="Text 1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21" name="Text 1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 DEL PROYECTO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productos entran. Una historia sale.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presentación conecta lo que el equipo ya investigó, decidió y puso a prueba.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1719072"/>
            <a:ext cx="6675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spc="12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ENTRADAS</a:t>
            </a:r>
            <a:endParaRPr lang="en-US" sz="1080" dirty="0"/>
          </a:p>
        </p:txBody>
      </p:sp>
      <p:sp>
        <p:nvSpPr>
          <p:cNvPr id="12" name="Text 9"/>
          <p:cNvSpPr/>
          <p:nvPr/>
        </p:nvSpPr>
        <p:spPr>
          <a:xfrm>
            <a:off x="8065008" y="171907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spc="12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658368" y="2011680"/>
            <a:ext cx="2084832" cy="2852928"/>
          </a:xfrm>
          <a:prstGeom prst="roundRect">
            <a:avLst>
              <a:gd name="adj" fmla="val 1754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08176" y="2221992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08176" y="2386584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2960" y="294436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822960" y="34564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Situación + contexto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96112" y="4041648"/>
            <a:ext cx="1609344" cy="0"/>
          </a:xfrm>
          <a:prstGeom prst="line">
            <a:avLst/>
          </a:prstGeom>
          <a:noFill/>
          <a:ln w="12700">
            <a:solidFill>
              <a:srgbClr val="D62027">
                <a:alpha val="7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42519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necesita cambiar?</a:t>
            </a:r>
            <a:endParaRPr lang="en-US" sz="1240" dirty="0"/>
          </a:p>
        </p:txBody>
      </p:sp>
      <p:sp>
        <p:nvSpPr>
          <p:cNvPr id="20" name="Shape 17"/>
          <p:cNvSpPr/>
          <p:nvPr/>
        </p:nvSpPr>
        <p:spPr>
          <a:xfrm>
            <a:off x="2944368" y="2011680"/>
            <a:ext cx="2084832" cy="2852928"/>
          </a:xfrm>
          <a:prstGeom prst="roundRect">
            <a:avLst>
              <a:gd name="adj" fmla="val 1754"/>
            </a:avLst>
          </a:prstGeom>
          <a:solidFill>
            <a:srgbClr val="DDF4F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94176" y="2221992"/>
            <a:ext cx="585216" cy="58521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94176" y="2386584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3108960" y="294436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3108960" y="34564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+ recursos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82112" y="4041648"/>
            <a:ext cx="1609344" cy="0"/>
          </a:xfrm>
          <a:prstGeom prst="line">
            <a:avLst/>
          </a:prstGeom>
          <a:noFill/>
          <a:ln w="12700">
            <a:solidFill>
              <a:srgbClr val="35B7C6">
                <a:alpha val="75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108960" y="42519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decidimos hacer?</a:t>
            </a:r>
            <a:endParaRPr lang="en-US" sz="1240" dirty="0"/>
          </a:p>
        </p:txBody>
      </p:sp>
      <p:sp>
        <p:nvSpPr>
          <p:cNvPr id="27" name="Shape 24"/>
          <p:cNvSpPr/>
          <p:nvPr/>
        </p:nvSpPr>
        <p:spPr>
          <a:xfrm>
            <a:off x="5230368" y="2011680"/>
            <a:ext cx="2084832" cy="2852928"/>
          </a:xfrm>
          <a:prstGeom prst="roundRect">
            <a:avLst>
              <a:gd name="adj" fmla="val 1754"/>
            </a:avLst>
          </a:prstGeom>
          <a:solidFill>
            <a:srgbClr val="FBF3DE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980176" y="2221992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0176" y="2386584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394960" y="294436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5394960" y="34564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+ aprendizaje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468112" y="4041648"/>
            <a:ext cx="1609344" cy="0"/>
          </a:xfrm>
          <a:prstGeom prst="line">
            <a:avLst/>
          </a:prstGeom>
          <a:noFill/>
          <a:ln w="12700">
            <a:solidFill>
              <a:srgbClr val="E0BC5A">
                <a:alpha val="75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94960" y="42519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podemos mostrar?</a:t>
            </a:r>
            <a:endParaRPr lang="en-US" sz="1240" dirty="0"/>
          </a:p>
        </p:txBody>
      </p:sp>
      <p:sp>
        <p:nvSpPr>
          <p:cNvPr id="34" name="Shape 31"/>
          <p:cNvSpPr/>
          <p:nvPr/>
        </p:nvSpPr>
        <p:spPr>
          <a:xfrm>
            <a:off x="7479792" y="2889504"/>
            <a:ext cx="457200" cy="1005840"/>
          </a:xfrm>
          <a:prstGeom prst="chevron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19872" y="2011680"/>
            <a:ext cx="3401568" cy="2852928"/>
          </a:xfrm>
          <a:prstGeom prst="roundRect">
            <a:avLst>
              <a:gd name="adj" fmla="val 1282"/>
            </a:avLst>
          </a:prstGeom>
          <a:solidFill>
            <a:srgbClr val="082B5C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394192" y="2267712"/>
            <a:ext cx="1316736" cy="384048"/>
          </a:xfrm>
          <a:prstGeom prst="roundRect">
            <a:avLst>
              <a:gd name="adj" fmla="val 1190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467344" y="230428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M4 · PITCH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8385048" y="2889504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HISTORIA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 SE ENTIENDE</a:t>
            </a:r>
            <a:endParaRPr lang="en-US" sz="2200" dirty="0"/>
          </a:p>
        </p:txBody>
      </p:sp>
      <p:sp>
        <p:nvSpPr>
          <p:cNvPr id="39" name="Text 36"/>
          <p:cNvSpPr/>
          <p:nvPr/>
        </p:nvSpPr>
        <p:spPr>
          <a:xfrm>
            <a:off x="8394192" y="3730752"/>
            <a:ext cx="2779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+ soporte visual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seis voces + una corrección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8394192" y="4425696"/>
            <a:ext cx="2779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i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lo comprenderá otra persona?</a:t>
            </a:r>
            <a:endParaRPr lang="en-US" sz="1280" dirty="0"/>
          </a:p>
        </p:txBody>
      </p:sp>
      <p:sp>
        <p:nvSpPr>
          <p:cNvPr id="41" name="Shape 38"/>
          <p:cNvSpPr/>
          <p:nvPr/>
        </p:nvSpPr>
        <p:spPr>
          <a:xfrm>
            <a:off x="987552" y="5230368"/>
            <a:ext cx="10204704" cy="694944"/>
          </a:xfrm>
          <a:prstGeom prst="roundRect">
            <a:avLst>
              <a:gd name="adj" fmla="val 5263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298448" y="5449824"/>
            <a:ext cx="9582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FALTA RESPALDO: SE REGISTRA. NO SE INVENTA.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2062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2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· INVENTARIO NARRATIVO</a:t>
            </a:r>
            <a:endParaRPr lang="en-US" sz="1080" dirty="0"/>
          </a:p>
        </p:txBody>
      </p:sp>
      <p:sp>
        <p:nvSpPr>
          <p:cNvPr id="7" name="Text 4"/>
          <p:cNvSpPr/>
          <p:nvPr/>
        </p:nvSpPr>
        <p:spPr>
          <a:xfrm>
            <a:off x="676656" y="749808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anclajes sostienen el pitch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94944" y="135331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Escriban una frase clara por anclaje utilizando solamente información que el equipo pueda explicar o respaldar.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694944" y="1993392"/>
            <a:ext cx="32552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" y="2221992"/>
            <a:ext cx="493776" cy="49377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" y="2359152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120" dirty="0"/>
          </a:p>
        </p:txBody>
      </p:sp>
      <p:sp>
        <p:nvSpPr>
          <p:cNvPr id="12" name="Text 9"/>
          <p:cNvSpPr/>
          <p:nvPr/>
        </p:nvSpPr>
        <p:spPr>
          <a:xfrm>
            <a:off x="1517904" y="224942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Y CONTEXTO</a:t>
            </a:r>
            <a:endParaRPr lang="en-US" sz="1520" dirty="0"/>
          </a:p>
        </p:txBody>
      </p:sp>
      <p:sp>
        <p:nvSpPr>
          <p:cNvPr id="13" name="Text 10"/>
          <p:cNvSpPr/>
          <p:nvPr/>
        </p:nvSpPr>
        <p:spPr>
          <a:xfrm>
            <a:off x="914400" y="2761488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ocurre, dónde ocurre y quiénes se relacionan con la situación?</a:t>
            </a:r>
            <a:endParaRPr lang="en-US" sz="1240" dirty="0"/>
          </a:p>
        </p:txBody>
      </p:sp>
      <p:sp>
        <p:nvSpPr>
          <p:cNvPr id="14" name="Shape 11"/>
          <p:cNvSpPr/>
          <p:nvPr/>
        </p:nvSpPr>
        <p:spPr>
          <a:xfrm>
            <a:off x="7315200" y="1993392"/>
            <a:ext cx="41696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0" y="2221992"/>
            <a:ext cx="493776" cy="49377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98080" y="2359152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120" dirty="0"/>
          </a:p>
        </p:txBody>
      </p:sp>
      <p:sp>
        <p:nvSpPr>
          <p:cNvPr id="17" name="Text 14"/>
          <p:cNvSpPr/>
          <p:nvPr/>
        </p:nvSpPr>
        <p:spPr>
          <a:xfrm>
            <a:off x="8138160" y="224942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 PROPUESTA</a:t>
            </a:r>
            <a:endParaRPr lang="en-US" sz="1520" dirty="0"/>
          </a:p>
        </p:txBody>
      </p:sp>
      <p:sp>
        <p:nvSpPr>
          <p:cNvPr id="18" name="Text 15"/>
          <p:cNvSpPr/>
          <p:nvPr/>
        </p:nvSpPr>
        <p:spPr>
          <a:xfrm>
            <a:off x="7534656" y="2761488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propone el equipo y de qué manera responde al problema?</a:t>
            </a:r>
            <a:endParaRPr lang="en-US" sz="1240" dirty="0"/>
          </a:p>
        </p:txBody>
      </p:sp>
      <p:sp>
        <p:nvSpPr>
          <p:cNvPr id="19" name="Shape 16"/>
          <p:cNvSpPr/>
          <p:nvPr/>
        </p:nvSpPr>
        <p:spPr>
          <a:xfrm>
            <a:off x="694944" y="4078224"/>
            <a:ext cx="32552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77824" y="4306824"/>
            <a:ext cx="493776" cy="49377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7824" y="4443984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120" dirty="0"/>
          </a:p>
        </p:txBody>
      </p:sp>
      <p:sp>
        <p:nvSpPr>
          <p:cNvPr id="22" name="Text 19"/>
          <p:cNvSpPr/>
          <p:nvPr/>
        </p:nvSpPr>
        <p:spPr>
          <a:xfrm>
            <a:off x="1517904" y="433425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520" dirty="0"/>
          </a:p>
        </p:txBody>
      </p:sp>
      <p:sp>
        <p:nvSpPr>
          <p:cNvPr id="23" name="Text 20"/>
          <p:cNvSpPr/>
          <p:nvPr/>
        </p:nvSpPr>
        <p:spPr>
          <a:xfrm>
            <a:off x="914400" y="484632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podemos mostrar para respaldar que la propuesta avanzó?</a:t>
            </a:r>
            <a:endParaRPr lang="en-US" sz="1240" dirty="0"/>
          </a:p>
        </p:txBody>
      </p:sp>
      <p:sp>
        <p:nvSpPr>
          <p:cNvPr id="24" name="Shape 21"/>
          <p:cNvSpPr/>
          <p:nvPr/>
        </p:nvSpPr>
        <p:spPr>
          <a:xfrm>
            <a:off x="7315200" y="4078224"/>
            <a:ext cx="41696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0" y="4306824"/>
            <a:ext cx="493776" cy="49377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98080" y="4443984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120" dirty="0"/>
          </a:p>
        </p:txBody>
      </p:sp>
      <p:sp>
        <p:nvSpPr>
          <p:cNvPr id="27" name="Text 24"/>
          <p:cNvSpPr/>
          <p:nvPr/>
        </p:nvSpPr>
        <p:spPr>
          <a:xfrm>
            <a:off x="8138160" y="4334256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APRENDIZAJE O APORTE</a:t>
            </a:r>
            <a:endParaRPr lang="en-US" sz="1520" dirty="0"/>
          </a:p>
        </p:txBody>
      </p:sp>
      <p:sp>
        <p:nvSpPr>
          <p:cNvPr id="28" name="Text 25"/>
          <p:cNvSpPr/>
          <p:nvPr/>
        </p:nvSpPr>
        <p:spPr>
          <a:xfrm>
            <a:off x="7534656" y="484632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comprendimos mejor y qué mejora busca favorecer la propuesta?</a:t>
            </a:r>
            <a:endParaRPr lang="en-US" sz="1240" dirty="0"/>
          </a:p>
        </p:txBody>
      </p:sp>
      <p:sp>
        <p:nvSpPr>
          <p:cNvPr id="29" name="Shape 26"/>
          <p:cNvSpPr/>
          <p:nvPr/>
        </p:nvSpPr>
        <p:spPr>
          <a:xfrm>
            <a:off x="4572000" y="2596896"/>
            <a:ext cx="2139696" cy="21396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91456" y="32461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HISTORIA</a:t>
            </a:r>
            <a:endParaRPr lang="en-US" sz="1750" dirty="0"/>
          </a:p>
          <a:p>
            <a:pPr algn="ctr" indent="0" marL="0">
              <a:buNone/>
            </a:pPr>
            <a:r>
              <a:rPr lang="en-US" sz="17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PROYECTO</a:t>
            </a:r>
            <a:endParaRPr lang="en-US" sz="1750" dirty="0"/>
          </a:p>
        </p:txBody>
      </p:sp>
      <p:sp>
        <p:nvSpPr>
          <p:cNvPr id="31" name="Shape 28"/>
          <p:cNvSpPr/>
          <p:nvPr/>
        </p:nvSpPr>
        <p:spPr>
          <a:xfrm>
            <a:off x="1170432" y="5742432"/>
            <a:ext cx="9829800" cy="493776"/>
          </a:xfrm>
          <a:prstGeom prst="roundRect">
            <a:avLst>
              <a:gd name="adj" fmla="val 7407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444752" y="5879592"/>
            <a:ext cx="9281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spc="4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MINUTOS · UNA FRASE POR ANCLAJE · SI NO HAY RESPALDO, ESCRIBAN “FALTA COMPROBAR”</a:t>
            </a:r>
            <a:endParaRPr lang="en-US" sz="1130" dirty="0"/>
          </a:p>
        </p:txBody>
      </p:sp>
      <p:sp>
        <p:nvSpPr>
          <p:cNvPr id="33" name="Text 30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4" name="Text 31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" y="512064"/>
            <a:ext cx="248716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548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15 MINUTOS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694944" y="1225296"/>
            <a:ext cx="56509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buena idea necesita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orden que se pueda seguir</a:t>
            </a:r>
            <a:endParaRPr lang="en-US" sz="3100" dirty="0"/>
          </a:p>
        </p:txBody>
      </p:sp>
      <p:sp>
        <p:nvSpPr>
          <p:cNvPr id="9" name="Text 6"/>
          <p:cNvSpPr/>
          <p:nvPr/>
        </p:nvSpPr>
        <p:spPr>
          <a:xfrm>
            <a:off x="731520" y="2651760"/>
            <a:ext cx="5358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guion decide qué necesita saber primero una persona que escucha la propuesta por primera vez.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59168" y="1280160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50608" y="1344168"/>
            <a:ext cx="365760" cy="36576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0608" y="144475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662672" y="14173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380" dirty="0"/>
          </a:p>
        </p:txBody>
      </p:sp>
      <p:sp>
        <p:nvSpPr>
          <p:cNvPr id="14" name="Shape 11"/>
          <p:cNvSpPr/>
          <p:nvPr/>
        </p:nvSpPr>
        <p:spPr>
          <a:xfrm>
            <a:off x="7424928" y="1938528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16368" y="2002536"/>
            <a:ext cx="365760" cy="365760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16368" y="210312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028432" y="2075688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PERSONAS</a:t>
            </a:r>
            <a:endParaRPr lang="en-US" sz="1380" dirty="0"/>
          </a:p>
        </p:txBody>
      </p:sp>
      <p:sp>
        <p:nvSpPr>
          <p:cNvPr id="18" name="Shape 15"/>
          <p:cNvSpPr/>
          <p:nvPr/>
        </p:nvSpPr>
        <p:spPr>
          <a:xfrm>
            <a:off x="7790688" y="2596896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82128" y="2660904"/>
            <a:ext cx="365760" cy="36576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82128" y="276148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8394192" y="2734056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</a:t>
            </a:r>
            <a:endParaRPr lang="en-US" sz="1380" dirty="0"/>
          </a:p>
        </p:txBody>
      </p:sp>
      <p:sp>
        <p:nvSpPr>
          <p:cNvPr id="22" name="Shape 19"/>
          <p:cNvSpPr/>
          <p:nvPr/>
        </p:nvSpPr>
        <p:spPr>
          <a:xfrm>
            <a:off x="8156448" y="3255264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47888" y="33192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47888" y="341985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759952" y="339242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FUNCIÓN</a:t>
            </a:r>
            <a:endParaRPr lang="en-US" sz="1380" dirty="0"/>
          </a:p>
        </p:txBody>
      </p:sp>
      <p:sp>
        <p:nvSpPr>
          <p:cNvPr id="26" name="Shape 23"/>
          <p:cNvSpPr/>
          <p:nvPr/>
        </p:nvSpPr>
        <p:spPr>
          <a:xfrm>
            <a:off x="8522208" y="3913632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13648" y="3977640"/>
            <a:ext cx="365760" cy="365760"/>
          </a:xfrm>
          <a:prstGeom prst="ellipse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613648" y="407822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25712" y="40507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380" dirty="0"/>
          </a:p>
        </p:txBody>
      </p:sp>
      <p:sp>
        <p:nvSpPr>
          <p:cNvPr id="30" name="Shape 27"/>
          <p:cNvSpPr/>
          <p:nvPr/>
        </p:nvSpPr>
        <p:spPr>
          <a:xfrm>
            <a:off x="8887968" y="4572000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79408" y="4636008"/>
            <a:ext cx="365760" cy="36576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79408" y="473659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9491472" y="470916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APORTE</a:t>
            </a:r>
            <a:endParaRPr lang="en-US" sz="1380" dirty="0"/>
          </a:p>
        </p:txBody>
      </p:sp>
      <p:sp>
        <p:nvSpPr>
          <p:cNvPr id="34" name="Shape 31"/>
          <p:cNvSpPr/>
          <p:nvPr/>
        </p:nvSpPr>
        <p:spPr>
          <a:xfrm>
            <a:off x="731520" y="4736592"/>
            <a:ext cx="5358384" cy="932688"/>
          </a:xfrm>
          <a:prstGeom prst="roundRect">
            <a:avLst>
              <a:gd name="adj" fmla="val 3922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24128" y="4956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pitch no es una lista de piezas.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024128" y="52852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una historia donde cada parte prepara la siguiente.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8" name="Text 35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DEL PITCH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parte prepara la siguiente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orden permite comprender por qué existe la propuesta antes de conocer sus detalles.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207008" y="3035808"/>
            <a:ext cx="9646920" cy="0"/>
          </a:xfrm>
          <a:prstGeom prst="line">
            <a:avLst/>
          </a:prstGeom>
          <a:noFill/>
          <a:ln w="12700">
            <a:solidFill>
              <a:srgbClr val="E9EEF4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347472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420" dirty="0"/>
          </a:p>
        </p:txBody>
      </p:sp>
      <p:sp>
        <p:nvSpPr>
          <p:cNvPr id="13" name="Shape 10"/>
          <p:cNvSpPr/>
          <p:nvPr/>
        </p:nvSpPr>
        <p:spPr>
          <a:xfrm>
            <a:off x="813816" y="2642616"/>
            <a:ext cx="786384" cy="7863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3816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65760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ocurre?</a:t>
            </a:r>
            <a:endParaRPr lang="en-US" sz="1280" dirty="0"/>
          </a:p>
        </p:txBody>
      </p:sp>
      <p:sp>
        <p:nvSpPr>
          <p:cNvPr id="16" name="Text 13"/>
          <p:cNvSpPr/>
          <p:nvPr/>
        </p:nvSpPr>
        <p:spPr>
          <a:xfrm>
            <a:off x="2276856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PERSONAS</a:t>
            </a:r>
            <a:endParaRPr lang="en-US" sz="1420" dirty="0"/>
          </a:p>
        </p:txBody>
      </p:sp>
      <p:sp>
        <p:nvSpPr>
          <p:cNvPr id="17" name="Shape 14"/>
          <p:cNvSpPr/>
          <p:nvPr/>
        </p:nvSpPr>
        <p:spPr>
          <a:xfrm>
            <a:off x="2743200" y="2642616"/>
            <a:ext cx="786384" cy="786384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43200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295144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¿A quiénes implica?</a:t>
            </a:r>
            <a:endParaRPr lang="en-US" sz="1280" dirty="0"/>
          </a:p>
        </p:txBody>
      </p:sp>
      <p:sp>
        <p:nvSpPr>
          <p:cNvPr id="20" name="Text 17"/>
          <p:cNvSpPr/>
          <p:nvPr/>
        </p:nvSpPr>
        <p:spPr>
          <a:xfrm>
            <a:off x="4206240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</a:t>
            </a:r>
            <a:endParaRPr lang="en-US" sz="1420" dirty="0"/>
          </a:p>
        </p:txBody>
      </p:sp>
      <p:sp>
        <p:nvSpPr>
          <p:cNvPr id="21" name="Shape 18"/>
          <p:cNvSpPr/>
          <p:nvPr/>
        </p:nvSpPr>
        <p:spPr>
          <a:xfrm>
            <a:off x="4672584" y="2642616"/>
            <a:ext cx="786384" cy="7863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72584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224528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proponemos?</a:t>
            </a:r>
            <a:endParaRPr lang="en-US" sz="1280" dirty="0"/>
          </a:p>
        </p:txBody>
      </p:sp>
      <p:sp>
        <p:nvSpPr>
          <p:cNvPr id="24" name="Text 21"/>
          <p:cNvSpPr/>
          <p:nvPr/>
        </p:nvSpPr>
        <p:spPr>
          <a:xfrm>
            <a:off x="6135624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FUNCIÓN</a:t>
            </a:r>
            <a:endParaRPr lang="en-US" sz="1420" dirty="0"/>
          </a:p>
        </p:txBody>
      </p:sp>
      <p:sp>
        <p:nvSpPr>
          <p:cNvPr id="25" name="Shape 22"/>
          <p:cNvSpPr/>
          <p:nvPr/>
        </p:nvSpPr>
        <p:spPr>
          <a:xfrm>
            <a:off x="6601968" y="2642616"/>
            <a:ext cx="786384" cy="78638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601968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153912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hace?</a:t>
            </a:r>
            <a:endParaRPr lang="en-US" sz="1280" dirty="0"/>
          </a:p>
        </p:txBody>
      </p:sp>
      <p:sp>
        <p:nvSpPr>
          <p:cNvPr id="28" name="Text 25"/>
          <p:cNvSpPr/>
          <p:nvPr/>
        </p:nvSpPr>
        <p:spPr>
          <a:xfrm>
            <a:off x="8065008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420" dirty="0"/>
          </a:p>
        </p:txBody>
      </p:sp>
      <p:sp>
        <p:nvSpPr>
          <p:cNvPr id="29" name="Shape 26"/>
          <p:cNvSpPr/>
          <p:nvPr/>
        </p:nvSpPr>
        <p:spPr>
          <a:xfrm>
            <a:off x="8531352" y="2642616"/>
            <a:ext cx="786384" cy="786384"/>
          </a:xfrm>
          <a:prstGeom prst="ellipse">
            <a:avLst/>
          </a:prstGeom>
          <a:solidFill>
            <a:srgbClr val="1D4E8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531352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083296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mostramos?</a:t>
            </a:r>
            <a:endParaRPr lang="en-US" sz="1280" dirty="0"/>
          </a:p>
        </p:txBody>
      </p:sp>
      <p:sp>
        <p:nvSpPr>
          <p:cNvPr id="32" name="Text 29"/>
          <p:cNvSpPr/>
          <p:nvPr/>
        </p:nvSpPr>
        <p:spPr>
          <a:xfrm>
            <a:off x="9994392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APORTE</a:t>
            </a:r>
            <a:endParaRPr lang="en-US" sz="1420" dirty="0"/>
          </a:p>
        </p:txBody>
      </p:sp>
      <p:sp>
        <p:nvSpPr>
          <p:cNvPr id="33" name="Shape 30"/>
          <p:cNvSpPr/>
          <p:nvPr/>
        </p:nvSpPr>
        <p:spPr>
          <a:xfrm>
            <a:off x="10460736" y="2642616"/>
            <a:ext cx="786384" cy="7863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460736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0012680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busca mejorar?</a:t>
            </a:r>
            <a:endParaRPr lang="en-US" sz="1280" dirty="0"/>
          </a:p>
        </p:txBody>
      </p:sp>
      <p:sp>
        <p:nvSpPr>
          <p:cNvPr id="36" name="Shape 33"/>
          <p:cNvSpPr/>
          <p:nvPr/>
        </p:nvSpPr>
        <p:spPr>
          <a:xfrm>
            <a:off x="1042416" y="4736592"/>
            <a:ext cx="10104120" cy="987552"/>
          </a:xfrm>
          <a:prstGeom prst="roundRect">
            <a:avLst>
              <a:gd name="adj" fmla="val 3704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335024" y="49560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9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COLUMNA VERTEBRAL</a:t>
            </a:r>
            <a:endParaRPr lang="en-US" sz="1080" dirty="0"/>
          </a:p>
        </p:txBody>
      </p:sp>
      <p:sp>
        <p:nvSpPr>
          <p:cNvPr id="38" name="Text 35"/>
          <p:cNvSpPr/>
          <p:nvPr/>
        </p:nvSpPr>
        <p:spPr>
          <a:xfrm>
            <a:off x="3364992" y="4882896"/>
            <a:ext cx="7059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 ↔  SOLUCIÓN  ↔  EVIDENCIA</a:t>
            </a:r>
            <a:endParaRPr lang="en-US" sz="2000" dirty="0"/>
          </a:p>
        </p:txBody>
      </p:sp>
      <p:sp>
        <p:nvSpPr>
          <p:cNvPr id="39" name="Text 36"/>
          <p:cNvSpPr/>
          <p:nvPr/>
        </p:nvSpPr>
        <p:spPr>
          <a:xfrm>
            <a:off x="3364992" y="5266944"/>
            <a:ext cx="7059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una de estas relaciones se rompe, la historia pierde coherencia.</a:t>
            </a:r>
            <a:endParaRPr lang="en-US" sz="13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LENGUAJE PARA UNA AUDIENCIA DIVERSA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 funciones, contextos y alcances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precisión no exige hablar difícil: exige decir qué hace la propuesta y qué puede respaldar.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847088"/>
            <a:ext cx="5632704" cy="3456432"/>
          </a:xfrm>
          <a:prstGeom prst="roundRect">
            <a:avLst>
              <a:gd name="adj" fmla="val 1058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96112" y="2066544"/>
            <a:ext cx="1700784" cy="365760"/>
          </a:xfrm>
          <a:prstGeom prst="roundRect">
            <a:avLst>
              <a:gd name="adj" fmla="val 12500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9264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GEOGREEN</a:t>
            </a:r>
            <a:endParaRPr lang="en-US" sz="1050" dirty="0"/>
          </a:p>
        </p:txBody>
      </p:sp>
      <p:pic>
        <p:nvPicPr>
          <p:cNvPr id="14" name="Image 1" descr="C:\Users\Diego Obando\dev\proyecto-01-aiep-geogreen\talleres\03\media\generadas\sistema-geogreen-sensor-dato-respue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08" y="2468880"/>
            <a:ext cx="4468025" cy="25146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547104" y="1847088"/>
            <a:ext cx="4992624" cy="3456432"/>
          </a:xfrm>
          <a:prstGeom prst="roundRect">
            <a:avLst>
              <a:gd name="adj" fmla="val 1058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858000" y="2084832"/>
            <a:ext cx="109728" cy="768096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150608" y="20848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8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FUNCIÓN</a:t>
            </a:r>
            <a:endParaRPr lang="en-US" sz="1080" dirty="0"/>
          </a:p>
        </p:txBody>
      </p:sp>
      <p:sp>
        <p:nvSpPr>
          <p:cNvPr id="18" name="Text 14"/>
          <p:cNvSpPr/>
          <p:nvPr/>
        </p:nvSpPr>
        <p:spPr>
          <a:xfrm>
            <a:off x="7150608" y="2331720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sensor mide la distancia y permite estimar el nivel de llenado.</a:t>
            </a:r>
            <a:endParaRPr lang="en-US" sz="1380" dirty="0"/>
          </a:p>
        </p:txBody>
      </p:sp>
      <p:sp>
        <p:nvSpPr>
          <p:cNvPr id="19" name="Text 15"/>
          <p:cNvSpPr/>
          <p:nvPr/>
        </p:nvSpPr>
        <p:spPr>
          <a:xfrm>
            <a:off x="7150608" y="2715768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Empieza por lo que permite hacer.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858000" y="2944368"/>
            <a:ext cx="4370832" cy="0"/>
          </a:xfrm>
          <a:prstGeom prst="line">
            <a:avLst/>
          </a:prstGeom>
          <a:noFill/>
          <a:ln w="12700">
            <a:solidFill>
              <a:srgbClr val="1D4E8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58000" y="3090672"/>
            <a:ext cx="109728" cy="7680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150608" y="30906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1080" dirty="0"/>
          </a:p>
        </p:txBody>
      </p:sp>
      <p:sp>
        <p:nvSpPr>
          <p:cNvPr id="23" name="Text 19"/>
          <p:cNvSpPr/>
          <p:nvPr/>
        </p:nvSpPr>
        <p:spPr>
          <a:xfrm>
            <a:off x="7150608" y="3337560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el espacio observado, la separación de residuos no es constante.</a:t>
            </a:r>
            <a:endParaRPr lang="en-US" sz="1380" dirty="0"/>
          </a:p>
        </p:txBody>
      </p:sp>
      <p:sp>
        <p:nvSpPr>
          <p:cNvPr id="24" name="Text 20"/>
          <p:cNvSpPr/>
          <p:nvPr/>
        </p:nvSpPr>
        <p:spPr>
          <a:xfrm>
            <a:off x="7150608" y="3721608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situaciones observables, no culpas.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858000" y="3950208"/>
            <a:ext cx="4370832" cy="0"/>
          </a:xfrm>
          <a:prstGeom prst="line">
            <a:avLst/>
          </a:prstGeom>
          <a:noFill/>
          <a:ln w="12700">
            <a:solidFill>
              <a:srgbClr val="1D4E8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0" y="4096512"/>
            <a:ext cx="109728" cy="768096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150608" y="40965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8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80" dirty="0"/>
          </a:p>
        </p:txBody>
      </p:sp>
      <p:sp>
        <p:nvSpPr>
          <p:cNvPr id="28" name="Text 24"/>
          <p:cNvSpPr/>
          <p:nvPr/>
        </p:nvSpPr>
        <p:spPr>
          <a:xfrm>
            <a:off x="7150608" y="4343400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busca facilitar una acción y muestra una primera evidencia.</a:t>
            </a:r>
            <a:endParaRPr lang="en-US" sz="1380" dirty="0"/>
          </a:p>
        </p:txBody>
      </p:sp>
      <p:sp>
        <p:nvSpPr>
          <p:cNvPr id="29" name="Text 25"/>
          <p:cNvSpPr/>
          <p:nvPr/>
        </p:nvSpPr>
        <p:spPr>
          <a:xfrm>
            <a:off x="7150608" y="4727448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Distingue avance comprobado de aporte esperado.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1207008" y="5541264"/>
            <a:ext cx="9784080" cy="493776"/>
          </a:xfrm>
          <a:prstGeom prst="roundRect">
            <a:avLst>
              <a:gd name="adj" fmla="val 7407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536192" y="5678424"/>
            <a:ext cx="9125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SENSAR  →  ENVIAR  →  VISUALIZAR  →  ALERTAR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2062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2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· PRIMERA VERSIÓN</a:t>
            </a:r>
            <a:endParaRPr lang="en-US" sz="1080" dirty="0"/>
          </a:p>
        </p:txBody>
      </p:sp>
      <p:sp>
        <p:nvSpPr>
          <p:cNvPr id="7" name="Text 4"/>
          <p:cNvSpPr/>
          <p:nvPr/>
        </p:nvSpPr>
        <p:spPr>
          <a:xfrm>
            <a:off x="676656" y="749808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Construyan el guion del pitch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94944" y="130759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idea principal por tramo. Frases breves. Información que el equipo pueda explicar o respaldar.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58368" y="1773936"/>
            <a:ext cx="7077456" cy="4334256"/>
          </a:xfrm>
          <a:prstGeom prst="roundRect">
            <a:avLst>
              <a:gd name="adj" fmla="val 844"/>
            </a:avLst>
          </a:prstGeom>
          <a:solidFill>
            <a:srgbClr val="F5F2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2011680"/>
            <a:ext cx="347472" cy="34747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103120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444752" y="1975104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[lugar o contexto] observamos que...</a:t>
            </a:r>
            <a:endParaRPr lang="en-US" sz="1360" dirty="0"/>
          </a:p>
        </p:txBody>
      </p:sp>
      <p:sp>
        <p:nvSpPr>
          <p:cNvPr id="13" name="Shape 10"/>
          <p:cNvSpPr/>
          <p:nvPr/>
        </p:nvSpPr>
        <p:spPr>
          <a:xfrm>
            <a:off x="1444752" y="2377440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2569464"/>
            <a:ext cx="347472" cy="34747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2660904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444752" y="2532888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 situación afecta o se relaciona con...</a:t>
            </a:r>
            <a:endParaRPr lang="en-US" sz="1360" dirty="0"/>
          </a:p>
        </p:txBody>
      </p:sp>
      <p:sp>
        <p:nvSpPr>
          <p:cNvPr id="17" name="Shape 14"/>
          <p:cNvSpPr/>
          <p:nvPr/>
        </p:nvSpPr>
        <p:spPr>
          <a:xfrm>
            <a:off x="1444752" y="2935224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3127248"/>
            <a:ext cx="347472" cy="34747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218688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444752" y="3090672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Frente a este problema, nuestro equipo propone...</a:t>
            </a:r>
            <a:endParaRPr lang="en-US" sz="1360" dirty="0"/>
          </a:p>
        </p:txBody>
      </p:sp>
      <p:sp>
        <p:nvSpPr>
          <p:cNvPr id="21" name="Shape 18"/>
          <p:cNvSpPr/>
          <p:nvPr/>
        </p:nvSpPr>
        <p:spPr>
          <a:xfrm>
            <a:off x="1444752" y="3493008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4400" y="3685032"/>
            <a:ext cx="347472" cy="347472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77647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444752" y="3648456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funciona de la siguiente manera...</a:t>
            </a:r>
            <a:endParaRPr lang="en-US" sz="1360" dirty="0"/>
          </a:p>
        </p:txBody>
      </p:sp>
      <p:sp>
        <p:nvSpPr>
          <p:cNvPr id="25" name="Shape 22"/>
          <p:cNvSpPr/>
          <p:nvPr/>
        </p:nvSpPr>
        <p:spPr>
          <a:xfrm>
            <a:off x="1444752" y="4050792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4400" y="4242816"/>
            <a:ext cx="347472" cy="347472"/>
          </a:xfrm>
          <a:prstGeom prst="ellipse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4400" y="4334256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444752" y="4206240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Podemos respaldar nuestro avance mostrando...</a:t>
            </a:r>
            <a:endParaRPr lang="en-US" sz="1360" dirty="0"/>
          </a:p>
        </p:txBody>
      </p:sp>
      <p:sp>
        <p:nvSpPr>
          <p:cNvPr id="29" name="Shape 26"/>
          <p:cNvSpPr/>
          <p:nvPr/>
        </p:nvSpPr>
        <p:spPr>
          <a:xfrm>
            <a:off x="1444752" y="4608576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4400" y="4800600"/>
            <a:ext cx="347472" cy="34747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4892040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444752" y="4764024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esta propuesta esperamos aportar a...</a:t>
            </a:r>
            <a:endParaRPr lang="en-US" sz="1360" dirty="0"/>
          </a:p>
        </p:txBody>
      </p:sp>
      <p:sp>
        <p:nvSpPr>
          <p:cNvPr id="33" name="Shape 30"/>
          <p:cNvSpPr/>
          <p:nvPr/>
        </p:nvSpPr>
        <p:spPr>
          <a:xfrm>
            <a:off x="1444752" y="5166360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14400" y="5358384"/>
            <a:ext cx="347472" cy="34747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4400" y="5449824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444752" y="5321808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principal que queremos dejar es...</a:t>
            </a:r>
            <a:endParaRPr lang="en-US" sz="1360" dirty="0"/>
          </a:p>
        </p:txBody>
      </p:sp>
      <p:sp>
        <p:nvSpPr>
          <p:cNvPr id="37" name="Shape 34"/>
          <p:cNvSpPr/>
          <p:nvPr/>
        </p:nvSpPr>
        <p:spPr>
          <a:xfrm>
            <a:off x="1444752" y="5724144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101584" y="1847088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MOVIMIENTOS</a:t>
            </a:r>
            <a:endParaRPr lang="en-US" sz="1080" dirty="0"/>
          </a:p>
        </p:txBody>
      </p:sp>
      <p:sp>
        <p:nvSpPr>
          <p:cNvPr id="39" name="Shape 36"/>
          <p:cNvSpPr/>
          <p:nvPr/>
        </p:nvSpPr>
        <p:spPr>
          <a:xfrm>
            <a:off x="8065008" y="2212848"/>
            <a:ext cx="3456432" cy="603504"/>
          </a:xfrm>
          <a:prstGeom prst="roundRect">
            <a:avLst>
              <a:gd name="adj" fmla="val 6061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66176" y="237744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705088" y="230428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ORDENAR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8705088" y="254203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Ubicar cada idea.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065008" y="2944368"/>
            <a:ext cx="3456432" cy="603504"/>
          </a:xfrm>
          <a:prstGeom prst="roundRect">
            <a:avLst>
              <a:gd name="adj" fmla="val 6061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266176" y="310896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8705088" y="303580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CONECTAR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8705088" y="327355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relaciones.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8065008" y="3675888"/>
            <a:ext cx="3456432" cy="603504"/>
          </a:xfrm>
          <a:prstGeom prst="roundRect">
            <a:avLst>
              <a:gd name="adj" fmla="val 6061"/>
            </a:avLst>
          </a:prstGeom>
          <a:solidFill>
            <a:srgbClr val="0D223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266176" y="384048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705088" y="376732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DEPURAR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8705088" y="400507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Quitar repeticiones.</a:t>
            </a:r>
            <a:endParaRPr lang="en-US" sz="1150" dirty="0"/>
          </a:p>
        </p:txBody>
      </p:sp>
      <p:sp>
        <p:nvSpPr>
          <p:cNvPr id="51" name="Shape 48"/>
          <p:cNvSpPr/>
          <p:nvPr/>
        </p:nvSpPr>
        <p:spPr>
          <a:xfrm>
            <a:off x="8065008" y="4407408"/>
            <a:ext cx="3456432" cy="603504"/>
          </a:xfrm>
          <a:prstGeom prst="roundRect">
            <a:avLst>
              <a:gd name="adj" fmla="val 6061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266176" y="457200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8705088" y="449884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EN VOZ ALTA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8705088" y="47365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naturalidad.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8065008" y="5358384"/>
            <a:ext cx="3456432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284464" y="5550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MINUTOS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9400032" y="5513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Primera versión completa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59" name="Text 56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ENTRE PARES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¿Otra persona puede reconstruir la propuesta?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claridad se comprueba cuando alguien entiende el guion sin recibir explicaciones adicionales.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901952"/>
            <a:ext cx="3822192" cy="3529584"/>
          </a:xfrm>
          <a:prstGeom prst="roundRect">
            <a:avLst>
              <a:gd name="adj" fmla="val 1036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" y="2249424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7552" y="240487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810512" y="226771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1810512" y="255117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persona lee el guion completo.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280160" y="2871216"/>
            <a:ext cx="0" cy="310896"/>
          </a:xfrm>
          <a:prstGeom prst="line">
            <a:avLst/>
          </a:prstGeom>
          <a:noFill/>
          <a:ln w="12700">
            <a:solidFill>
              <a:srgbClr val="1D4E89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87552" y="3200400"/>
            <a:ext cx="585216" cy="58521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87552" y="3355848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810512" y="321868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RECONSTRUIR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1810512" y="35021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Otra persona explica qué entendió.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280160" y="3822192"/>
            <a:ext cx="0" cy="310896"/>
          </a:xfrm>
          <a:prstGeom prst="line">
            <a:avLst/>
          </a:prstGeom>
          <a:noFill/>
          <a:ln w="12700">
            <a:solidFill>
              <a:srgbClr val="1D4E89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987552" y="4151376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87552" y="4306824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810512" y="4169664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1810512" y="445312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equipo ajusta el punto de quiebre.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46320" y="1901952"/>
            <a:ext cx="6272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MIRAR EL GUION, RESPONDE:</a:t>
            </a:r>
            <a:endParaRPr lang="en-US" sz="1080" dirty="0"/>
          </a:p>
        </p:txBody>
      </p:sp>
      <p:sp>
        <p:nvSpPr>
          <p:cNvPr id="27" name="Shape 24"/>
          <p:cNvSpPr/>
          <p:nvPr/>
        </p:nvSpPr>
        <p:spPr>
          <a:xfrm>
            <a:off x="4864608" y="2304288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64608" y="2377440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431536" y="2286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¿Cuál es el problema y en qué contexto ocurre?</a:t>
            </a:r>
            <a:endParaRPr lang="en-US" sz="1520" dirty="0"/>
          </a:p>
        </p:txBody>
      </p:sp>
      <p:sp>
        <p:nvSpPr>
          <p:cNvPr id="30" name="Shape 27"/>
          <p:cNvSpPr/>
          <p:nvPr/>
        </p:nvSpPr>
        <p:spPr>
          <a:xfrm>
            <a:off x="5431536" y="2779776"/>
            <a:ext cx="54315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64608" y="301752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864608" y="309067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431536" y="299923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propone el equipo?</a:t>
            </a:r>
            <a:endParaRPr lang="en-US" sz="1520" dirty="0"/>
          </a:p>
        </p:txBody>
      </p:sp>
      <p:sp>
        <p:nvSpPr>
          <p:cNvPr id="34" name="Shape 31"/>
          <p:cNvSpPr/>
          <p:nvPr/>
        </p:nvSpPr>
        <p:spPr>
          <a:xfrm>
            <a:off x="5431536" y="3493008"/>
            <a:ext cx="54315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864608" y="3730752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64608" y="380390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31536" y="3712464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funciona la propuesta?</a:t>
            </a:r>
            <a:endParaRPr lang="en-US" sz="1520" dirty="0"/>
          </a:p>
        </p:txBody>
      </p:sp>
      <p:sp>
        <p:nvSpPr>
          <p:cNvPr id="38" name="Shape 35"/>
          <p:cNvSpPr/>
          <p:nvPr/>
        </p:nvSpPr>
        <p:spPr>
          <a:xfrm>
            <a:off x="5431536" y="4206240"/>
            <a:ext cx="54315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4608" y="444398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864608" y="4517136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5431536" y="4425696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evidencia existe y qué aporte se espera?</a:t>
            </a:r>
            <a:endParaRPr lang="en-US" sz="1520" dirty="0"/>
          </a:p>
        </p:txBody>
      </p:sp>
      <p:sp>
        <p:nvSpPr>
          <p:cNvPr id="42" name="Shape 39"/>
          <p:cNvSpPr/>
          <p:nvPr/>
        </p:nvSpPr>
        <p:spPr>
          <a:xfrm>
            <a:off x="5431536" y="4919472"/>
            <a:ext cx="54315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809744" y="5175504"/>
            <a:ext cx="6419088" cy="804672"/>
          </a:xfrm>
          <a:prstGeom prst="roundRect">
            <a:avLst>
              <a:gd name="adj" fmla="val 4545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157216" y="5404104"/>
            <a:ext cx="5724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necesitan explicar algo fuera del guion, esa parte aún no está clara.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" y="512064"/>
            <a:ext cx="248716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548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13 MINUTOS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694944" y="1225296"/>
            <a:ext cx="57424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guion ahora se convierte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una experiencia compartida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31520" y="2670048"/>
            <a:ext cx="5376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persona aporta una idea, utiliza un apoyo y entrega el hilo a quien continúa.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973568" y="1993392"/>
            <a:ext cx="2359152" cy="2359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56448" y="2743200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PRESENTACIÓN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EQUIPO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6547104" y="1261872"/>
            <a:ext cx="1719072" cy="548640"/>
          </a:xfrm>
          <a:prstGeom prst="roundRect">
            <a:avLst>
              <a:gd name="adj" fmla="val 6667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14264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VOZ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040112" y="1261872"/>
            <a:ext cx="1481328" cy="548640"/>
          </a:xfrm>
          <a:prstGeom prst="roundRect">
            <a:avLst>
              <a:gd name="adj" fmla="val 6667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168128" y="1426464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APOYO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73952" y="4590288"/>
            <a:ext cx="1810512" cy="548640"/>
          </a:xfrm>
          <a:prstGeom prst="roundRect">
            <a:avLst>
              <a:gd name="adj" fmla="val 6667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01968" y="47548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ACCIÓN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948672" y="4590288"/>
            <a:ext cx="1627632" cy="548640"/>
          </a:xfrm>
          <a:prstGeom prst="roundRect">
            <a:avLst>
              <a:gd name="adj" fmla="val 6667"/>
            </a:avLst>
          </a:prstGeom>
          <a:solidFill>
            <a:srgbClr val="0D223A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76688" y="47548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TRANSICIÓN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31520" y="4846320"/>
            <a:ext cx="5376672" cy="841248"/>
          </a:xfrm>
          <a:prstGeom prst="roundRect">
            <a:avLst>
              <a:gd name="adj" fmla="val 434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78992" y="5102352"/>
            <a:ext cx="4681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SEIS PERSONAS. UNA SOLA HISTORIA.</a:t>
            </a:r>
            <a:endParaRPr lang="en-US" sz="1850" dirty="0"/>
          </a:p>
        </p:txBody>
      </p:sp>
      <p:sp>
        <p:nvSpPr>
          <p:cNvPr id="22" name="Text 19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SOPORTE VISUAL CON PROPÓSITO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recurso tiene una tarea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mostrar algo, decidan qué necesita comprender la audiencia.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847088"/>
            <a:ext cx="3200400" cy="3621024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pic>
        <p:nvPicPr>
          <p:cNvPr id="12" name="Image 1" descr="C:\Users\Diego Obando\dev\proyecto-01-aiep-geogreen\talleres\01\ppt\source\assets\images\school-recycling-bin-lagos-bin-focus.jpg">    </p:cNvPr>
          <p:cNvPicPr>
            <a:picLocks noChangeAspect="1"/>
          </p:cNvPicPr>
          <p:nvPr/>
        </p:nvPicPr>
        <p:blipFill>
          <a:blip r:embed="rId2"/>
          <a:srcRect l="0" r="0" t="35219" b="35219"/>
          <a:stretch/>
        </p:blipFill>
        <p:spPr>
          <a:xfrm>
            <a:off x="768096" y="1956816"/>
            <a:ext cx="2980944" cy="170078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68096" y="3401568"/>
            <a:ext cx="2980944" cy="256032"/>
          </a:xfrm>
          <a:prstGeom prst="rect">
            <a:avLst/>
          </a:prstGeom>
          <a:solidFill>
            <a:srgbClr val="D62027">
              <a:alpha val="96000"/>
            </a:srgbClr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77824" y="3858768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SITUAR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914400" y="4297680"/>
            <a:ext cx="2688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¿Dónde ocurre y a quiénes implica?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42416" y="4956048"/>
            <a:ext cx="2432304" cy="347472"/>
          </a:xfrm>
          <a:prstGeom prst="roundRect">
            <a:avLst>
              <a:gd name="adj" fmla="val 1052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52144" y="5056632"/>
            <a:ext cx="2212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 + personas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4187952" y="1847088"/>
            <a:ext cx="3200400" cy="3621024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pic>
        <p:nvPicPr>
          <p:cNvPr id="19" name="Image 2" descr="C:\Users\Diego Obando\dev\proyecto-01-aiep-geogreen\talleres\03\media\generadas\sistema-geogreen-sensor-dato-respuesta.png">    </p:cNvPr>
          <p:cNvPicPr>
            <a:picLocks noChangeAspect="1"/>
          </p:cNvPicPr>
          <p:nvPr/>
        </p:nvPicPr>
        <p:blipFill>
          <a:blip r:embed="rId3"/>
          <a:srcRect l="679" r="679" t="0" b="0"/>
          <a:stretch/>
        </p:blipFill>
        <p:spPr>
          <a:xfrm>
            <a:off x="4297680" y="1956816"/>
            <a:ext cx="2980944" cy="170078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297680" y="3401568"/>
            <a:ext cx="2980944" cy="256032"/>
          </a:xfrm>
          <a:prstGeom prst="rect">
            <a:avLst/>
          </a:prstGeom>
          <a:solidFill>
            <a:srgbClr val="35B7C6">
              <a:alpha val="96000"/>
            </a:srgbClr>
          </a:solidFill>
          <a:ln w="12700">
            <a:solidFill>
              <a:srgbClr val="35B7C6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407408" y="3858768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ACLARAR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4443984" y="4297680"/>
            <a:ext cx="2688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propone y cómo funciona?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4572000" y="4956048"/>
            <a:ext cx="2432304" cy="347472"/>
          </a:xfrm>
          <a:prstGeom prst="roundRect">
            <a:avLst>
              <a:gd name="adj" fmla="val 10526"/>
            </a:avLst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681728" y="5056632"/>
            <a:ext cx="2212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+ relación</a:t>
            </a:r>
            <a:endParaRPr lang="en-US" sz="1080" dirty="0"/>
          </a:p>
        </p:txBody>
      </p:sp>
      <p:sp>
        <p:nvSpPr>
          <p:cNvPr id="25" name="Shape 20"/>
          <p:cNvSpPr/>
          <p:nvPr/>
        </p:nvSpPr>
        <p:spPr>
          <a:xfrm>
            <a:off x="7717536" y="1847088"/>
            <a:ext cx="3200400" cy="3621024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26" name="Image 3" descr="C:\Users\Diego Obando\dev\proyecto-01-aiep-geogreen\talleres\03\media\fotos\prototipo-oled-geogreen-landscape.png">    </p:cNvPr>
          <p:cNvPicPr>
            <a:picLocks noChangeAspect="1"/>
          </p:cNvPicPr>
          <p:nvPr/>
        </p:nvPicPr>
        <p:blipFill>
          <a:blip r:embed="rId4"/>
          <a:srcRect l="0" r="0" t="14380" b="14380"/>
          <a:stretch/>
        </p:blipFill>
        <p:spPr>
          <a:xfrm>
            <a:off x="7827264" y="1956816"/>
            <a:ext cx="2980944" cy="1700784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7827264" y="3401568"/>
            <a:ext cx="2980944" cy="256032"/>
          </a:xfrm>
          <a:prstGeom prst="rect">
            <a:avLst/>
          </a:prstGeom>
          <a:solidFill>
            <a:srgbClr val="2E8B57">
              <a:alpha val="96000"/>
            </a:srgbClr>
          </a:solidFill>
          <a:ln w="12700">
            <a:solidFill>
              <a:srgbClr val="2E8B57">
                <a:alpha val="0"/>
              </a:srgbClr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936992" y="3858768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DEMOSTRAR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973568" y="4297680"/>
            <a:ext cx="2688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construimos, probamos o aprendimos?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8101584" y="4956048"/>
            <a:ext cx="2432304" cy="347472"/>
          </a:xfrm>
          <a:prstGeom prst="roundRect">
            <a:avLst>
              <a:gd name="adj" fmla="val 10526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8211312" y="5056632"/>
            <a:ext cx="2212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+ interpretación</a:t>
            </a:r>
            <a:endParaRPr lang="en-US" sz="1080" dirty="0"/>
          </a:p>
        </p:txBody>
      </p:sp>
      <p:sp>
        <p:nvSpPr>
          <p:cNvPr id="32" name="Shape 26"/>
          <p:cNvSpPr/>
          <p:nvPr/>
        </p:nvSpPr>
        <p:spPr>
          <a:xfrm>
            <a:off x="1078992" y="5687568"/>
            <a:ext cx="10003536" cy="457200"/>
          </a:xfrm>
          <a:prstGeom prst="roundRect">
            <a:avLst>
              <a:gd name="adj" fmla="val 8000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1426464" y="5815584"/>
            <a:ext cx="9308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VE?  →  ¿QUÉ COMPRENDE?  →  ¿QUÉ RESPALDA?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COMUNICADA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imagen no habla sola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Mostrar un recurso sirve cuando el equipo indica qué se observa y por qué importa.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865376"/>
            <a:ext cx="3895344" cy="3822192"/>
          </a:xfrm>
          <a:prstGeom prst="roundRect">
            <a:avLst>
              <a:gd name="adj" fmla="val 957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2103120"/>
            <a:ext cx="1536192" cy="365760"/>
          </a:xfrm>
          <a:prstGeom prst="roundRect">
            <a:avLst>
              <a:gd name="adj" fmla="val 12500"/>
            </a:avLst>
          </a:prstGeom>
          <a:solidFill>
            <a:srgbClr val="5F6B7A"/>
          </a:solidFill>
          <a:ln w="12700">
            <a:solidFill>
              <a:srgbClr val="5F6B7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05840" y="2139696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MOSTRAR</a:t>
            </a:r>
            <a:endParaRPr lang="en-US" sz="1050" dirty="0"/>
          </a:p>
        </p:txBody>
      </p:sp>
      <p:pic>
        <p:nvPicPr>
          <p:cNvPr id="14" name="Image 1" descr="C:\Users\Diego Obando\dev\proyecto-01-aiep-geogreen\talleres\03\media\fotos\prototipo-oled-geogreen-detalle.png">    </p:cNvPr>
          <p:cNvPicPr>
            <a:picLocks noChangeAspect="1"/>
          </p:cNvPicPr>
          <p:nvPr/>
        </p:nvPicPr>
        <p:blipFill>
          <a:blip r:embed="rId2"/>
          <a:srcRect l="0" r="0" t="25873" b="25873"/>
          <a:stretch/>
        </p:blipFill>
        <p:spPr>
          <a:xfrm>
            <a:off x="896112" y="2615184"/>
            <a:ext cx="3419856" cy="21488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7552" y="501091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i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“Este es nuestro prototipo.”</a:t>
            </a:r>
            <a:endParaRPr lang="en-US" sz="1550" dirty="0"/>
          </a:p>
        </p:txBody>
      </p:sp>
      <p:sp>
        <p:nvSpPr>
          <p:cNvPr id="16" name="Shape 12"/>
          <p:cNvSpPr/>
          <p:nvPr/>
        </p:nvSpPr>
        <p:spPr>
          <a:xfrm>
            <a:off x="4736592" y="3273552"/>
            <a:ext cx="402336" cy="84124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340096" y="1865376"/>
            <a:ext cx="6181344" cy="3822192"/>
          </a:xfrm>
          <a:prstGeom prst="roundRect">
            <a:avLst>
              <a:gd name="adj" fmla="val 957"/>
            </a:avLst>
          </a:prstGeom>
          <a:solidFill>
            <a:srgbClr val="082B5C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632704" y="2103120"/>
            <a:ext cx="2121408" cy="365760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705856" y="2139696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MOSTRAR + INTERPRETAR</a:t>
            </a:r>
            <a:endParaRPr lang="en-US" sz="1050" dirty="0"/>
          </a:p>
        </p:txBody>
      </p:sp>
      <p:pic>
        <p:nvPicPr>
          <p:cNvPr id="20" name="Image 2" descr="C:\Users\Diego Obando\dev\proyecto-01-aiep-geogreen\talleres\03\media\fotos\prototipo-oled-geogreen-landscape.png">    </p:cNvPr>
          <p:cNvPicPr>
            <a:picLocks noChangeAspect="1"/>
          </p:cNvPicPr>
          <p:nvPr/>
        </p:nvPicPr>
        <p:blipFill>
          <a:blip r:embed="rId3"/>
          <a:srcRect l="6547" r="6547" t="0" b="0"/>
          <a:stretch/>
        </p:blipFill>
        <p:spPr>
          <a:xfrm>
            <a:off x="5614416" y="2633472"/>
            <a:ext cx="2798064" cy="2578608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8686800" y="2670048"/>
            <a:ext cx="91440" cy="530352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979408" y="2670048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68 %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979408" y="29352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nivel medido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686800" y="3401568"/>
            <a:ext cx="91440" cy="530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979408" y="3401568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AMARILLO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8979408" y="36667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de atención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8686800" y="4133088"/>
            <a:ext cx="91440" cy="53035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979408" y="4133088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</a:t>
            </a:r>
            <a:endParaRPr lang="en-US" sz="1450" dirty="0"/>
          </a:p>
        </p:txBody>
      </p:sp>
      <p:sp>
        <p:nvSpPr>
          <p:cNvPr id="29" name="Text 24"/>
          <p:cNvSpPr/>
          <p:nvPr/>
        </p:nvSpPr>
        <p:spPr>
          <a:xfrm>
            <a:off x="8979408" y="439826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mide, interpreta y comunica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5669280" y="5321808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evidencia necesita una frase que explique qué se comprobó.</a:t>
            </a:r>
            <a:endParaRPr lang="en-US" sz="14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2062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2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COMPARTIDA</a:t>
            </a:r>
            <a:endParaRPr lang="en-US" sz="1080" dirty="0"/>
          </a:p>
        </p:txBody>
      </p:sp>
      <p:sp>
        <p:nvSpPr>
          <p:cNvPr id="7" name="Text 4"/>
          <p:cNvSpPr/>
          <p:nvPr/>
        </p:nvSpPr>
        <p:spPr>
          <a:xfrm>
            <a:off x="676656" y="74980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Seis roles se convierten en seis aportes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94944" y="131673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integrante comunica una idea necesaria y conoce el relato completo.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736592" y="2322576"/>
            <a:ext cx="2724912" cy="272491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36592" y="2743200"/>
            <a:ext cx="27249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5084064" y="3474720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APORTES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HISTORIA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58368" y="1883664"/>
            <a:ext cx="3145536" cy="950976"/>
          </a:xfrm>
          <a:prstGeom prst="roundRect">
            <a:avLst>
              <a:gd name="adj" fmla="val 3846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" y="1883664"/>
            <a:ext cx="109728" cy="9509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9264" y="20665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COORDINACIÓN</a:t>
            </a:r>
            <a:endParaRPr lang="en-US" sz="1420" dirty="0"/>
          </a:p>
        </p:txBody>
      </p:sp>
      <p:sp>
        <p:nvSpPr>
          <p:cNvPr id="15" name="Text 12"/>
          <p:cNvSpPr/>
          <p:nvPr/>
        </p:nvSpPr>
        <p:spPr>
          <a:xfrm>
            <a:off x="969264" y="2395728"/>
            <a:ext cx="259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Abre y cuida el recorrido.</a:t>
            </a:r>
            <a:endParaRPr lang="en-US" sz="1260" dirty="0"/>
          </a:p>
        </p:txBody>
      </p:sp>
      <p:sp>
        <p:nvSpPr>
          <p:cNvPr id="16" name="Shape 13"/>
          <p:cNvSpPr/>
          <p:nvPr/>
        </p:nvSpPr>
        <p:spPr>
          <a:xfrm>
            <a:off x="658368" y="3182112"/>
            <a:ext cx="3145536" cy="950976"/>
          </a:xfrm>
          <a:prstGeom prst="roundRect">
            <a:avLst>
              <a:gd name="adj" fmla="val 3846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8368" y="3182112"/>
            <a:ext cx="109728" cy="950976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9264" y="336499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INVESTIGACIÓN</a:t>
            </a:r>
            <a:endParaRPr lang="en-US" sz="1420" dirty="0"/>
          </a:p>
        </p:txBody>
      </p:sp>
      <p:sp>
        <p:nvSpPr>
          <p:cNvPr id="19" name="Text 16"/>
          <p:cNvSpPr/>
          <p:nvPr/>
        </p:nvSpPr>
        <p:spPr>
          <a:xfrm>
            <a:off x="969264" y="3694176"/>
            <a:ext cx="259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 problema y contexto.</a:t>
            </a:r>
            <a:endParaRPr lang="en-US" sz="1260" dirty="0"/>
          </a:p>
        </p:txBody>
      </p:sp>
      <p:sp>
        <p:nvSpPr>
          <p:cNvPr id="20" name="Shape 17"/>
          <p:cNvSpPr/>
          <p:nvPr/>
        </p:nvSpPr>
        <p:spPr>
          <a:xfrm>
            <a:off x="658368" y="4480560"/>
            <a:ext cx="3145536" cy="950976"/>
          </a:xfrm>
          <a:prstGeom prst="roundRect">
            <a:avLst>
              <a:gd name="adj" fmla="val 3846"/>
            </a:avLst>
          </a:prstGeom>
          <a:solidFill>
            <a:srgbClr val="0D223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4480560"/>
            <a:ext cx="109728" cy="9509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9264" y="4663440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</a:t>
            </a:r>
            <a:endParaRPr lang="en-US" sz="1420" dirty="0"/>
          </a:p>
        </p:txBody>
      </p:sp>
      <p:sp>
        <p:nvSpPr>
          <p:cNvPr id="23" name="Text 20"/>
          <p:cNvSpPr/>
          <p:nvPr/>
        </p:nvSpPr>
        <p:spPr>
          <a:xfrm>
            <a:off x="969264" y="4992624"/>
            <a:ext cx="259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la forma de la solución.</a:t>
            </a:r>
            <a:endParaRPr lang="en-US" sz="1260" dirty="0"/>
          </a:p>
        </p:txBody>
      </p:sp>
      <p:sp>
        <p:nvSpPr>
          <p:cNvPr id="24" name="Shape 21"/>
          <p:cNvSpPr/>
          <p:nvPr/>
        </p:nvSpPr>
        <p:spPr>
          <a:xfrm>
            <a:off x="8394192" y="1883664"/>
            <a:ext cx="3145536" cy="950976"/>
          </a:xfrm>
          <a:prstGeom prst="roundRect">
            <a:avLst>
              <a:gd name="adj" fmla="val 3846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94192" y="1883664"/>
            <a:ext cx="109728" cy="950976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705088" y="20665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TECNOLOGÍA</a:t>
            </a:r>
            <a:endParaRPr lang="en-US" sz="1420" dirty="0"/>
          </a:p>
        </p:txBody>
      </p:sp>
      <p:sp>
        <p:nvSpPr>
          <p:cNvPr id="27" name="Text 24"/>
          <p:cNvSpPr/>
          <p:nvPr/>
        </p:nvSpPr>
        <p:spPr>
          <a:xfrm>
            <a:off x="8705088" y="2395728"/>
            <a:ext cx="259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Traduce cómo funciona.</a:t>
            </a:r>
            <a:endParaRPr lang="en-US" sz="1260" dirty="0"/>
          </a:p>
        </p:txBody>
      </p:sp>
      <p:sp>
        <p:nvSpPr>
          <p:cNvPr id="28" name="Shape 25"/>
          <p:cNvSpPr/>
          <p:nvPr/>
        </p:nvSpPr>
        <p:spPr>
          <a:xfrm>
            <a:off x="8394192" y="3182112"/>
            <a:ext cx="3145536" cy="950976"/>
          </a:xfrm>
          <a:prstGeom prst="roundRect">
            <a:avLst>
              <a:gd name="adj" fmla="val 3846"/>
            </a:avLst>
          </a:prstGeom>
          <a:solidFill>
            <a:srgbClr val="0D223A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94192" y="3182112"/>
            <a:ext cx="109728" cy="950976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705088" y="336499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D4E8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PRUEBAS Y EVIDENCIA</a:t>
            </a:r>
            <a:endParaRPr lang="en-US" sz="1260" dirty="0"/>
          </a:p>
        </p:txBody>
      </p:sp>
      <p:sp>
        <p:nvSpPr>
          <p:cNvPr id="31" name="Text 28"/>
          <p:cNvSpPr/>
          <p:nvPr/>
        </p:nvSpPr>
        <p:spPr>
          <a:xfrm>
            <a:off x="8705088" y="3694176"/>
            <a:ext cx="259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Demuestra el avance real.</a:t>
            </a:r>
            <a:endParaRPr lang="en-US" sz="1260" dirty="0"/>
          </a:p>
        </p:txBody>
      </p:sp>
      <p:sp>
        <p:nvSpPr>
          <p:cNvPr id="32" name="Shape 29"/>
          <p:cNvSpPr/>
          <p:nvPr/>
        </p:nvSpPr>
        <p:spPr>
          <a:xfrm>
            <a:off x="8394192" y="4480560"/>
            <a:ext cx="3145536" cy="950976"/>
          </a:xfrm>
          <a:prstGeom prst="roundRect">
            <a:avLst>
              <a:gd name="adj" fmla="val 3846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94192" y="4480560"/>
            <a:ext cx="109728" cy="9509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705088" y="4663440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COMUNICACIÓN</a:t>
            </a:r>
            <a:endParaRPr lang="en-US" sz="1420" dirty="0"/>
          </a:p>
        </p:txBody>
      </p:sp>
      <p:sp>
        <p:nvSpPr>
          <p:cNvPr id="35" name="Text 32"/>
          <p:cNvSpPr/>
          <p:nvPr/>
        </p:nvSpPr>
        <p:spPr>
          <a:xfrm>
            <a:off x="8705088" y="4992624"/>
            <a:ext cx="259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Conecta el aporte y cierra.</a:t>
            </a:r>
            <a:endParaRPr lang="en-US" sz="1260" dirty="0"/>
          </a:p>
        </p:txBody>
      </p:sp>
      <p:sp>
        <p:nvSpPr>
          <p:cNvPr id="36" name="Shape 33"/>
          <p:cNvSpPr/>
          <p:nvPr/>
        </p:nvSpPr>
        <p:spPr>
          <a:xfrm>
            <a:off x="1938528" y="5779008"/>
            <a:ext cx="8321040" cy="457200"/>
          </a:xfrm>
          <a:prstGeom prst="roundRect">
            <a:avLst>
              <a:gd name="adj" fmla="val 8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2249424" y="5907024"/>
            <a:ext cx="7699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CAMBIAR UNA DIAPOSITIVA NO REEMPLAZA UNA IDEA SUSTANTIVA.</a:t>
            </a:r>
            <a:endParaRPr lang="en-US" sz="1450" dirty="0"/>
          </a:p>
        </p:txBody>
      </p:sp>
      <p:sp>
        <p:nvSpPr>
          <p:cNvPr id="38" name="Text 35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PAUTA DE PRESENTACIÓN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Conviertan seis voces en una sola secuencia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Registren palabras clave y acciones; el tiempo previsto se ajustará durante el ensayo.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847088"/>
            <a:ext cx="530352" cy="475488"/>
          </a:xfrm>
          <a:prstGeom prst="rect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199339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188720" y="1847088"/>
            <a:ext cx="1792224" cy="475488"/>
          </a:xfrm>
          <a:prstGeom prst="rect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61872" y="19933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 + NOMBRE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80944" y="1847088"/>
            <a:ext cx="2121408" cy="475488"/>
          </a:xfrm>
          <a:prstGeom prst="rect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54096" y="1993392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PRINCIPAL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102352" y="1847088"/>
            <a:ext cx="2468880" cy="475488"/>
          </a:xfrm>
          <a:prstGeom prst="rect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175504" y="1993392"/>
            <a:ext cx="2322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APOYO + ACCIÓN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571232" y="1847088"/>
            <a:ext cx="749808" cy="475488"/>
          </a:xfrm>
          <a:prstGeom prst="rect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44384" y="199339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TIEMPO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8321040" y="1847088"/>
            <a:ext cx="3200400" cy="475488"/>
          </a:xfrm>
          <a:prstGeom prst="rect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94192" y="1993392"/>
            <a:ext cx="3054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FRASE DE TRANSICIÓN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58368" y="2322576"/>
            <a:ext cx="53035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88720" y="2322576"/>
            <a:ext cx="1792224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80944" y="2322576"/>
            <a:ext cx="212140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02352" y="2322576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571232" y="2322576"/>
            <a:ext cx="74980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2322576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1520" y="247802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298448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Coordinación</a:t>
            </a:r>
            <a:endParaRPr lang="en-US" sz="1180" dirty="0"/>
          </a:p>
        </p:txBody>
      </p:sp>
      <p:sp>
        <p:nvSpPr>
          <p:cNvPr id="31" name="Text 28"/>
          <p:cNvSpPr/>
          <p:nvPr/>
        </p:nvSpPr>
        <p:spPr>
          <a:xfrm>
            <a:off x="3127248" y="2478024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20" dirty="0"/>
          </a:p>
        </p:txBody>
      </p:sp>
      <p:sp>
        <p:nvSpPr>
          <p:cNvPr id="32" name="Text 29"/>
          <p:cNvSpPr/>
          <p:nvPr/>
        </p:nvSpPr>
        <p:spPr>
          <a:xfrm>
            <a:off x="5248656" y="247802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muestra + qué hace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7680960" y="24597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___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8485632" y="2478024"/>
            <a:ext cx="2871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→ aporte → salida</a:t>
            </a:r>
            <a:endParaRPr lang="en-US" sz="1120" dirty="0"/>
          </a:p>
        </p:txBody>
      </p:sp>
      <p:sp>
        <p:nvSpPr>
          <p:cNvPr id="35" name="Shape 32"/>
          <p:cNvSpPr/>
          <p:nvPr/>
        </p:nvSpPr>
        <p:spPr>
          <a:xfrm>
            <a:off x="658368" y="2825496"/>
            <a:ext cx="530352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188720" y="2825496"/>
            <a:ext cx="1792224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980944" y="2825496"/>
            <a:ext cx="2121408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102352" y="2825496"/>
            <a:ext cx="2468880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571232" y="2825496"/>
            <a:ext cx="749808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321040" y="2825496"/>
            <a:ext cx="3200400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31520" y="29809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1298448" y="29718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Investigación</a:t>
            </a:r>
            <a:endParaRPr lang="en-US" sz="1180" dirty="0"/>
          </a:p>
        </p:txBody>
      </p:sp>
      <p:sp>
        <p:nvSpPr>
          <p:cNvPr id="43" name="Text 40"/>
          <p:cNvSpPr/>
          <p:nvPr/>
        </p:nvSpPr>
        <p:spPr>
          <a:xfrm>
            <a:off x="3127248" y="2980944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20" dirty="0"/>
          </a:p>
        </p:txBody>
      </p:sp>
      <p:sp>
        <p:nvSpPr>
          <p:cNvPr id="44" name="Text 41"/>
          <p:cNvSpPr/>
          <p:nvPr/>
        </p:nvSpPr>
        <p:spPr>
          <a:xfrm>
            <a:off x="5248656" y="298094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muestra + qué hace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7680960" y="296265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___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8485632" y="2980944"/>
            <a:ext cx="2871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→ aporte → salida</a:t>
            </a:r>
            <a:endParaRPr lang="en-US" sz="1120" dirty="0"/>
          </a:p>
        </p:txBody>
      </p:sp>
      <p:sp>
        <p:nvSpPr>
          <p:cNvPr id="47" name="Shape 44"/>
          <p:cNvSpPr/>
          <p:nvPr/>
        </p:nvSpPr>
        <p:spPr>
          <a:xfrm>
            <a:off x="658368" y="3328416"/>
            <a:ext cx="53035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88720" y="3328416"/>
            <a:ext cx="1792224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2980944" y="3328416"/>
            <a:ext cx="212140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02352" y="3328416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71232" y="3328416"/>
            <a:ext cx="74980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321040" y="3328416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731520" y="34838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298448" y="347472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80" dirty="0"/>
          </a:p>
        </p:txBody>
      </p:sp>
      <p:sp>
        <p:nvSpPr>
          <p:cNvPr id="55" name="Text 52"/>
          <p:cNvSpPr/>
          <p:nvPr/>
        </p:nvSpPr>
        <p:spPr>
          <a:xfrm>
            <a:off x="3127248" y="3483864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20" dirty="0"/>
          </a:p>
        </p:txBody>
      </p:sp>
      <p:sp>
        <p:nvSpPr>
          <p:cNvPr id="56" name="Text 53"/>
          <p:cNvSpPr/>
          <p:nvPr/>
        </p:nvSpPr>
        <p:spPr>
          <a:xfrm>
            <a:off x="5248656" y="348386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muestra + qué hace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7680960" y="346557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___</a:t>
            </a:r>
            <a:endParaRPr lang="en-US" sz="1150" dirty="0"/>
          </a:p>
        </p:txBody>
      </p:sp>
      <p:sp>
        <p:nvSpPr>
          <p:cNvPr id="58" name="Text 55"/>
          <p:cNvSpPr/>
          <p:nvPr/>
        </p:nvSpPr>
        <p:spPr>
          <a:xfrm>
            <a:off x="8485632" y="3483864"/>
            <a:ext cx="2871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→ aporte → salida</a:t>
            </a:r>
            <a:endParaRPr lang="en-US" sz="1120" dirty="0"/>
          </a:p>
        </p:txBody>
      </p:sp>
      <p:sp>
        <p:nvSpPr>
          <p:cNvPr id="59" name="Shape 56"/>
          <p:cNvSpPr/>
          <p:nvPr/>
        </p:nvSpPr>
        <p:spPr>
          <a:xfrm>
            <a:off x="658368" y="3831336"/>
            <a:ext cx="530352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88720" y="3831336"/>
            <a:ext cx="1792224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2980944" y="3831336"/>
            <a:ext cx="2121408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2352" y="3831336"/>
            <a:ext cx="2468880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571232" y="3831336"/>
            <a:ext cx="749808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321040" y="3831336"/>
            <a:ext cx="3200400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31520" y="39867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1298448" y="39776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Tecnología</a:t>
            </a:r>
            <a:endParaRPr lang="en-US" sz="1180" dirty="0"/>
          </a:p>
        </p:txBody>
      </p:sp>
      <p:sp>
        <p:nvSpPr>
          <p:cNvPr id="67" name="Text 64"/>
          <p:cNvSpPr/>
          <p:nvPr/>
        </p:nvSpPr>
        <p:spPr>
          <a:xfrm>
            <a:off x="3127248" y="3986784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20" dirty="0"/>
          </a:p>
        </p:txBody>
      </p:sp>
      <p:sp>
        <p:nvSpPr>
          <p:cNvPr id="68" name="Text 65"/>
          <p:cNvSpPr/>
          <p:nvPr/>
        </p:nvSpPr>
        <p:spPr>
          <a:xfrm>
            <a:off x="5248656" y="398678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muestra + qué hace</a:t>
            </a:r>
            <a:endParaRPr lang="en-US" sz="1100" dirty="0"/>
          </a:p>
        </p:txBody>
      </p:sp>
      <p:sp>
        <p:nvSpPr>
          <p:cNvPr id="69" name="Text 66"/>
          <p:cNvSpPr/>
          <p:nvPr/>
        </p:nvSpPr>
        <p:spPr>
          <a:xfrm>
            <a:off x="7680960" y="396849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___</a:t>
            </a:r>
            <a:endParaRPr lang="en-US" sz="1150" dirty="0"/>
          </a:p>
        </p:txBody>
      </p:sp>
      <p:sp>
        <p:nvSpPr>
          <p:cNvPr id="70" name="Text 67"/>
          <p:cNvSpPr/>
          <p:nvPr/>
        </p:nvSpPr>
        <p:spPr>
          <a:xfrm>
            <a:off x="8485632" y="3986784"/>
            <a:ext cx="2871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→ aporte → salida</a:t>
            </a:r>
            <a:endParaRPr lang="en-US" sz="1120" dirty="0"/>
          </a:p>
        </p:txBody>
      </p:sp>
      <p:sp>
        <p:nvSpPr>
          <p:cNvPr id="71" name="Shape 68"/>
          <p:cNvSpPr/>
          <p:nvPr/>
        </p:nvSpPr>
        <p:spPr>
          <a:xfrm>
            <a:off x="658368" y="4334256"/>
            <a:ext cx="53035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88720" y="4334256"/>
            <a:ext cx="1792224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2980944" y="4334256"/>
            <a:ext cx="212140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102352" y="4334256"/>
            <a:ext cx="24688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571232" y="4334256"/>
            <a:ext cx="74980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321040" y="4334256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731520" y="44897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1298448" y="44805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y evidencia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3127248" y="4489704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20" dirty="0"/>
          </a:p>
        </p:txBody>
      </p:sp>
      <p:sp>
        <p:nvSpPr>
          <p:cNvPr id="80" name="Text 77"/>
          <p:cNvSpPr/>
          <p:nvPr/>
        </p:nvSpPr>
        <p:spPr>
          <a:xfrm>
            <a:off x="5248656" y="448970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muestra + qué hace</a:t>
            </a:r>
            <a:endParaRPr lang="en-US" sz="1100" dirty="0"/>
          </a:p>
        </p:txBody>
      </p:sp>
      <p:sp>
        <p:nvSpPr>
          <p:cNvPr id="81" name="Text 78"/>
          <p:cNvSpPr/>
          <p:nvPr/>
        </p:nvSpPr>
        <p:spPr>
          <a:xfrm>
            <a:off x="7680960" y="447141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___</a:t>
            </a:r>
            <a:endParaRPr lang="en-US" sz="1150" dirty="0"/>
          </a:p>
        </p:txBody>
      </p:sp>
      <p:sp>
        <p:nvSpPr>
          <p:cNvPr id="82" name="Text 79"/>
          <p:cNvSpPr/>
          <p:nvPr/>
        </p:nvSpPr>
        <p:spPr>
          <a:xfrm>
            <a:off x="8485632" y="4489704"/>
            <a:ext cx="2871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→ aporte → salida</a:t>
            </a:r>
            <a:endParaRPr lang="en-US" sz="1120" dirty="0"/>
          </a:p>
        </p:txBody>
      </p:sp>
      <p:sp>
        <p:nvSpPr>
          <p:cNvPr id="83" name="Shape 80"/>
          <p:cNvSpPr/>
          <p:nvPr/>
        </p:nvSpPr>
        <p:spPr>
          <a:xfrm>
            <a:off x="658368" y="4837176"/>
            <a:ext cx="530352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1188720" y="4837176"/>
            <a:ext cx="1792224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2980944" y="4837176"/>
            <a:ext cx="2121408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102352" y="4837176"/>
            <a:ext cx="2468880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571232" y="4837176"/>
            <a:ext cx="749808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8321040" y="4837176"/>
            <a:ext cx="3200400" cy="502920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731520" y="499262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050" dirty="0"/>
          </a:p>
        </p:txBody>
      </p:sp>
      <p:sp>
        <p:nvSpPr>
          <p:cNvPr id="90" name="Text 87"/>
          <p:cNvSpPr/>
          <p:nvPr/>
        </p:nvSpPr>
        <p:spPr>
          <a:xfrm>
            <a:off x="1298448" y="49834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Comunicación</a:t>
            </a:r>
            <a:endParaRPr lang="en-US" sz="1180" dirty="0"/>
          </a:p>
        </p:txBody>
      </p:sp>
      <p:sp>
        <p:nvSpPr>
          <p:cNvPr id="91" name="Text 88"/>
          <p:cNvSpPr/>
          <p:nvPr/>
        </p:nvSpPr>
        <p:spPr>
          <a:xfrm>
            <a:off x="3127248" y="4992624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20" dirty="0"/>
          </a:p>
        </p:txBody>
      </p:sp>
      <p:sp>
        <p:nvSpPr>
          <p:cNvPr id="92" name="Text 89"/>
          <p:cNvSpPr/>
          <p:nvPr/>
        </p:nvSpPr>
        <p:spPr>
          <a:xfrm>
            <a:off x="5248656" y="499262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muestra + qué hace</a:t>
            </a:r>
            <a:endParaRPr lang="en-US" sz="1100" dirty="0"/>
          </a:p>
        </p:txBody>
      </p:sp>
      <p:sp>
        <p:nvSpPr>
          <p:cNvPr id="93" name="Text 90"/>
          <p:cNvSpPr/>
          <p:nvPr/>
        </p:nvSpPr>
        <p:spPr>
          <a:xfrm>
            <a:off x="768096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___</a:t>
            </a:r>
            <a:endParaRPr lang="en-US" sz="1150" dirty="0"/>
          </a:p>
        </p:txBody>
      </p:sp>
      <p:sp>
        <p:nvSpPr>
          <p:cNvPr id="94" name="Text 91"/>
          <p:cNvSpPr/>
          <p:nvPr/>
        </p:nvSpPr>
        <p:spPr>
          <a:xfrm>
            <a:off x="8485632" y="4992624"/>
            <a:ext cx="2871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→ aporte → salida</a:t>
            </a:r>
            <a:endParaRPr lang="en-US" sz="1120" dirty="0"/>
          </a:p>
        </p:txBody>
      </p:sp>
      <p:sp>
        <p:nvSpPr>
          <p:cNvPr id="95" name="Shape 92"/>
          <p:cNvSpPr/>
          <p:nvPr/>
        </p:nvSpPr>
        <p:spPr>
          <a:xfrm>
            <a:off x="841248" y="5559552"/>
            <a:ext cx="10497312" cy="585216"/>
          </a:xfrm>
          <a:prstGeom prst="roundRect">
            <a:avLst>
              <a:gd name="adj" fmla="val 625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96" name="Text 93"/>
          <p:cNvSpPr/>
          <p:nvPr/>
        </p:nvSpPr>
        <p:spPr>
          <a:xfrm>
            <a:off x="1170432" y="5733288"/>
            <a:ext cx="9838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 MINUTOS · PALABRAS CLAVE, NO PÁRRAFOS · TODOS CONOCEN LA SECUENCIA COMPLETA</a:t>
            </a:r>
            <a:endParaRPr lang="en-US" sz="13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Mentoría 4 - Comunicar para que la idea avance</dc:title>
  <dc:subject>Mentoría 4 - Comunicar la propuesta y ensayar el pitch</dc:subject>
  <dc:creator>GeoGreen Escolar Osorno</dc:creator>
  <cp:lastModifiedBy>GeoGreen Escolar Osorno</cp:lastModifiedBy>
  <cp:revision>1</cp:revision>
  <dcterms:created xsi:type="dcterms:W3CDTF">2026-07-19T22:10:38Z</dcterms:created>
  <dcterms:modified xsi:type="dcterms:W3CDTF">2026-07-19T22:10:38Z</dcterms:modified>
</cp:coreProperties>
</file>