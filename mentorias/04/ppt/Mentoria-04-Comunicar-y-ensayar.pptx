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yecto-01-aiep-geogreen\mentorias\04\ppt\source\assets\images\portada-estudiantes-ensayo-pitch-geogreen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31520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88720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277856" y="182880"/>
            <a:ext cx="1645920" cy="1042416"/>
          </a:xfrm>
          <a:prstGeom prst="roundRect">
            <a:avLst>
              <a:gd name="adj" fmla="val 3509"/>
            </a:avLst>
          </a:prstGeom>
          <a:solidFill>
            <a:srgbClr val="031D3B">
              <a:alpha val="92000"/>
            </a:srgbClr>
          </a:solidFill>
          <a:ln w="12700">
            <a:solidFill>
              <a:srgbClr val="031D3B">
                <a:alpha val="0"/>
              </a:srgbClr>
            </a:solidFill>
            <a:prstDash val="solid"/>
          </a:ln>
        </p:spPr>
      </p:sp>
      <p:pic>
        <p:nvPicPr>
          <p:cNvPr id="7" name="Image 1" descr="C:\Users\Diego Obando\dev\proyecto-01-aiep-geogreen\reuniones\2026-06-22-socio-comunitario\assets\lockup-vinculacion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3135" y="256032"/>
            <a:ext cx="1235361" cy="8961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621792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5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4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94944" y="1225296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Comunicar para que</a:t>
            </a:r>
            <a:endParaRPr lang="en-US" sz="3550" dirty="0"/>
          </a:p>
          <a:p>
            <a:pPr indent="0" marL="0">
              <a:buNone/>
            </a:pPr>
            <a:r>
              <a:rPr lang="en-US" sz="3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idea avance</a:t>
            </a:r>
            <a:endParaRPr lang="en-US" sz="3550" dirty="0"/>
          </a:p>
        </p:txBody>
      </p:sp>
      <p:sp>
        <p:nvSpPr>
          <p:cNvPr id="10" name="Shape 6"/>
          <p:cNvSpPr/>
          <p:nvPr/>
        </p:nvSpPr>
        <p:spPr>
          <a:xfrm>
            <a:off x="713232" y="2798064"/>
            <a:ext cx="914400" cy="731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13232" y="312724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Guion · soporte visual · roles · ensayo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13232" y="3822192"/>
            <a:ext cx="4407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propuesta crece cuando otras personas pueden comprenderla.</a:t>
            </a:r>
            <a:endParaRPr lang="en-US" sz="2050" dirty="0"/>
          </a:p>
        </p:txBody>
      </p:sp>
      <p:sp>
        <p:nvSpPr>
          <p:cNvPr id="13" name="Shape 9"/>
          <p:cNvSpPr/>
          <p:nvPr/>
        </p:nvSpPr>
        <p:spPr>
          <a:xfrm>
            <a:off x="713232" y="5742432"/>
            <a:ext cx="2212848" cy="384048"/>
          </a:xfrm>
          <a:prstGeom prst="roundRect">
            <a:avLst>
              <a:gd name="adj" fmla="val 1190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86384" y="577900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 28 SEP · 60 MIN</a:t>
            </a:r>
            <a:endParaRPr lang="en-US" sz="1020" dirty="0"/>
          </a:p>
        </p:txBody>
      </p:sp>
      <p:sp>
        <p:nvSpPr>
          <p:cNvPr id="15" name="Text 11"/>
          <p:cNvSpPr/>
          <p:nvPr/>
        </p:nvSpPr>
        <p:spPr>
          <a:xfrm>
            <a:off x="3182112" y="5824728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AIEP Osorno · Instituto Comercial Liceo Bicentenario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yecto-01-aiep-geogreen\reuniones\2026-06-22-socio-comunitario\assets\lockup-vinculacio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1461" y="219456"/>
            <a:ext cx="1210150" cy="8778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38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MISIÓN DE HOY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76656" y="822960"/>
            <a:ext cx="9372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Transformar trabajo en una presentación que se entienda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694944" y="1536192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comenzamos otra idea. Recuperamos, ordenamos, coordinamos y mejoramos la que el equipo ya construyó.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444752" y="2816352"/>
            <a:ext cx="9070848" cy="0"/>
          </a:xfrm>
          <a:prstGeom prst="line">
            <a:avLst/>
          </a:prstGeom>
          <a:noFill/>
          <a:ln w="12700">
            <a:solidFill>
              <a:srgbClr val="1D4E89">
                <a:alpha val="9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2487168"/>
            <a:ext cx="676656" cy="67665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670048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68096" y="3328416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RECUPERAR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2336" y="3657600"/>
            <a:ext cx="20665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ya sabemos y podemos mostrar.</a:t>
            </a:r>
            <a:endParaRPr lang="en-US" sz="1240" dirty="0"/>
          </a:p>
        </p:txBody>
      </p:sp>
      <p:sp>
        <p:nvSpPr>
          <p:cNvPr id="14" name="Shape 11"/>
          <p:cNvSpPr/>
          <p:nvPr/>
        </p:nvSpPr>
        <p:spPr>
          <a:xfrm>
            <a:off x="3794760" y="2487168"/>
            <a:ext cx="676656" cy="676656"/>
          </a:xfrm>
          <a:prstGeom prst="ellipse">
            <a:avLst/>
          </a:prstGeom>
          <a:solidFill>
            <a:srgbClr val="35B7C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94760" y="2670048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465576" y="3328416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ORDENAR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3099816" y="3657600"/>
            <a:ext cx="20665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relato que otra persona pueda seguir.</a:t>
            </a:r>
            <a:endParaRPr lang="en-US" sz="1240" dirty="0"/>
          </a:p>
        </p:txBody>
      </p:sp>
      <p:sp>
        <p:nvSpPr>
          <p:cNvPr id="18" name="Shape 15"/>
          <p:cNvSpPr/>
          <p:nvPr/>
        </p:nvSpPr>
        <p:spPr>
          <a:xfrm>
            <a:off x="6492240" y="2487168"/>
            <a:ext cx="676656" cy="67665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2240" y="2670048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163056" y="3328416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COORDINAR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797296" y="3657600"/>
            <a:ext cx="20665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Seis aportes, soporte y transiciones.</a:t>
            </a:r>
            <a:endParaRPr lang="en-US" sz="1240" dirty="0"/>
          </a:p>
        </p:txBody>
      </p:sp>
      <p:sp>
        <p:nvSpPr>
          <p:cNvPr id="22" name="Shape 19"/>
          <p:cNvSpPr/>
          <p:nvPr/>
        </p:nvSpPr>
        <p:spPr>
          <a:xfrm>
            <a:off x="9189720" y="2487168"/>
            <a:ext cx="676656" cy="67665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89720" y="2670048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8860536" y="3328416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MEJORAR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8494776" y="3657600"/>
            <a:ext cx="20665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Ensayar, observar, ajustar y comprobar.</a:t>
            </a:r>
            <a:endParaRPr lang="en-US" sz="1240" dirty="0"/>
          </a:p>
        </p:txBody>
      </p:sp>
      <p:sp>
        <p:nvSpPr>
          <p:cNvPr id="26" name="Shape 23"/>
          <p:cNvSpPr/>
          <p:nvPr/>
        </p:nvSpPr>
        <p:spPr>
          <a:xfrm>
            <a:off x="1243584" y="5102352"/>
            <a:ext cx="9692640" cy="768096"/>
          </a:xfrm>
          <a:prstGeom prst="roundRect">
            <a:avLst>
              <a:gd name="adj" fmla="val 4762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536192" y="52852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spc="105" kern="0" dirty="0">
                <a:solidFill>
                  <a:srgbClr val="03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OBLIGATORIA</a:t>
            </a:r>
            <a:endParaRPr lang="en-US" sz="1080" dirty="0"/>
          </a:p>
        </p:txBody>
      </p:sp>
      <p:sp>
        <p:nvSpPr>
          <p:cNvPr id="28" name="Text 25"/>
          <p:cNvSpPr/>
          <p:nvPr/>
        </p:nvSpPr>
        <p:spPr>
          <a:xfrm>
            <a:off x="3310128" y="5230368"/>
            <a:ext cx="7260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Guion + soporte visual + seis roles y tiempos + una corrección comprobada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658368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4</a:t>
            </a:r>
            <a:endParaRPr lang="en-US" sz="880" dirty="0"/>
          </a:p>
        </p:txBody>
      </p:sp>
      <p:sp>
        <p:nvSpPr>
          <p:cNvPr id="30" name="Text 27"/>
          <p:cNvSpPr/>
          <p:nvPr/>
        </p:nvSpPr>
        <p:spPr>
          <a:xfrm>
            <a:off x="10716768" y="64282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8E7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2918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spc="13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DE 60 MINUTOS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658368" y="640080"/>
            <a:ext cx="9235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hora, cinco movimientos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20700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movimiento produce algo concreto y prepara el siguiente.</a:t>
            </a:r>
            <a:endParaRPr lang="en-US" sz="1500" dirty="0"/>
          </a:p>
        </p:txBody>
      </p:sp>
      <p:pic>
        <p:nvPicPr>
          <p:cNvPr id="8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1461" y="219456"/>
            <a:ext cx="1210150" cy="8778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4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10716768" y="64282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8368" y="201168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00:00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0442448" y="201168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01:00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325880" y="3163824"/>
            <a:ext cx="9336024" cy="0"/>
          </a:xfrm>
          <a:prstGeom prst="line">
            <a:avLst/>
          </a:prstGeom>
          <a:noFill/>
          <a:ln w="12700">
            <a:solidFill>
              <a:srgbClr val="E9EEF4"/>
            </a:solidFill>
            <a:prstDash val="solid"/>
            <a:headEnd type="none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338328" y="228600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RECUPERAR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932688" y="2770632"/>
            <a:ext cx="786384" cy="7863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2688" y="2980944"/>
            <a:ext cx="7863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932688" y="3310128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56616" y="3822192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+ respaldo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560320" y="228600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CONSTRUIR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3099816" y="2715768"/>
            <a:ext cx="896112" cy="896112"/>
          </a:xfrm>
          <a:prstGeom prst="ellipse">
            <a:avLst/>
          </a:prstGeom>
          <a:solidFill>
            <a:srgbClr val="35B7C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99816" y="2980944"/>
            <a:ext cx="8961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3099816" y="3310128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578608" y="3822192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Guion comprensible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791456" y="228600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COORDINAR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5349240" y="2734056"/>
            <a:ext cx="859536" cy="85953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49240" y="2980944"/>
            <a:ext cx="859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5349240" y="3310128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809744" y="3822192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Soporte + seis voces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123176" y="228600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ENSAYAR</a:t>
            </a:r>
            <a:endParaRPr lang="en-US" sz="1450" dirty="0"/>
          </a:p>
        </p:txBody>
      </p:sp>
      <p:sp>
        <p:nvSpPr>
          <p:cNvPr id="30" name="Shape 27"/>
          <p:cNvSpPr/>
          <p:nvPr/>
        </p:nvSpPr>
        <p:spPr>
          <a:xfrm>
            <a:off x="7598664" y="2651760"/>
            <a:ext cx="1024128" cy="102412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98664" y="2980944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7598664" y="3310128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141464" y="3822192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Corregir + comprobar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9674352" y="228600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CERRAR</a:t>
            </a:r>
            <a:endParaRPr lang="en-US" sz="1450" dirty="0"/>
          </a:p>
        </p:txBody>
      </p:sp>
      <p:sp>
        <p:nvSpPr>
          <p:cNvPr id="35" name="Shape 32"/>
          <p:cNvSpPr/>
          <p:nvPr/>
        </p:nvSpPr>
        <p:spPr>
          <a:xfrm>
            <a:off x="10332720" y="2834640"/>
            <a:ext cx="658368" cy="658368"/>
          </a:xfrm>
          <a:prstGeom prst="ellipse">
            <a:avLst/>
          </a:prstGeom>
          <a:solidFill>
            <a:srgbClr val="082B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332720" y="2980944"/>
            <a:ext cx="658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700" dirty="0"/>
          </a:p>
        </p:txBody>
      </p:sp>
      <p:sp>
        <p:nvSpPr>
          <p:cNvPr id="37" name="Text 34"/>
          <p:cNvSpPr/>
          <p:nvPr/>
        </p:nvSpPr>
        <p:spPr>
          <a:xfrm>
            <a:off x="10332720" y="3310128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9692640" y="3822192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Versión preparada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969264" y="4846320"/>
            <a:ext cx="10241280" cy="859536"/>
          </a:xfrm>
          <a:prstGeom prst="roundRect">
            <a:avLst>
              <a:gd name="adj" fmla="val 4255"/>
            </a:avLst>
          </a:prstGeom>
          <a:solidFill>
            <a:srgbClr val="082B5C"/>
          </a:solidFill>
          <a:ln w="12700">
            <a:solidFill>
              <a:srgbClr val="082B5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133856" y="5047488"/>
            <a:ext cx="1572768" cy="457200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261872" y="5193792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TRAMO CLAVE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2980944" y="5074920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 minutos para ensayar, observar y convertir una dificultad en una mejora comprobable.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yecto-01-aiep-geogreen\talleres\03\media\fotos\prototipo-oled-geogreen-landscape.png">    </p:cNvPr>
          <p:cNvPicPr>
            <a:picLocks noChangeAspect="1"/>
          </p:cNvPicPr>
          <p:nvPr/>
        </p:nvPicPr>
        <p:blipFill>
          <a:blip r:embed="rId1"/>
          <a:srcRect l="18125" r="18125" t="0" b="0"/>
          <a:stretch/>
        </p:blipFill>
        <p:spPr>
          <a:xfrm>
            <a:off x="6729984" y="0"/>
            <a:ext cx="5458968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341864" y="146304"/>
            <a:ext cx="1609344" cy="1024128"/>
          </a:xfrm>
          <a:prstGeom prst="roundRect">
            <a:avLst>
              <a:gd name="adj" fmla="val 3571"/>
            </a:avLst>
          </a:prstGeom>
          <a:solidFill>
            <a:srgbClr val="031D3B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C:\Users\Diego Obando\dev\proyecto-01-aiep-geogreen\reuniones\2026-06-22-socio-comunitario\assets\lockup-vinculacion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461" y="219456"/>
            <a:ext cx="1210150" cy="8778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94944" y="512064"/>
            <a:ext cx="2487168" cy="365760"/>
          </a:xfrm>
          <a:prstGeom prst="roundRect">
            <a:avLst>
              <a:gd name="adj" fmla="val 12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68096" y="54864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10 MINUTOS</a:t>
            </a:r>
            <a:endParaRPr lang="en-US" sz="1080" dirty="0"/>
          </a:p>
        </p:txBody>
      </p:sp>
      <p:sp>
        <p:nvSpPr>
          <p:cNvPr id="10" name="Text 6"/>
          <p:cNvSpPr/>
          <p:nvPr/>
        </p:nvSpPr>
        <p:spPr>
          <a:xfrm>
            <a:off x="694944" y="1225296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presentar,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recuperen su historia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731520" y="2706624"/>
            <a:ext cx="49560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1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parten de cero. Cada mentoría dejó una decisión, un producto o una evidencia que ahora debe entrar al relato.</a:t>
            </a:r>
            <a:endParaRPr lang="en-US" sz="1510" dirty="0"/>
          </a:p>
        </p:txBody>
      </p:sp>
      <p:sp>
        <p:nvSpPr>
          <p:cNvPr id="12" name="Shape 8"/>
          <p:cNvSpPr/>
          <p:nvPr/>
        </p:nvSpPr>
        <p:spPr>
          <a:xfrm>
            <a:off x="731520" y="4096512"/>
            <a:ext cx="1481328" cy="384048"/>
          </a:xfrm>
          <a:prstGeom prst="roundRect">
            <a:avLst>
              <a:gd name="adj" fmla="val 1190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04672" y="4133088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1120" dirty="0"/>
          </a:p>
        </p:txBody>
      </p:sp>
      <p:sp>
        <p:nvSpPr>
          <p:cNvPr id="14" name="Shape 10"/>
          <p:cNvSpPr/>
          <p:nvPr/>
        </p:nvSpPr>
        <p:spPr>
          <a:xfrm>
            <a:off x="2432304" y="4096512"/>
            <a:ext cx="1481328" cy="384048"/>
          </a:xfrm>
          <a:prstGeom prst="roundRect">
            <a:avLst>
              <a:gd name="adj" fmla="val 11905"/>
            </a:avLst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505456" y="4133088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SOLUCIÓN</a:t>
            </a:r>
            <a:endParaRPr lang="en-US" sz="1120" dirty="0"/>
          </a:p>
        </p:txBody>
      </p:sp>
      <p:sp>
        <p:nvSpPr>
          <p:cNvPr id="16" name="Shape 12"/>
          <p:cNvSpPr/>
          <p:nvPr/>
        </p:nvSpPr>
        <p:spPr>
          <a:xfrm>
            <a:off x="4133088" y="4096512"/>
            <a:ext cx="1481328" cy="384048"/>
          </a:xfrm>
          <a:prstGeom prst="roundRect">
            <a:avLst>
              <a:gd name="adj" fmla="val 11905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206240" y="4133088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3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1120" dirty="0"/>
          </a:p>
        </p:txBody>
      </p:sp>
      <p:sp>
        <p:nvSpPr>
          <p:cNvPr id="18" name="Shape 14"/>
          <p:cNvSpPr/>
          <p:nvPr/>
        </p:nvSpPr>
        <p:spPr>
          <a:xfrm>
            <a:off x="731520" y="4974336"/>
            <a:ext cx="4983480" cy="768096"/>
          </a:xfrm>
          <a:prstGeom prst="roundRect">
            <a:avLst>
              <a:gd name="adj" fmla="val 4762"/>
            </a:avLst>
          </a:prstGeom>
          <a:solidFill>
            <a:srgbClr val="0D223A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87552" y="519379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presentación no inventa valor: hace visible el proceso que el equipo puede respaldar.</a:t>
            </a:r>
            <a:endParaRPr lang="en-US" sz="1540" dirty="0"/>
          </a:p>
        </p:txBody>
      </p:sp>
      <p:sp>
        <p:nvSpPr>
          <p:cNvPr id="20" name="Text 16"/>
          <p:cNvSpPr/>
          <p:nvPr/>
        </p:nvSpPr>
        <p:spPr>
          <a:xfrm>
            <a:off x="658368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4</a:t>
            </a:r>
            <a:endParaRPr lang="en-US" sz="880" dirty="0"/>
          </a:p>
        </p:txBody>
      </p:sp>
      <p:sp>
        <p:nvSpPr>
          <p:cNvPr id="21" name="Text 17"/>
          <p:cNvSpPr/>
          <p:nvPr/>
        </p:nvSpPr>
        <p:spPr>
          <a:xfrm>
            <a:off x="10716768" y="64282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8E7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2918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spc="13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 DEL PROYECTO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658368" y="640080"/>
            <a:ext cx="9235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productos entran. Una historia sale.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20700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presentación conecta lo que el equipo ya investigó, decidió y puso a prueba.</a:t>
            </a:r>
            <a:endParaRPr lang="en-US" sz="1500" dirty="0"/>
          </a:p>
        </p:txBody>
      </p:sp>
      <p:pic>
        <p:nvPicPr>
          <p:cNvPr id="8" name="Image 0" descr="C:\Users\Diego Obando\dev\proyecto-01-aiep-geogreen\reuniones\2026-06-22-socio-comunitario\assets\lockup-vinculac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1461" y="219456"/>
            <a:ext cx="1210150" cy="8778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4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10716768" y="64282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6B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8368" y="1719072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spc="120" kern="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ENTRADAS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8065008" y="17190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spc="120" kern="0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58368" y="2011680"/>
            <a:ext cx="2084832" cy="2852928"/>
          </a:xfrm>
          <a:prstGeom prst="roundRect">
            <a:avLst>
              <a:gd name="adj" fmla="val 1754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08176" y="2221992"/>
            <a:ext cx="585216" cy="58521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08176" y="238658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M1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22960" y="294436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822960" y="345643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Situación + contexto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96112" y="4041648"/>
            <a:ext cx="1609344" cy="0"/>
          </a:xfrm>
          <a:prstGeom prst="line">
            <a:avLst/>
          </a:prstGeom>
          <a:noFill/>
          <a:ln w="12700">
            <a:solidFill>
              <a:srgbClr val="D62027">
                <a:alpha val="7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425196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i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necesita cambiar?</a:t>
            </a:r>
            <a:endParaRPr lang="en-US" sz="1240" dirty="0"/>
          </a:p>
        </p:txBody>
      </p:sp>
      <p:sp>
        <p:nvSpPr>
          <p:cNvPr id="20" name="Shape 17"/>
          <p:cNvSpPr/>
          <p:nvPr/>
        </p:nvSpPr>
        <p:spPr>
          <a:xfrm>
            <a:off x="2944368" y="2011680"/>
            <a:ext cx="2084832" cy="2852928"/>
          </a:xfrm>
          <a:prstGeom prst="roundRect">
            <a:avLst>
              <a:gd name="adj" fmla="val 1754"/>
            </a:avLst>
          </a:prstGeom>
          <a:solidFill>
            <a:srgbClr val="DDF4F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94176" y="2221992"/>
            <a:ext cx="585216" cy="585216"/>
          </a:xfrm>
          <a:prstGeom prst="ellipse">
            <a:avLst/>
          </a:prstGeom>
          <a:solidFill>
            <a:srgbClr val="35B7C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94176" y="238658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M2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3108960" y="294436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SOLUCIÓN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3108960" y="345643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+ recursos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3182112" y="4041648"/>
            <a:ext cx="1609344" cy="0"/>
          </a:xfrm>
          <a:prstGeom prst="line">
            <a:avLst/>
          </a:prstGeom>
          <a:noFill/>
          <a:ln w="12700">
            <a:solidFill>
              <a:srgbClr val="35B7C6">
                <a:alpha val="7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108960" y="425196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i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decidimos hacer?</a:t>
            </a:r>
            <a:endParaRPr lang="en-US" sz="1240" dirty="0"/>
          </a:p>
        </p:txBody>
      </p:sp>
      <p:sp>
        <p:nvSpPr>
          <p:cNvPr id="27" name="Shape 24"/>
          <p:cNvSpPr/>
          <p:nvPr/>
        </p:nvSpPr>
        <p:spPr>
          <a:xfrm>
            <a:off x="5230368" y="2011680"/>
            <a:ext cx="2084832" cy="2852928"/>
          </a:xfrm>
          <a:prstGeom prst="roundRect">
            <a:avLst>
              <a:gd name="adj" fmla="val 1754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980176" y="2221992"/>
            <a:ext cx="585216" cy="58521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80176" y="238658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M3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394960" y="294436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82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5394960" y="345643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+ aprendizaje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5468112" y="4041648"/>
            <a:ext cx="1609344" cy="0"/>
          </a:xfrm>
          <a:prstGeom prst="line">
            <a:avLst/>
          </a:prstGeom>
          <a:noFill/>
          <a:ln w="12700">
            <a:solidFill>
              <a:srgbClr val="E0BC5A">
                <a:alpha val="7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94960" y="425196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i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podemos mostrar?</a:t>
            </a:r>
            <a:endParaRPr lang="en-US" sz="1240" dirty="0"/>
          </a:p>
        </p:txBody>
      </p:sp>
      <p:sp>
        <p:nvSpPr>
          <p:cNvPr id="34" name="Shape 31"/>
          <p:cNvSpPr/>
          <p:nvPr/>
        </p:nvSpPr>
        <p:spPr>
          <a:xfrm>
            <a:off x="7479792" y="2889504"/>
            <a:ext cx="457200" cy="1005840"/>
          </a:xfrm>
          <a:prstGeom prst="chevron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119872" y="2011680"/>
            <a:ext cx="3401568" cy="2852928"/>
          </a:xfrm>
          <a:prstGeom prst="roundRect">
            <a:avLst>
              <a:gd name="adj" fmla="val 1282"/>
            </a:avLst>
          </a:prstGeom>
          <a:solidFill>
            <a:srgbClr val="082B5C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394192" y="2267712"/>
            <a:ext cx="1316736" cy="384048"/>
          </a:xfrm>
          <a:prstGeom prst="roundRect">
            <a:avLst>
              <a:gd name="adj" fmla="val 11905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467344" y="2304288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M4 · PITCH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8385048" y="2889504"/>
            <a:ext cx="2871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HISTORIA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SE ENTIENDE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8394192" y="3730752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Guion + soporte visual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seis voces + una corrección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8394192" y="4425696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i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lo comprenderá otra persona?</a:t>
            </a:r>
            <a:endParaRPr lang="en-US" sz="1280" dirty="0"/>
          </a:p>
        </p:txBody>
      </p:sp>
      <p:sp>
        <p:nvSpPr>
          <p:cNvPr id="41" name="Shape 38"/>
          <p:cNvSpPr/>
          <p:nvPr/>
        </p:nvSpPr>
        <p:spPr>
          <a:xfrm>
            <a:off x="987552" y="5230368"/>
            <a:ext cx="10204704" cy="694944"/>
          </a:xfrm>
          <a:prstGeom prst="roundRect">
            <a:avLst>
              <a:gd name="adj" fmla="val 5263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298448" y="5449824"/>
            <a:ext cx="9582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FALTA RESPALDO: SE REGISTRA. NO SE INVENTA.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384048" cy="1097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201168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yecto-01-aiep-geogreen\reuniones\2026-06-22-socio-comunitario\assets\lockup-vinculacio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1461" y="219456"/>
            <a:ext cx="1210150" cy="8778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4206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spc="125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· INVENTARIO NARRATIVO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676656" y="749808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anclajes sostienen el pitch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94944" y="135331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Escriban una frase clara por anclaje utilizando solamente información que el equipo pueda explicar o respaldar.</a:t>
            </a:r>
            <a:endParaRPr lang="en-US" sz="1520" dirty="0"/>
          </a:p>
        </p:txBody>
      </p:sp>
      <p:sp>
        <p:nvSpPr>
          <p:cNvPr id="9" name="Shape 6"/>
          <p:cNvSpPr/>
          <p:nvPr/>
        </p:nvSpPr>
        <p:spPr>
          <a:xfrm>
            <a:off x="694944" y="1993392"/>
            <a:ext cx="3255264" cy="1353312"/>
          </a:xfrm>
          <a:prstGeom prst="roundRect">
            <a:avLst>
              <a:gd name="adj" fmla="val 2703"/>
            </a:avLst>
          </a:prstGeom>
          <a:solidFill>
            <a:srgbClr val="0D223A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" y="2221992"/>
            <a:ext cx="493776" cy="49377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235915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1517904" y="224942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Y CONTEXTO</a:t>
            </a:r>
            <a:endParaRPr lang="en-US" sz="1520" dirty="0"/>
          </a:p>
        </p:txBody>
      </p:sp>
      <p:sp>
        <p:nvSpPr>
          <p:cNvPr id="13" name="Text 10"/>
          <p:cNvSpPr/>
          <p:nvPr/>
        </p:nvSpPr>
        <p:spPr>
          <a:xfrm>
            <a:off x="914400" y="276148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ocurre, dónde ocurre y quiénes se relacionan con la situación?</a:t>
            </a:r>
            <a:endParaRPr lang="en-US" sz="1240" dirty="0"/>
          </a:p>
        </p:txBody>
      </p:sp>
      <p:sp>
        <p:nvSpPr>
          <p:cNvPr id="14" name="Shape 11"/>
          <p:cNvSpPr/>
          <p:nvPr/>
        </p:nvSpPr>
        <p:spPr>
          <a:xfrm>
            <a:off x="7315200" y="1993392"/>
            <a:ext cx="4169664" cy="1353312"/>
          </a:xfrm>
          <a:prstGeom prst="roundRect">
            <a:avLst>
              <a:gd name="adj" fmla="val 2703"/>
            </a:avLst>
          </a:prstGeom>
          <a:solidFill>
            <a:srgbClr val="0D223A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0" y="2221992"/>
            <a:ext cx="493776" cy="493776"/>
          </a:xfrm>
          <a:prstGeom prst="ellipse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0" y="235915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8138160" y="224942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SOLUCIÓN PROPUESTA</a:t>
            </a:r>
            <a:endParaRPr lang="en-US" sz="1520" dirty="0"/>
          </a:p>
        </p:txBody>
      </p:sp>
      <p:sp>
        <p:nvSpPr>
          <p:cNvPr id="18" name="Text 15"/>
          <p:cNvSpPr/>
          <p:nvPr/>
        </p:nvSpPr>
        <p:spPr>
          <a:xfrm>
            <a:off x="7534656" y="2761488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propone el equipo y de qué manera responde al problema?</a:t>
            </a:r>
            <a:endParaRPr lang="en-US" sz="1240" dirty="0"/>
          </a:p>
        </p:txBody>
      </p:sp>
      <p:sp>
        <p:nvSpPr>
          <p:cNvPr id="19" name="Shape 16"/>
          <p:cNvSpPr/>
          <p:nvPr/>
        </p:nvSpPr>
        <p:spPr>
          <a:xfrm>
            <a:off x="694944" y="4078224"/>
            <a:ext cx="3255264" cy="1353312"/>
          </a:xfrm>
          <a:prstGeom prst="roundRect">
            <a:avLst>
              <a:gd name="adj" fmla="val 2703"/>
            </a:avLst>
          </a:prstGeom>
          <a:solidFill>
            <a:srgbClr val="0D223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77824" y="4306824"/>
            <a:ext cx="493776" cy="49377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7824" y="4443984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120" dirty="0"/>
          </a:p>
        </p:txBody>
      </p:sp>
      <p:sp>
        <p:nvSpPr>
          <p:cNvPr id="22" name="Text 19"/>
          <p:cNvSpPr/>
          <p:nvPr/>
        </p:nvSpPr>
        <p:spPr>
          <a:xfrm>
            <a:off x="1517904" y="433425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</a:t>
            </a:r>
            <a:endParaRPr lang="en-US" sz="1520" dirty="0"/>
          </a:p>
        </p:txBody>
      </p:sp>
      <p:sp>
        <p:nvSpPr>
          <p:cNvPr id="23" name="Text 20"/>
          <p:cNvSpPr/>
          <p:nvPr/>
        </p:nvSpPr>
        <p:spPr>
          <a:xfrm>
            <a:off x="914400" y="484632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podemos mostrar para respaldar que la propuesta avanzó?</a:t>
            </a:r>
            <a:endParaRPr lang="en-US" sz="1240" dirty="0"/>
          </a:p>
        </p:txBody>
      </p:sp>
      <p:sp>
        <p:nvSpPr>
          <p:cNvPr id="24" name="Shape 21"/>
          <p:cNvSpPr/>
          <p:nvPr/>
        </p:nvSpPr>
        <p:spPr>
          <a:xfrm>
            <a:off x="7315200" y="4078224"/>
            <a:ext cx="4169664" cy="1353312"/>
          </a:xfrm>
          <a:prstGeom prst="roundRect">
            <a:avLst>
              <a:gd name="adj" fmla="val 2703"/>
            </a:avLst>
          </a:prstGeom>
          <a:solidFill>
            <a:srgbClr val="0D223A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498080" y="4306824"/>
            <a:ext cx="493776" cy="49377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0" y="4443984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120" dirty="0"/>
          </a:p>
        </p:txBody>
      </p:sp>
      <p:sp>
        <p:nvSpPr>
          <p:cNvPr id="27" name="Text 24"/>
          <p:cNvSpPr/>
          <p:nvPr/>
        </p:nvSpPr>
        <p:spPr>
          <a:xfrm>
            <a:off x="8138160" y="4334256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APRENDIZAJE O APORTE</a:t>
            </a:r>
            <a:endParaRPr lang="en-US" sz="1520" dirty="0"/>
          </a:p>
        </p:txBody>
      </p:sp>
      <p:sp>
        <p:nvSpPr>
          <p:cNvPr id="28" name="Text 25"/>
          <p:cNvSpPr/>
          <p:nvPr/>
        </p:nvSpPr>
        <p:spPr>
          <a:xfrm>
            <a:off x="7534656" y="4846320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comprendimos mejor y qué mejora busca favorecer la propuesta?</a:t>
            </a:r>
            <a:endParaRPr lang="en-US" sz="1240" dirty="0"/>
          </a:p>
        </p:txBody>
      </p:sp>
      <p:sp>
        <p:nvSpPr>
          <p:cNvPr id="29" name="Shape 26"/>
          <p:cNvSpPr/>
          <p:nvPr/>
        </p:nvSpPr>
        <p:spPr>
          <a:xfrm>
            <a:off x="4572000" y="2596896"/>
            <a:ext cx="2139696" cy="213969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91456" y="324612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HISTORIA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03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PROYECTO</a:t>
            </a:r>
            <a:endParaRPr lang="en-US" sz="1750" dirty="0"/>
          </a:p>
        </p:txBody>
      </p:sp>
      <p:sp>
        <p:nvSpPr>
          <p:cNvPr id="31" name="Shape 28"/>
          <p:cNvSpPr/>
          <p:nvPr/>
        </p:nvSpPr>
        <p:spPr>
          <a:xfrm>
            <a:off x="1170432" y="5742432"/>
            <a:ext cx="9829800" cy="493776"/>
          </a:xfrm>
          <a:prstGeom prst="roundRect">
            <a:avLst>
              <a:gd name="adj" fmla="val 740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444752" y="5879592"/>
            <a:ext cx="9281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spc="4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MINUTOS · UNA FRASE POR ANCLAJE · SI NO HAY RESPALDO, ESCRIBAN “FALTA COMPROBAR”</a:t>
            </a:r>
            <a:endParaRPr lang="en-US" sz="1130" dirty="0"/>
          </a:p>
        </p:txBody>
      </p:sp>
      <p:sp>
        <p:nvSpPr>
          <p:cNvPr id="33" name="Text 30"/>
          <p:cNvSpPr/>
          <p:nvPr/>
        </p:nvSpPr>
        <p:spPr>
          <a:xfrm>
            <a:off x="658368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· Mentoría 4</a:t>
            </a:r>
            <a:endParaRPr lang="en-US" sz="880" dirty="0"/>
          </a:p>
        </p:txBody>
      </p:sp>
      <p:sp>
        <p:nvSpPr>
          <p:cNvPr id="34" name="Text 31"/>
          <p:cNvSpPr/>
          <p:nvPr/>
        </p:nvSpPr>
        <p:spPr>
          <a:xfrm>
            <a:off x="10716768" y="642823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8E7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AIEP Osorno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Mentoría 4 - Comunicar para que la idea avance</dc:title>
  <dc:subject>Mentoría 4 - Comunicar la propuesta y ensayar el pitch</dc:subject>
  <dc:creator>GeoGreen Escolar Osorno</dc:creator>
  <cp:lastModifiedBy>GeoGreen Escolar Osorno</cp:lastModifiedBy>
  <cp:revision>1</cp:revision>
  <dcterms:created xsi:type="dcterms:W3CDTF">2026-07-19T21:43:47Z</dcterms:created>
  <dcterms:modified xsi:type="dcterms:W3CDTF">2026-07-19T21:43:47Z</dcterms:modified>
</cp:coreProperties>
</file>