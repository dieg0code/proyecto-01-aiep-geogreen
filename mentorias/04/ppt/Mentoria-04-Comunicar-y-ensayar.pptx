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iego Obando\dev\proyecto-01-aiep-geogreen\mentorias\04\ppt\source\assets\images\portada-estudiantes-ensayo-pitch-geogreen.png">    </p:cNvPr>
          <p:cNvPicPr>
            <a:picLocks noChangeAspect="1"/>
          </p:cNvPicPr>
          <p:nvPr/>
        </p:nvPicPr>
        <p:blipFill>
          <a:blip r:embed="rId1"/>
          <a:srcRect l="0" r="0"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277856" y="182880"/>
            <a:ext cx="1645920" cy="1042416"/>
          </a:xfrm>
          <a:prstGeom prst="roundRect">
            <a:avLst>
              <a:gd name="adj" fmla="val 3509"/>
            </a:avLst>
          </a:prstGeom>
          <a:solidFill>
            <a:srgbClr val="031D3B">
              <a:alpha val="92000"/>
            </a:srgbClr>
          </a:solidFill>
          <a:ln w="12700">
            <a:solidFill>
              <a:srgbClr val="031D3B">
                <a:alpha val="0"/>
              </a:srgbClr>
            </a:solidFill>
            <a:prstDash val="solid"/>
          </a:ln>
        </p:spPr>
      </p:sp>
      <p:pic>
        <p:nvPicPr>
          <p:cNvPr id="7" name="Image 1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3135" y="256032"/>
            <a:ext cx="1235361" cy="8961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13232" y="621792"/>
            <a:ext cx="4251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5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94944" y="1225296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Comunicar para que</a:t>
            </a:r>
            <a:endParaRPr lang="en-US" sz="3550" dirty="0"/>
          </a:p>
          <a:p>
            <a:pPr indent="0" marL="0">
              <a:buNone/>
            </a:pPr>
            <a:r>
              <a:rPr lang="en-US" sz="3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idea avance</a:t>
            </a:r>
            <a:endParaRPr lang="en-US" sz="3550" dirty="0"/>
          </a:p>
        </p:txBody>
      </p:sp>
      <p:sp>
        <p:nvSpPr>
          <p:cNvPr id="10" name="Shape 6"/>
          <p:cNvSpPr/>
          <p:nvPr/>
        </p:nvSpPr>
        <p:spPr>
          <a:xfrm>
            <a:off x="713232" y="2798064"/>
            <a:ext cx="914400" cy="731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13232" y="3127248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Guion · soporte visual · roles · ensayo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13232" y="3822192"/>
            <a:ext cx="4407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propuesta crece cuando otras personas pueden comprenderla.</a:t>
            </a:r>
            <a:endParaRPr lang="en-US" sz="2050" dirty="0"/>
          </a:p>
        </p:txBody>
      </p:sp>
      <p:sp>
        <p:nvSpPr>
          <p:cNvPr id="13" name="Shape 9"/>
          <p:cNvSpPr/>
          <p:nvPr/>
        </p:nvSpPr>
        <p:spPr>
          <a:xfrm>
            <a:off x="713232" y="5742432"/>
            <a:ext cx="2212848" cy="384048"/>
          </a:xfrm>
          <a:prstGeom prst="roundRect">
            <a:avLst>
              <a:gd name="adj" fmla="val 11905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86384" y="577900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 28 SEP · 60 MIN</a:t>
            </a:r>
            <a:endParaRPr lang="en-US" sz="1020" dirty="0"/>
          </a:p>
        </p:txBody>
      </p:sp>
      <p:sp>
        <p:nvSpPr>
          <p:cNvPr id="15" name="Text 11"/>
          <p:cNvSpPr/>
          <p:nvPr/>
        </p:nvSpPr>
        <p:spPr>
          <a:xfrm>
            <a:off x="3182112" y="5824728"/>
            <a:ext cx="3602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AIEP Osorno · Instituto Comercial Liceo Bicentenario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1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76656" y="4389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MISIÓN DE HOY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76656" y="822960"/>
            <a:ext cx="9372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Transformar trabajo en una presentación que se entienda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94944" y="1536192"/>
            <a:ext cx="9006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comenzamos otra idea. Recuperamos, ordenamos, coordinamos y mejoramos la que el equipo ya construyó.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1444752" y="2816352"/>
            <a:ext cx="9070848" cy="0"/>
          </a:xfrm>
          <a:prstGeom prst="line">
            <a:avLst/>
          </a:prstGeom>
          <a:noFill/>
          <a:ln w="12700">
            <a:solidFill>
              <a:srgbClr val="1D4E89">
                <a:alpha val="95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2487168"/>
            <a:ext cx="676656" cy="67665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97280" y="2670048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68096" y="3328416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RECUPERAR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02336" y="3657600"/>
            <a:ext cx="20665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ya sabemos y podemos mostrar.</a:t>
            </a:r>
            <a:endParaRPr lang="en-US" sz="1240" dirty="0"/>
          </a:p>
        </p:txBody>
      </p:sp>
      <p:sp>
        <p:nvSpPr>
          <p:cNvPr id="14" name="Shape 11"/>
          <p:cNvSpPr/>
          <p:nvPr/>
        </p:nvSpPr>
        <p:spPr>
          <a:xfrm>
            <a:off x="3794760" y="2487168"/>
            <a:ext cx="676656" cy="67665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794760" y="2670048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465576" y="3328416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ORDENAR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3099816" y="3657600"/>
            <a:ext cx="20665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relato que otra persona pueda seguir.</a:t>
            </a:r>
            <a:endParaRPr lang="en-US" sz="1240" dirty="0"/>
          </a:p>
        </p:txBody>
      </p:sp>
      <p:sp>
        <p:nvSpPr>
          <p:cNvPr id="18" name="Shape 15"/>
          <p:cNvSpPr/>
          <p:nvPr/>
        </p:nvSpPr>
        <p:spPr>
          <a:xfrm>
            <a:off x="6492240" y="2487168"/>
            <a:ext cx="676656" cy="67665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92240" y="2670048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6163056" y="3328416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COORDINAR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5797296" y="3657600"/>
            <a:ext cx="20665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Seis aportes, soporte y transiciones.</a:t>
            </a:r>
            <a:endParaRPr lang="en-US" sz="1240" dirty="0"/>
          </a:p>
        </p:txBody>
      </p:sp>
      <p:sp>
        <p:nvSpPr>
          <p:cNvPr id="22" name="Shape 19"/>
          <p:cNvSpPr/>
          <p:nvPr/>
        </p:nvSpPr>
        <p:spPr>
          <a:xfrm>
            <a:off x="9189720" y="2487168"/>
            <a:ext cx="676656" cy="676656"/>
          </a:xfrm>
          <a:prstGeom prst="ellipse">
            <a:avLst/>
          </a:prstGeom>
          <a:solidFill>
            <a:srgbClr val="2E8B5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89720" y="2670048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8860536" y="3328416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MEJORAR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8494776" y="3657600"/>
            <a:ext cx="20665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Ensayar, observar, ajustar y comprobar.</a:t>
            </a:r>
            <a:endParaRPr lang="en-US" sz="1240" dirty="0"/>
          </a:p>
        </p:txBody>
      </p:sp>
      <p:sp>
        <p:nvSpPr>
          <p:cNvPr id="26" name="Shape 23"/>
          <p:cNvSpPr/>
          <p:nvPr/>
        </p:nvSpPr>
        <p:spPr>
          <a:xfrm>
            <a:off x="1243584" y="5102352"/>
            <a:ext cx="9692640" cy="768096"/>
          </a:xfrm>
          <a:prstGeom prst="roundRect">
            <a:avLst>
              <a:gd name="adj" fmla="val 4762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536192" y="5285232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105" kern="0" dirty="0">
                <a:solidFill>
                  <a:srgbClr val="031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SALIDA OBLIGATORIA</a:t>
            </a:r>
            <a:endParaRPr lang="en-US" sz="1080" dirty="0"/>
          </a:p>
        </p:txBody>
      </p:sp>
      <p:sp>
        <p:nvSpPr>
          <p:cNvPr id="28" name="Text 25"/>
          <p:cNvSpPr/>
          <p:nvPr/>
        </p:nvSpPr>
        <p:spPr>
          <a:xfrm>
            <a:off x="3310128" y="5230368"/>
            <a:ext cx="7260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Guion + soporte visual + seis roles y tiempos + una corrección comprobada</a:t>
            </a:r>
            <a:endParaRPr lang="en-US" sz="1650" dirty="0"/>
          </a:p>
        </p:txBody>
      </p:sp>
      <p:sp>
        <p:nvSpPr>
          <p:cNvPr id="29" name="Text 2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30" name="Text 2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E7F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13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DE 60 MINUTOS</a:t>
            </a:r>
            <a:endParaRPr lang="en-US" sz="108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35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hora, cinco movimientos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07008"/>
            <a:ext cx="9052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movimiento produce algo concreto y prepara el siguiente.</a:t>
            </a:r>
            <a:endParaRPr lang="en-US" sz="150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8368" y="2011680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00:00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10442448" y="2011680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01:00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1325880" y="3163824"/>
            <a:ext cx="9336024" cy="0"/>
          </a:xfrm>
          <a:prstGeom prst="line">
            <a:avLst/>
          </a:prstGeom>
          <a:noFill/>
          <a:ln w="12700">
            <a:solidFill>
              <a:srgbClr val="E9EEF4"/>
            </a:solidFill>
            <a:prstDash val="solid"/>
            <a:headEnd type="none"/>
            <a:tailEnd type="triangle"/>
          </a:ln>
        </p:spPr>
      </p:sp>
      <p:sp>
        <p:nvSpPr>
          <p:cNvPr id="14" name="Text 11"/>
          <p:cNvSpPr/>
          <p:nvPr/>
        </p:nvSpPr>
        <p:spPr>
          <a:xfrm>
            <a:off x="338328" y="2286000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RECUPERAR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932688" y="2770632"/>
            <a:ext cx="786384" cy="78638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2688" y="2980944"/>
            <a:ext cx="7863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932688" y="3310128"/>
            <a:ext cx="786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356616" y="3822192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Historia + respaldo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2560320" y="2286000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CONSTRUIR</a:t>
            </a:r>
            <a:endParaRPr lang="en-US" sz="1450" dirty="0"/>
          </a:p>
        </p:txBody>
      </p:sp>
      <p:sp>
        <p:nvSpPr>
          <p:cNvPr id="20" name="Shape 17"/>
          <p:cNvSpPr/>
          <p:nvPr/>
        </p:nvSpPr>
        <p:spPr>
          <a:xfrm>
            <a:off x="3099816" y="2715768"/>
            <a:ext cx="896112" cy="896112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099816" y="2980944"/>
            <a:ext cx="8961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3099816" y="3310128"/>
            <a:ext cx="8961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2578608" y="3822192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Guion comprensible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4791456" y="2286000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COORDINAR</a:t>
            </a:r>
            <a:endParaRPr lang="en-US" sz="1450" dirty="0"/>
          </a:p>
        </p:txBody>
      </p:sp>
      <p:sp>
        <p:nvSpPr>
          <p:cNvPr id="25" name="Shape 22"/>
          <p:cNvSpPr/>
          <p:nvPr/>
        </p:nvSpPr>
        <p:spPr>
          <a:xfrm>
            <a:off x="5349240" y="2734056"/>
            <a:ext cx="859536" cy="85953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349240" y="2980944"/>
            <a:ext cx="8595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2100" dirty="0"/>
          </a:p>
        </p:txBody>
      </p:sp>
      <p:sp>
        <p:nvSpPr>
          <p:cNvPr id="27" name="Text 24"/>
          <p:cNvSpPr/>
          <p:nvPr/>
        </p:nvSpPr>
        <p:spPr>
          <a:xfrm>
            <a:off x="5349240" y="3310128"/>
            <a:ext cx="8595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1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4809744" y="3822192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Soporte + seis voces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123176" y="2286000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ENSAYAR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7598664" y="2651760"/>
            <a:ext cx="1024128" cy="1024128"/>
          </a:xfrm>
          <a:prstGeom prst="ellipse">
            <a:avLst/>
          </a:prstGeom>
          <a:solidFill>
            <a:srgbClr val="2E8B5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598664" y="2980944"/>
            <a:ext cx="10241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</a:t>
            </a:r>
            <a:endParaRPr lang="en-US" sz="2100" dirty="0"/>
          </a:p>
        </p:txBody>
      </p:sp>
      <p:sp>
        <p:nvSpPr>
          <p:cNvPr id="32" name="Text 29"/>
          <p:cNvSpPr/>
          <p:nvPr/>
        </p:nvSpPr>
        <p:spPr>
          <a:xfrm>
            <a:off x="7598664" y="3310128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141464" y="3822192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Corregir + comprobar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9674352" y="2286000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CERRAR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10332720" y="2834640"/>
            <a:ext cx="658368" cy="658368"/>
          </a:xfrm>
          <a:prstGeom prst="ellipse">
            <a:avLst/>
          </a:prstGeom>
          <a:solidFill>
            <a:srgbClr val="082B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10332720" y="2980944"/>
            <a:ext cx="6583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700" dirty="0"/>
          </a:p>
        </p:txBody>
      </p:sp>
      <p:sp>
        <p:nvSpPr>
          <p:cNvPr id="37" name="Text 34"/>
          <p:cNvSpPr/>
          <p:nvPr/>
        </p:nvSpPr>
        <p:spPr>
          <a:xfrm>
            <a:off x="10332720" y="3310128"/>
            <a:ext cx="6583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9692640" y="3822192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Versión preparada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969264" y="4846320"/>
            <a:ext cx="10241280" cy="859536"/>
          </a:xfrm>
          <a:prstGeom prst="roundRect">
            <a:avLst>
              <a:gd name="adj" fmla="val 4255"/>
            </a:avLst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133856" y="5047488"/>
            <a:ext cx="1572768" cy="457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1261872" y="5193792"/>
            <a:ext cx="1316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8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TRAMO CLAVE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2980944" y="5074920"/>
            <a:ext cx="7726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 minutos para ensayar, observar y convertir una dificultad en una mejora comprobable.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31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yecto-01-aiep-geogreen\talleres\03\media\fotos\prototipo-oled-geogreen-landscape.png">    </p:cNvPr>
          <p:cNvPicPr>
            <a:picLocks noChangeAspect="1"/>
          </p:cNvPicPr>
          <p:nvPr/>
        </p:nvPicPr>
        <p:blipFill>
          <a:blip r:embed="rId1"/>
          <a:srcRect l="18125" r="18125" t="0" b="0"/>
          <a:stretch/>
        </p:blipFill>
        <p:spPr>
          <a:xfrm>
            <a:off x="6729984" y="0"/>
            <a:ext cx="5458968" cy="6858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341864" y="146304"/>
            <a:ext cx="1609344" cy="1024128"/>
          </a:xfrm>
          <a:prstGeom prst="roundRect">
            <a:avLst>
              <a:gd name="adj" fmla="val 3571"/>
            </a:avLst>
          </a:prstGeom>
          <a:solidFill>
            <a:srgbClr val="031D3B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1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94944" y="512064"/>
            <a:ext cx="2487168" cy="365760"/>
          </a:xfrm>
          <a:prstGeom prst="roundRect">
            <a:avLst>
              <a:gd name="adj" fmla="val 1250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68096" y="54864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10 MINUTOS</a:t>
            </a:r>
            <a:endParaRPr lang="en-US" sz="1080" dirty="0"/>
          </a:p>
        </p:txBody>
      </p:sp>
      <p:sp>
        <p:nvSpPr>
          <p:cNvPr id="10" name="Text 6"/>
          <p:cNvSpPr/>
          <p:nvPr/>
        </p:nvSpPr>
        <p:spPr>
          <a:xfrm>
            <a:off x="694944" y="1225296"/>
            <a:ext cx="5212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Antes de presentar,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recuperen su historia</a:t>
            </a:r>
            <a:endParaRPr lang="en-US" sz="3200" dirty="0"/>
          </a:p>
        </p:txBody>
      </p:sp>
      <p:sp>
        <p:nvSpPr>
          <p:cNvPr id="11" name="Text 7"/>
          <p:cNvSpPr/>
          <p:nvPr/>
        </p:nvSpPr>
        <p:spPr>
          <a:xfrm>
            <a:off x="731520" y="2706624"/>
            <a:ext cx="49560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parten de cero. Cada mentoría dejó una decisión, un producto o una evidencia que ahora debe entrar al relato.</a:t>
            </a:r>
            <a:endParaRPr lang="en-US" sz="1510" dirty="0"/>
          </a:p>
        </p:txBody>
      </p:sp>
      <p:sp>
        <p:nvSpPr>
          <p:cNvPr id="12" name="Shape 8"/>
          <p:cNvSpPr/>
          <p:nvPr/>
        </p:nvSpPr>
        <p:spPr>
          <a:xfrm>
            <a:off x="731520" y="4096512"/>
            <a:ext cx="1481328" cy="384048"/>
          </a:xfrm>
          <a:prstGeom prst="roundRect">
            <a:avLst>
              <a:gd name="adj" fmla="val 11905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04672" y="4133088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PROBLEMA</a:t>
            </a:r>
            <a:endParaRPr lang="en-US" sz="1120" dirty="0"/>
          </a:p>
        </p:txBody>
      </p:sp>
      <p:sp>
        <p:nvSpPr>
          <p:cNvPr id="14" name="Shape 10"/>
          <p:cNvSpPr/>
          <p:nvPr/>
        </p:nvSpPr>
        <p:spPr>
          <a:xfrm>
            <a:off x="2432304" y="4096512"/>
            <a:ext cx="1481328" cy="384048"/>
          </a:xfrm>
          <a:prstGeom prst="roundRect">
            <a:avLst>
              <a:gd name="adj" fmla="val 11905"/>
            </a:avLst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505456" y="4133088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SOLUCIÓN</a:t>
            </a:r>
            <a:endParaRPr lang="en-US" sz="1120" dirty="0"/>
          </a:p>
        </p:txBody>
      </p:sp>
      <p:sp>
        <p:nvSpPr>
          <p:cNvPr id="16" name="Shape 12"/>
          <p:cNvSpPr/>
          <p:nvPr/>
        </p:nvSpPr>
        <p:spPr>
          <a:xfrm>
            <a:off x="4133088" y="4096512"/>
            <a:ext cx="1481328" cy="384048"/>
          </a:xfrm>
          <a:prstGeom prst="roundRect">
            <a:avLst>
              <a:gd name="adj" fmla="val 11905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206240" y="4133088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31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</a:t>
            </a:r>
            <a:endParaRPr lang="en-US" sz="1120" dirty="0"/>
          </a:p>
        </p:txBody>
      </p:sp>
      <p:sp>
        <p:nvSpPr>
          <p:cNvPr id="18" name="Shape 14"/>
          <p:cNvSpPr/>
          <p:nvPr/>
        </p:nvSpPr>
        <p:spPr>
          <a:xfrm>
            <a:off x="731520" y="4974336"/>
            <a:ext cx="4983480" cy="768096"/>
          </a:xfrm>
          <a:prstGeom prst="roundRect">
            <a:avLst>
              <a:gd name="adj" fmla="val 4762"/>
            </a:avLst>
          </a:prstGeom>
          <a:solidFill>
            <a:srgbClr val="0D223A"/>
          </a:solidFill>
          <a:ln w="12700">
            <a:solidFill>
              <a:srgbClr val="1D4E89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987552" y="519379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presentación no inventa valor: hace visible el proceso que el equipo puede respaldar.</a:t>
            </a:r>
            <a:endParaRPr lang="en-US" sz="1540" dirty="0"/>
          </a:p>
        </p:txBody>
      </p:sp>
      <p:sp>
        <p:nvSpPr>
          <p:cNvPr id="20" name="Text 1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21" name="Text 1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E7F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13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TRAZABILIDAD DEL PROYECTO</a:t>
            </a:r>
            <a:endParaRPr lang="en-US" sz="108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35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Tres productos entran. Una historia sale.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07008"/>
            <a:ext cx="9052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presentación conecta lo que el equipo ya investigó, decidió y puso a prueba.</a:t>
            </a:r>
            <a:endParaRPr lang="en-US" sz="150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8368" y="1719072"/>
            <a:ext cx="6675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spc="120" kern="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ENTRADAS</a:t>
            </a:r>
            <a:endParaRPr lang="en-US" sz="1080" dirty="0"/>
          </a:p>
        </p:txBody>
      </p:sp>
      <p:sp>
        <p:nvSpPr>
          <p:cNvPr id="12" name="Text 9"/>
          <p:cNvSpPr/>
          <p:nvPr/>
        </p:nvSpPr>
        <p:spPr>
          <a:xfrm>
            <a:off x="8065008" y="1719072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spc="120" kern="0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SALIDA</a:t>
            </a:r>
            <a:endParaRPr lang="en-US" sz="1080" dirty="0"/>
          </a:p>
        </p:txBody>
      </p:sp>
      <p:sp>
        <p:nvSpPr>
          <p:cNvPr id="13" name="Shape 10"/>
          <p:cNvSpPr/>
          <p:nvPr/>
        </p:nvSpPr>
        <p:spPr>
          <a:xfrm>
            <a:off x="658368" y="2011680"/>
            <a:ext cx="2084832" cy="2852928"/>
          </a:xfrm>
          <a:prstGeom prst="roundRect">
            <a:avLst>
              <a:gd name="adj" fmla="val 1754"/>
            </a:avLst>
          </a:prstGeom>
          <a:solidFill>
            <a:srgbClr val="F8E4E5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408176" y="2221992"/>
            <a:ext cx="585216" cy="58521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408176" y="2386584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M1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22960" y="2944368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</a:t>
            </a:r>
            <a:endParaRPr lang="en-US" sz="1650" dirty="0"/>
          </a:p>
        </p:txBody>
      </p:sp>
      <p:sp>
        <p:nvSpPr>
          <p:cNvPr id="17" name="Text 14"/>
          <p:cNvSpPr/>
          <p:nvPr/>
        </p:nvSpPr>
        <p:spPr>
          <a:xfrm>
            <a:off x="822960" y="3456432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Situación + contexto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896112" y="4041648"/>
            <a:ext cx="1609344" cy="0"/>
          </a:xfrm>
          <a:prstGeom prst="line">
            <a:avLst/>
          </a:prstGeom>
          <a:noFill/>
          <a:ln w="12700">
            <a:solidFill>
              <a:srgbClr val="D62027">
                <a:alpha val="7500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2960" y="4251960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i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necesita cambiar?</a:t>
            </a:r>
            <a:endParaRPr lang="en-US" sz="1240" dirty="0"/>
          </a:p>
        </p:txBody>
      </p:sp>
      <p:sp>
        <p:nvSpPr>
          <p:cNvPr id="20" name="Shape 17"/>
          <p:cNvSpPr/>
          <p:nvPr/>
        </p:nvSpPr>
        <p:spPr>
          <a:xfrm>
            <a:off x="2944368" y="2011680"/>
            <a:ext cx="2084832" cy="2852928"/>
          </a:xfrm>
          <a:prstGeom prst="roundRect">
            <a:avLst>
              <a:gd name="adj" fmla="val 1754"/>
            </a:avLst>
          </a:prstGeom>
          <a:solidFill>
            <a:srgbClr val="DDF4F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694176" y="2221992"/>
            <a:ext cx="585216" cy="58521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694176" y="2386584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M2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3108960" y="2944368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SOLUCIÓN</a:t>
            </a:r>
            <a:endParaRPr lang="en-US" sz="1650" dirty="0"/>
          </a:p>
        </p:txBody>
      </p:sp>
      <p:sp>
        <p:nvSpPr>
          <p:cNvPr id="24" name="Text 21"/>
          <p:cNvSpPr/>
          <p:nvPr/>
        </p:nvSpPr>
        <p:spPr>
          <a:xfrm>
            <a:off x="3108960" y="3456432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Respuesta + recursos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182112" y="4041648"/>
            <a:ext cx="1609344" cy="0"/>
          </a:xfrm>
          <a:prstGeom prst="line">
            <a:avLst/>
          </a:prstGeom>
          <a:noFill/>
          <a:ln w="12700">
            <a:solidFill>
              <a:srgbClr val="35B7C6">
                <a:alpha val="7500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108960" y="4251960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i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decidimos hacer?</a:t>
            </a:r>
            <a:endParaRPr lang="en-US" sz="1240" dirty="0"/>
          </a:p>
        </p:txBody>
      </p:sp>
      <p:sp>
        <p:nvSpPr>
          <p:cNvPr id="27" name="Shape 24"/>
          <p:cNvSpPr/>
          <p:nvPr/>
        </p:nvSpPr>
        <p:spPr>
          <a:xfrm>
            <a:off x="5230368" y="2011680"/>
            <a:ext cx="2084832" cy="2852928"/>
          </a:xfrm>
          <a:prstGeom prst="roundRect">
            <a:avLst>
              <a:gd name="adj" fmla="val 1754"/>
            </a:avLst>
          </a:prstGeom>
          <a:solidFill>
            <a:srgbClr val="FBF3DE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980176" y="2221992"/>
            <a:ext cx="585216" cy="58521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80176" y="2386584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M3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5394960" y="2944368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EVIDENCIA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5394960" y="3456432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Prueba + aprendizaje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5468112" y="4041648"/>
            <a:ext cx="1609344" cy="0"/>
          </a:xfrm>
          <a:prstGeom prst="line">
            <a:avLst/>
          </a:prstGeom>
          <a:noFill/>
          <a:ln w="12700">
            <a:solidFill>
              <a:srgbClr val="E0BC5A">
                <a:alpha val="7500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394960" y="4251960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i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podemos mostrar?</a:t>
            </a:r>
            <a:endParaRPr lang="en-US" sz="1240" dirty="0"/>
          </a:p>
        </p:txBody>
      </p:sp>
      <p:sp>
        <p:nvSpPr>
          <p:cNvPr id="34" name="Shape 31"/>
          <p:cNvSpPr/>
          <p:nvPr/>
        </p:nvSpPr>
        <p:spPr>
          <a:xfrm>
            <a:off x="7479792" y="2889504"/>
            <a:ext cx="457200" cy="1005840"/>
          </a:xfrm>
          <a:prstGeom prst="chevron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119872" y="2011680"/>
            <a:ext cx="3401568" cy="2852928"/>
          </a:xfrm>
          <a:prstGeom prst="roundRect">
            <a:avLst>
              <a:gd name="adj" fmla="val 1282"/>
            </a:avLst>
          </a:prstGeom>
          <a:solidFill>
            <a:srgbClr val="082B5C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394192" y="2267712"/>
            <a:ext cx="1316736" cy="384048"/>
          </a:xfrm>
          <a:prstGeom prst="roundRect">
            <a:avLst>
              <a:gd name="adj" fmla="val 11905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467344" y="230428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M4 · PITCH</a:t>
            </a:r>
            <a:endParaRPr lang="en-US" sz="1150" dirty="0"/>
          </a:p>
        </p:txBody>
      </p:sp>
      <p:sp>
        <p:nvSpPr>
          <p:cNvPr id="38" name="Text 35"/>
          <p:cNvSpPr/>
          <p:nvPr/>
        </p:nvSpPr>
        <p:spPr>
          <a:xfrm>
            <a:off x="8385048" y="2889504"/>
            <a:ext cx="2871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HISTORIA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 SE ENTIENDE</a:t>
            </a:r>
            <a:endParaRPr lang="en-US" sz="2200" dirty="0"/>
          </a:p>
        </p:txBody>
      </p:sp>
      <p:sp>
        <p:nvSpPr>
          <p:cNvPr id="39" name="Text 36"/>
          <p:cNvSpPr/>
          <p:nvPr/>
        </p:nvSpPr>
        <p:spPr>
          <a:xfrm>
            <a:off x="8394192" y="3730752"/>
            <a:ext cx="2779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Guion + soporte visual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seis voces + una corrección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8394192" y="4425696"/>
            <a:ext cx="2779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i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lo comprenderá otra persona?</a:t>
            </a:r>
            <a:endParaRPr lang="en-US" sz="1280" dirty="0"/>
          </a:p>
        </p:txBody>
      </p:sp>
      <p:sp>
        <p:nvSpPr>
          <p:cNvPr id="41" name="Shape 38"/>
          <p:cNvSpPr/>
          <p:nvPr/>
        </p:nvSpPr>
        <p:spPr>
          <a:xfrm>
            <a:off x="987552" y="5230368"/>
            <a:ext cx="10204704" cy="694944"/>
          </a:xfrm>
          <a:prstGeom prst="roundRect">
            <a:avLst>
              <a:gd name="adj" fmla="val 5263"/>
            </a:avLst>
          </a:prstGeom>
          <a:solidFill>
            <a:srgbClr val="F8E4E5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298448" y="5449824"/>
            <a:ext cx="9582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FALTA RESPALDO: SE REGISTRA. NO SE INVENTA.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31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76656" y="420624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125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· INVENTARIO NARRATIVO</a:t>
            </a:r>
            <a:endParaRPr lang="en-US" sz="1080" dirty="0"/>
          </a:p>
        </p:txBody>
      </p:sp>
      <p:sp>
        <p:nvSpPr>
          <p:cNvPr id="7" name="Text 4"/>
          <p:cNvSpPr/>
          <p:nvPr/>
        </p:nvSpPr>
        <p:spPr>
          <a:xfrm>
            <a:off x="676656" y="749808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Cuatro anclajes sostienen el pitch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94944" y="135331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Escriban una frase clara por anclaje utilizando solamente información que el equipo pueda explicar o respaldar.</a:t>
            </a:r>
            <a:endParaRPr lang="en-US" sz="1520" dirty="0"/>
          </a:p>
        </p:txBody>
      </p:sp>
      <p:sp>
        <p:nvSpPr>
          <p:cNvPr id="9" name="Shape 6"/>
          <p:cNvSpPr/>
          <p:nvPr/>
        </p:nvSpPr>
        <p:spPr>
          <a:xfrm>
            <a:off x="694944" y="1993392"/>
            <a:ext cx="3255264" cy="1353312"/>
          </a:xfrm>
          <a:prstGeom prst="roundRect">
            <a:avLst>
              <a:gd name="adj" fmla="val 2703"/>
            </a:avLst>
          </a:prstGeom>
          <a:solidFill>
            <a:srgbClr val="0D223A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" y="2221992"/>
            <a:ext cx="493776" cy="49377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77824" y="2359152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120" dirty="0"/>
          </a:p>
        </p:txBody>
      </p:sp>
      <p:sp>
        <p:nvSpPr>
          <p:cNvPr id="12" name="Text 9"/>
          <p:cNvSpPr/>
          <p:nvPr/>
        </p:nvSpPr>
        <p:spPr>
          <a:xfrm>
            <a:off x="1517904" y="224942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 Y CONTEXTO</a:t>
            </a:r>
            <a:endParaRPr lang="en-US" sz="1520" dirty="0"/>
          </a:p>
        </p:txBody>
      </p:sp>
      <p:sp>
        <p:nvSpPr>
          <p:cNvPr id="13" name="Text 10"/>
          <p:cNvSpPr/>
          <p:nvPr/>
        </p:nvSpPr>
        <p:spPr>
          <a:xfrm>
            <a:off x="914400" y="2761488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ocurre, dónde ocurre y quiénes se relacionan con la situación?</a:t>
            </a:r>
            <a:endParaRPr lang="en-US" sz="1240" dirty="0"/>
          </a:p>
        </p:txBody>
      </p:sp>
      <p:sp>
        <p:nvSpPr>
          <p:cNvPr id="14" name="Shape 11"/>
          <p:cNvSpPr/>
          <p:nvPr/>
        </p:nvSpPr>
        <p:spPr>
          <a:xfrm>
            <a:off x="7315200" y="1993392"/>
            <a:ext cx="4169664" cy="1353312"/>
          </a:xfrm>
          <a:prstGeom prst="roundRect">
            <a:avLst>
              <a:gd name="adj" fmla="val 2703"/>
            </a:avLst>
          </a:prstGeom>
          <a:solidFill>
            <a:srgbClr val="0D223A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98080" y="2221992"/>
            <a:ext cx="493776" cy="49377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498080" y="2359152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120" dirty="0"/>
          </a:p>
        </p:txBody>
      </p:sp>
      <p:sp>
        <p:nvSpPr>
          <p:cNvPr id="17" name="Text 14"/>
          <p:cNvSpPr/>
          <p:nvPr/>
        </p:nvSpPr>
        <p:spPr>
          <a:xfrm>
            <a:off x="8138160" y="2249424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SOLUCIÓN PROPUESTA</a:t>
            </a:r>
            <a:endParaRPr lang="en-US" sz="1520" dirty="0"/>
          </a:p>
        </p:txBody>
      </p:sp>
      <p:sp>
        <p:nvSpPr>
          <p:cNvPr id="18" name="Text 15"/>
          <p:cNvSpPr/>
          <p:nvPr/>
        </p:nvSpPr>
        <p:spPr>
          <a:xfrm>
            <a:off x="7534656" y="2761488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propone el equipo y de qué manera responde al problema?</a:t>
            </a:r>
            <a:endParaRPr lang="en-US" sz="1240" dirty="0"/>
          </a:p>
        </p:txBody>
      </p:sp>
      <p:sp>
        <p:nvSpPr>
          <p:cNvPr id="19" name="Shape 16"/>
          <p:cNvSpPr/>
          <p:nvPr/>
        </p:nvSpPr>
        <p:spPr>
          <a:xfrm>
            <a:off x="694944" y="4078224"/>
            <a:ext cx="3255264" cy="1353312"/>
          </a:xfrm>
          <a:prstGeom prst="roundRect">
            <a:avLst>
              <a:gd name="adj" fmla="val 2703"/>
            </a:avLst>
          </a:prstGeom>
          <a:solidFill>
            <a:srgbClr val="0D223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77824" y="4306824"/>
            <a:ext cx="493776" cy="49377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77824" y="4443984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120" dirty="0"/>
          </a:p>
        </p:txBody>
      </p:sp>
      <p:sp>
        <p:nvSpPr>
          <p:cNvPr id="22" name="Text 19"/>
          <p:cNvSpPr/>
          <p:nvPr/>
        </p:nvSpPr>
        <p:spPr>
          <a:xfrm>
            <a:off x="1517904" y="4334256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EVIDENCIA</a:t>
            </a:r>
            <a:endParaRPr lang="en-US" sz="1520" dirty="0"/>
          </a:p>
        </p:txBody>
      </p:sp>
      <p:sp>
        <p:nvSpPr>
          <p:cNvPr id="23" name="Text 20"/>
          <p:cNvSpPr/>
          <p:nvPr/>
        </p:nvSpPr>
        <p:spPr>
          <a:xfrm>
            <a:off x="914400" y="4846320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podemos mostrar para respaldar que la propuesta avanzó?</a:t>
            </a:r>
            <a:endParaRPr lang="en-US" sz="1240" dirty="0"/>
          </a:p>
        </p:txBody>
      </p:sp>
      <p:sp>
        <p:nvSpPr>
          <p:cNvPr id="24" name="Shape 21"/>
          <p:cNvSpPr/>
          <p:nvPr/>
        </p:nvSpPr>
        <p:spPr>
          <a:xfrm>
            <a:off x="7315200" y="4078224"/>
            <a:ext cx="4169664" cy="1353312"/>
          </a:xfrm>
          <a:prstGeom prst="roundRect">
            <a:avLst>
              <a:gd name="adj" fmla="val 2703"/>
            </a:avLst>
          </a:prstGeom>
          <a:solidFill>
            <a:srgbClr val="0D223A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498080" y="4306824"/>
            <a:ext cx="493776" cy="493776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498080" y="4443984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120" dirty="0"/>
          </a:p>
        </p:txBody>
      </p:sp>
      <p:sp>
        <p:nvSpPr>
          <p:cNvPr id="27" name="Text 24"/>
          <p:cNvSpPr/>
          <p:nvPr/>
        </p:nvSpPr>
        <p:spPr>
          <a:xfrm>
            <a:off x="8138160" y="4334256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APRENDIZAJE O APORTE</a:t>
            </a:r>
            <a:endParaRPr lang="en-US" sz="1520" dirty="0"/>
          </a:p>
        </p:txBody>
      </p:sp>
      <p:sp>
        <p:nvSpPr>
          <p:cNvPr id="28" name="Text 25"/>
          <p:cNvSpPr/>
          <p:nvPr/>
        </p:nvSpPr>
        <p:spPr>
          <a:xfrm>
            <a:off x="7534656" y="4846320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comprendimos mejor y qué mejora busca favorecer la propuesta?</a:t>
            </a:r>
            <a:endParaRPr lang="en-US" sz="1240" dirty="0"/>
          </a:p>
        </p:txBody>
      </p:sp>
      <p:sp>
        <p:nvSpPr>
          <p:cNvPr id="29" name="Shape 26"/>
          <p:cNvSpPr/>
          <p:nvPr/>
        </p:nvSpPr>
        <p:spPr>
          <a:xfrm>
            <a:off x="4572000" y="2596896"/>
            <a:ext cx="2139696" cy="21396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791456" y="324612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HISTORIA</a:t>
            </a:r>
            <a:endParaRPr lang="en-US" sz="1750" dirty="0"/>
          </a:p>
          <a:p>
            <a:pPr algn="ctr" indent="0" marL="0">
              <a:buNone/>
            </a:pPr>
            <a:r>
              <a:rPr lang="en-US" sz="175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 PROYECTO</a:t>
            </a:r>
            <a:endParaRPr lang="en-US" sz="1750" dirty="0"/>
          </a:p>
        </p:txBody>
      </p:sp>
      <p:sp>
        <p:nvSpPr>
          <p:cNvPr id="31" name="Shape 28"/>
          <p:cNvSpPr/>
          <p:nvPr/>
        </p:nvSpPr>
        <p:spPr>
          <a:xfrm>
            <a:off x="1170432" y="5742432"/>
            <a:ext cx="9829800" cy="493776"/>
          </a:xfrm>
          <a:prstGeom prst="roundRect">
            <a:avLst>
              <a:gd name="adj" fmla="val 7407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1444752" y="5879592"/>
            <a:ext cx="9281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spc="45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MINUTOS · UNA FRASE POR ANCLAJE · SI NO HAY RESPALDO, ESCRIBAN “FALTA COMPROBAR”</a:t>
            </a:r>
            <a:endParaRPr lang="en-US" sz="1130" dirty="0"/>
          </a:p>
        </p:txBody>
      </p:sp>
      <p:sp>
        <p:nvSpPr>
          <p:cNvPr id="33" name="Text 30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34" name="Text 31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E7F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31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94944" y="512064"/>
            <a:ext cx="2487168" cy="384048"/>
          </a:xfrm>
          <a:prstGeom prst="roundRect">
            <a:avLst>
              <a:gd name="adj" fmla="val 11905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548640"/>
            <a:ext cx="2340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15 MINUTOS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694944" y="1225296"/>
            <a:ext cx="565099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buena idea necesita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orden que se pueda seguir</a:t>
            </a:r>
            <a:endParaRPr lang="en-US" sz="3100" dirty="0"/>
          </a:p>
        </p:txBody>
      </p:sp>
      <p:sp>
        <p:nvSpPr>
          <p:cNvPr id="9" name="Text 6"/>
          <p:cNvSpPr/>
          <p:nvPr/>
        </p:nvSpPr>
        <p:spPr>
          <a:xfrm>
            <a:off x="731520" y="2651760"/>
            <a:ext cx="53583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guion decide qué necesita saber primero una persona que escucha la propuesta por primera vez.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59168" y="1280160"/>
            <a:ext cx="2542032" cy="493776"/>
          </a:xfrm>
          <a:prstGeom prst="roundRect">
            <a:avLst>
              <a:gd name="adj" fmla="val 7407"/>
            </a:avLst>
          </a:prstGeom>
          <a:solidFill>
            <a:srgbClr val="0D223A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150608" y="1344168"/>
            <a:ext cx="365760" cy="36576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150608" y="1444752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662672" y="1417320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</a:t>
            </a:r>
            <a:endParaRPr lang="en-US" sz="1380" dirty="0"/>
          </a:p>
        </p:txBody>
      </p:sp>
      <p:sp>
        <p:nvSpPr>
          <p:cNvPr id="14" name="Shape 11"/>
          <p:cNvSpPr/>
          <p:nvPr/>
        </p:nvSpPr>
        <p:spPr>
          <a:xfrm>
            <a:off x="7424928" y="1938528"/>
            <a:ext cx="2542032" cy="493776"/>
          </a:xfrm>
          <a:prstGeom prst="roundRect">
            <a:avLst>
              <a:gd name="adj" fmla="val 7407"/>
            </a:avLst>
          </a:prstGeom>
          <a:solidFill>
            <a:srgbClr val="0D223A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516368" y="2002536"/>
            <a:ext cx="365760" cy="365760"/>
          </a:xfrm>
          <a:prstGeom prst="ellipse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516368" y="2103120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028432" y="2075688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PERSONAS</a:t>
            </a:r>
            <a:endParaRPr lang="en-US" sz="1380" dirty="0"/>
          </a:p>
        </p:txBody>
      </p:sp>
      <p:sp>
        <p:nvSpPr>
          <p:cNvPr id="18" name="Shape 15"/>
          <p:cNvSpPr/>
          <p:nvPr/>
        </p:nvSpPr>
        <p:spPr>
          <a:xfrm>
            <a:off x="7790688" y="2596896"/>
            <a:ext cx="2542032" cy="493776"/>
          </a:xfrm>
          <a:prstGeom prst="roundRect">
            <a:avLst>
              <a:gd name="adj" fmla="val 7407"/>
            </a:avLst>
          </a:prstGeom>
          <a:solidFill>
            <a:srgbClr val="0D223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882128" y="2660904"/>
            <a:ext cx="365760" cy="365760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82128" y="276148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8394192" y="2734056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SOLUCIÓN</a:t>
            </a:r>
            <a:endParaRPr lang="en-US" sz="1380" dirty="0"/>
          </a:p>
        </p:txBody>
      </p:sp>
      <p:sp>
        <p:nvSpPr>
          <p:cNvPr id="22" name="Shape 19"/>
          <p:cNvSpPr/>
          <p:nvPr/>
        </p:nvSpPr>
        <p:spPr>
          <a:xfrm>
            <a:off x="8156448" y="3255264"/>
            <a:ext cx="2542032" cy="493776"/>
          </a:xfrm>
          <a:prstGeom prst="roundRect">
            <a:avLst>
              <a:gd name="adj" fmla="val 7407"/>
            </a:avLst>
          </a:prstGeom>
          <a:solidFill>
            <a:srgbClr val="0D223A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47888" y="33192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47888" y="3419856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8759952" y="3392424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FUNCIÓN</a:t>
            </a:r>
            <a:endParaRPr lang="en-US" sz="1380" dirty="0"/>
          </a:p>
        </p:txBody>
      </p:sp>
      <p:sp>
        <p:nvSpPr>
          <p:cNvPr id="26" name="Shape 23"/>
          <p:cNvSpPr/>
          <p:nvPr/>
        </p:nvSpPr>
        <p:spPr>
          <a:xfrm>
            <a:off x="8522208" y="3913632"/>
            <a:ext cx="2542032" cy="493776"/>
          </a:xfrm>
          <a:prstGeom prst="roundRect">
            <a:avLst>
              <a:gd name="adj" fmla="val 7407"/>
            </a:avLst>
          </a:prstGeom>
          <a:solidFill>
            <a:srgbClr val="0D223A"/>
          </a:solidFill>
          <a:ln w="12700">
            <a:solidFill>
              <a:srgbClr val="1D4E89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613648" y="3977640"/>
            <a:ext cx="365760" cy="365760"/>
          </a:xfrm>
          <a:prstGeom prst="ellipse">
            <a:avLst/>
          </a:prstGeom>
          <a:solidFill>
            <a:srgbClr val="1D4E89"/>
          </a:solidFill>
          <a:ln w="12700">
            <a:solidFill>
              <a:srgbClr val="1D4E8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613648" y="4078224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9125712" y="4050792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EVIDENCIA</a:t>
            </a:r>
            <a:endParaRPr lang="en-US" sz="1380" dirty="0"/>
          </a:p>
        </p:txBody>
      </p:sp>
      <p:sp>
        <p:nvSpPr>
          <p:cNvPr id="30" name="Shape 27"/>
          <p:cNvSpPr/>
          <p:nvPr/>
        </p:nvSpPr>
        <p:spPr>
          <a:xfrm>
            <a:off x="8887968" y="4572000"/>
            <a:ext cx="2542032" cy="493776"/>
          </a:xfrm>
          <a:prstGeom prst="roundRect">
            <a:avLst>
              <a:gd name="adj" fmla="val 7407"/>
            </a:avLst>
          </a:prstGeom>
          <a:solidFill>
            <a:srgbClr val="0D223A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979408" y="4636008"/>
            <a:ext cx="365760" cy="36576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979408" y="4736592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9491472" y="4709160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APORTE</a:t>
            </a:r>
            <a:endParaRPr lang="en-US" sz="1380" dirty="0"/>
          </a:p>
        </p:txBody>
      </p:sp>
      <p:sp>
        <p:nvSpPr>
          <p:cNvPr id="34" name="Shape 31"/>
          <p:cNvSpPr/>
          <p:nvPr/>
        </p:nvSpPr>
        <p:spPr>
          <a:xfrm>
            <a:off x="731520" y="4736592"/>
            <a:ext cx="5358384" cy="932688"/>
          </a:xfrm>
          <a:prstGeom prst="roundRect">
            <a:avLst>
              <a:gd name="adj" fmla="val 3922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024128" y="49560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pitch no es una lista de piezas.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1024128" y="52852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31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una historia donde cada parte prepara la siguiente.</a:t>
            </a:r>
            <a:endParaRPr lang="en-US" sz="1350" dirty="0"/>
          </a:p>
        </p:txBody>
      </p:sp>
      <p:sp>
        <p:nvSpPr>
          <p:cNvPr id="37" name="Text 34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38" name="Text 35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E7F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13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RECORRIDO DEL PITCH</a:t>
            </a:r>
            <a:endParaRPr lang="en-US" sz="108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35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Cada parte prepara la siguiente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07008"/>
            <a:ext cx="9052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orden permite comprender por qué existe la propuesta antes de conocer sus detalles.</a:t>
            </a:r>
            <a:endParaRPr lang="en-US" sz="150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08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207008" y="3035808"/>
            <a:ext cx="9646920" cy="0"/>
          </a:xfrm>
          <a:prstGeom prst="line">
            <a:avLst/>
          </a:prstGeom>
          <a:noFill/>
          <a:ln w="12700">
            <a:solidFill>
              <a:srgbClr val="E9EEF4"/>
            </a:solidFill>
            <a:prstDash val="solid"/>
            <a:tailEnd type="triangle"/>
          </a:ln>
        </p:spPr>
      </p:sp>
      <p:sp>
        <p:nvSpPr>
          <p:cNvPr id="12" name="Text 9"/>
          <p:cNvSpPr/>
          <p:nvPr/>
        </p:nvSpPr>
        <p:spPr>
          <a:xfrm>
            <a:off x="347472" y="213969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</a:t>
            </a:r>
            <a:endParaRPr lang="en-US" sz="1420" dirty="0"/>
          </a:p>
        </p:txBody>
      </p:sp>
      <p:sp>
        <p:nvSpPr>
          <p:cNvPr id="13" name="Shape 10"/>
          <p:cNvSpPr/>
          <p:nvPr/>
        </p:nvSpPr>
        <p:spPr>
          <a:xfrm>
            <a:off x="813816" y="2642616"/>
            <a:ext cx="786384" cy="78638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3816" y="2852928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65760" y="3712464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ocurre?</a:t>
            </a:r>
            <a:endParaRPr lang="en-US" sz="1280" dirty="0"/>
          </a:p>
        </p:txBody>
      </p:sp>
      <p:sp>
        <p:nvSpPr>
          <p:cNvPr id="16" name="Text 13"/>
          <p:cNvSpPr/>
          <p:nvPr/>
        </p:nvSpPr>
        <p:spPr>
          <a:xfrm>
            <a:off x="2276856" y="213969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PERSONAS</a:t>
            </a:r>
            <a:endParaRPr lang="en-US" sz="1420" dirty="0"/>
          </a:p>
        </p:txBody>
      </p:sp>
      <p:sp>
        <p:nvSpPr>
          <p:cNvPr id="17" name="Shape 14"/>
          <p:cNvSpPr/>
          <p:nvPr/>
        </p:nvSpPr>
        <p:spPr>
          <a:xfrm>
            <a:off x="2743200" y="2642616"/>
            <a:ext cx="786384" cy="786384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743200" y="2852928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2295144" y="3712464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¿A quiénes implica?</a:t>
            </a:r>
            <a:endParaRPr lang="en-US" sz="1280" dirty="0"/>
          </a:p>
        </p:txBody>
      </p:sp>
      <p:sp>
        <p:nvSpPr>
          <p:cNvPr id="20" name="Text 17"/>
          <p:cNvSpPr/>
          <p:nvPr/>
        </p:nvSpPr>
        <p:spPr>
          <a:xfrm>
            <a:off x="4206240" y="213969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SOLUCIÓN</a:t>
            </a:r>
            <a:endParaRPr lang="en-US" sz="1420" dirty="0"/>
          </a:p>
        </p:txBody>
      </p:sp>
      <p:sp>
        <p:nvSpPr>
          <p:cNvPr id="21" name="Shape 18"/>
          <p:cNvSpPr/>
          <p:nvPr/>
        </p:nvSpPr>
        <p:spPr>
          <a:xfrm>
            <a:off x="4672584" y="2642616"/>
            <a:ext cx="786384" cy="78638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672584" y="2852928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4224528" y="3712464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proponemos?</a:t>
            </a:r>
            <a:endParaRPr lang="en-US" sz="1280" dirty="0"/>
          </a:p>
        </p:txBody>
      </p:sp>
      <p:sp>
        <p:nvSpPr>
          <p:cNvPr id="24" name="Text 21"/>
          <p:cNvSpPr/>
          <p:nvPr/>
        </p:nvSpPr>
        <p:spPr>
          <a:xfrm>
            <a:off x="6135624" y="213969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FUNCIÓN</a:t>
            </a:r>
            <a:endParaRPr lang="en-US" sz="1420" dirty="0"/>
          </a:p>
        </p:txBody>
      </p:sp>
      <p:sp>
        <p:nvSpPr>
          <p:cNvPr id="25" name="Shape 22"/>
          <p:cNvSpPr/>
          <p:nvPr/>
        </p:nvSpPr>
        <p:spPr>
          <a:xfrm>
            <a:off x="6601968" y="2642616"/>
            <a:ext cx="786384" cy="78638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601968" y="2852928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153912" y="3712464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hace?</a:t>
            </a:r>
            <a:endParaRPr lang="en-US" sz="1280" dirty="0"/>
          </a:p>
        </p:txBody>
      </p:sp>
      <p:sp>
        <p:nvSpPr>
          <p:cNvPr id="28" name="Text 25"/>
          <p:cNvSpPr/>
          <p:nvPr/>
        </p:nvSpPr>
        <p:spPr>
          <a:xfrm>
            <a:off x="8065008" y="213969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EVIDENCIA</a:t>
            </a:r>
            <a:endParaRPr lang="en-US" sz="1420" dirty="0"/>
          </a:p>
        </p:txBody>
      </p:sp>
      <p:sp>
        <p:nvSpPr>
          <p:cNvPr id="29" name="Shape 26"/>
          <p:cNvSpPr/>
          <p:nvPr/>
        </p:nvSpPr>
        <p:spPr>
          <a:xfrm>
            <a:off x="8531352" y="2642616"/>
            <a:ext cx="786384" cy="786384"/>
          </a:xfrm>
          <a:prstGeom prst="ellipse">
            <a:avLst/>
          </a:prstGeom>
          <a:solidFill>
            <a:srgbClr val="1D4E8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531352" y="2852928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8083296" y="3712464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mostramos?</a:t>
            </a:r>
            <a:endParaRPr lang="en-US" sz="1280" dirty="0"/>
          </a:p>
        </p:txBody>
      </p:sp>
      <p:sp>
        <p:nvSpPr>
          <p:cNvPr id="32" name="Text 29"/>
          <p:cNvSpPr/>
          <p:nvPr/>
        </p:nvSpPr>
        <p:spPr>
          <a:xfrm>
            <a:off x="9994392" y="213969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APORTE</a:t>
            </a:r>
            <a:endParaRPr lang="en-US" sz="1420" dirty="0"/>
          </a:p>
        </p:txBody>
      </p:sp>
      <p:sp>
        <p:nvSpPr>
          <p:cNvPr id="33" name="Shape 30"/>
          <p:cNvSpPr/>
          <p:nvPr/>
        </p:nvSpPr>
        <p:spPr>
          <a:xfrm>
            <a:off x="10460736" y="2642616"/>
            <a:ext cx="786384" cy="78638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0460736" y="2852928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10012680" y="3712464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busca mejorar?</a:t>
            </a:r>
            <a:endParaRPr lang="en-US" sz="1280" dirty="0"/>
          </a:p>
        </p:txBody>
      </p:sp>
      <p:sp>
        <p:nvSpPr>
          <p:cNvPr id="36" name="Shape 33"/>
          <p:cNvSpPr/>
          <p:nvPr/>
        </p:nvSpPr>
        <p:spPr>
          <a:xfrm>
            <a:off x="1042416" y="4736592"/>
            <a:ext cx="10104120" cy="987552"/>
          </a:xfrm>
          <a:prstGeom prst="roundRect">
            <a:avLst>
              <a:gd name="adj" fmla="val 3704"/>
            </a:avLst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335024" y="49560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9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COLUMNA VERTEBRAL</a:t>
            </a:r>
            <a:endParaRPr lang="en-US" sz="1080" dirty="0"/>
          </a:p>
        </p:txBody>
      </p:sp>
      <p:sp>
        <p:nvSpPr>
          <p:cNvPr id="38" name="Text 35"/>
          <p:cNvSpPr/>
          <p:nvPr/>
        </p:nvSpPr>
        <p:spPr>
          <a:xfrm>
            <a:off x="3364992" y="4882896"/>
            <a:ext cx="7059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  ↔  SOLUCIÓN  ↔  EVIDENCIA</a:t>
            </a:r>
            <a:endParaRPr lang="en-US" sz="2000" dirty="0"/>
          </a:p>
        </p:txBody>
      </p:sp>
      <p:sp>
        <p:nvSpPr>
          <p:cNvPr id="39" name="Text 36"/>
          <p:cNvSpPr/>
          <p:nvPr/>
        </p:nvSpPr>
        <p:spPr>
          <a:xfrm>
            <a:off x="3364992" y="5266944"/>
            <a:ext cx="7059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una de estas relaciones se rompe, la historia pierde coherencia.</a:t>
            </a:r>
            <a:endParaRPr lang="en-US" sz="13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13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LENGUAJE PARA UNA AUDIENCIA DIVERSA</a:t>
            </a:r>
            <a:endParaRPr lang="en-US" sz="108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35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Explica funciones, contextos y alcances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07008"/>
            <a:ext cx="9052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precisión no exige hablar difícil: exige decir qué hace la propuesta y qué puede respaldar.</a:t>
            </a:r>
            <a:endParaRPr lang="en-US" sz="150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09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58368" y="1847088"/>
            <a:ext cx="5632704" cy="3456432"/>
          </a:xfrm>
          <a:prstGeom prst="roundRect">
            <a:avLst>
              <a:gd name="adj" fmla="val 1058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96112" y="2066544"/>
            <a:ext cx="1700784" cy="365760"/>
          </a:xfrm>
          <a:prstGeom prst="roundRect">
            <a:avLst>
              <a:gd name="adj" fmla="val 12500"/>
            </a:avLst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69264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 GEOGREEN</a:t>
            </a:r>
            <a:endParaRPr lang="en-US" sz="1050" dirty="0"/>
          </a:p>
        </p:txBody>
      </p:sp>
      <p:pic>
        <p:nvPicPr>
          <p:cNvPr id="14" name="Image 1" descr="C:\Users\Diego Obando\dev\proyecto-01-aiep-geogreen\talleres\03\media\generadas\sistema-geogreen-sensor-dato-respues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0708" y="2468880"/>
            <a:ext cx="4468025" cy="251460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547104" y="1847088"/>
            <a:ext cx="4992624" cy="3456432"/>
          </a:xfrm>
          <a:prstGeom prst="roundRect">
            <a:avLst>
              <a:gd name="adj" fmla="val 1058"/>
            </a:avLst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858000" y="2084832"/>
            <a:ext cx="109728" cy="768096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150608" y="20848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8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FUNCIÓN</a:t>
            </a:r>
            <a:endParaRPr lang="en-US" sz="1080" dirty="0"/>
          </a:p>
        </p:txBody>
      </p:sp>
      <p:sp>
        <p:nvSpPr>
          <p:cNvPr id="18" name="Text 14"/>
          <p:cNvSpPr/>
          <p:nvPr/>
        </p:nvSpPr>
        <p:spPr>
          <a:xfrm>
            <a:off x="7150608" y="2331720"/>
            <a:ext cx="3968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sensor mide la distancia y permite estimar el nivel de llenado.</a:t>
            </a:r>
            <a:endParaRPr lang="en-US" sz="1380" dirty="0"/>
          </a:p>
        </p:txBody>
      </p:sp>
      <p:sp>
        <p:nvSpPr>
          <p:cNvPr id="19" name="Text 15"/>
          <p:cNvSpPr/>
          <p:nvPr/>
        </p:nvSpPr>
        <p:spPr>
          <a:xfrm>
            <a:off x="7150608" y="2715768"/>
            <a:ext cx="3968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Empieza por lo que permite hacer.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6858000" y="2944368"/>
            <a:ext cx="4370832" cy="0"/>
          </a:xfrm>
          <a:prstGeom prst="line">
            <a:avLst/>
          </a:prstGeom>
          <a:noFill/>
          <a:ln w="12700">
            <a:solidFill>
              <a:srgbClr val="1D4E8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858000" y="3090672"/>
            <a:ext cx="109728" cy="7680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7150608" y="309067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CONTEXTO</a:t>
            </a:r>
            <a:endParaRPr lang="en-US" sz="1080" dirty="0"/>
          </a:p>
        </p:txBody>
      </p:sp>
      <p:sp>
        <p:nvSpPr>
          <p:cNvPr id="23" name="Text 19"/>
          <p:cNvSpPr/>
          <p:nvPr/>
        </p:nvSpPr>
        <p:spPr>
          <a:xfrm>
            <a:off x="7150608" y="3337560"/>
            <a:ext cx="3968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 el espacio observado, la separación de residuos no es constante.</a:t>
            </a:r>
            <a:endParaRPr lang="en-US" sz="1380" dirty="0"/>
          </a:p>
        </p:txBody>
      </p:sp>
      <p:sp>
        <p:nvSpPr>
          <p:cNvPr id="24" name="Text 20"/>
          <p:cNvSpPr/>
          <p:nvPr/>
        </p:nvSpPr>
        <p:spPr>
          <a:xfrm>
            <a:off x="7150608" y="3721608"/>
            <a:ext cx="3968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situaciones observables, no culpas.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6858000" y="3950208"/>
            <a:ext cx="4370832" cy="0"/>
          </a:xfrm>
          <a:prstGeom prst="line">
            <a:avLst/>
          </a:prstGeom>
          <a:noFill/>
          <a:ln w="12700">
            <a:solidFill>
              <a:srgbClr val="1D4E89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858000" y="4096512"/>
            <a:ext cx="109728" cy="768096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150608" y="409651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80" kern="0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080" dirty="0"/>
          </a:p>
        </p:txBody>
      </p:sp>
      <p:sp>
        <p:nvSpPr>
          <p:cNvPr id="28" name="Text 24"/>
          <p:cNvSpPr/>
          <p:nvPr/>
        </p:nvSpPr>
        <p:spPr>
          <a:xfrm>
            <a:off x="7150608" y="4343400"/>
            <a:ext cx="3968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propuesta busca facilitar una acción y muestra una primera evidencia.</a:t>
            </a:r>
            <a:endParaRPr lang="en-US" sz="1380" dirty="0"/>
          </a:p>
        </p:txBody>
      </p:sp>
      <p:sp>
        <p:nvSpPr>
          <p:cNvPr id="29" name="Text 25"/>
          <p:cNvSpPr/>
          <p:nvPr/>
        </p:nvSpPr>
        <p:spPr>
          <a:xfrm>
            <a:off x="7150608" y="4727448"/>
            <a:ext cx="3968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Distingue avance comprobado de aporte esperado.</a:t>
            </a:r>
            <a:endParaRPr lang="en-US" sz="1150" dirty="0"/>
          </a:p>
        </p:txBody>
      </p:sp>
      <p:sp>
        <p:nvSpPr>
          <p:cNvPr id="30" name="Shape 26"/>
          <p:cNvSpPr/>
          <p:nvPr/>
        </p:nvSpPr>
        <p:spPr>
          <a:xfrm>
            <a:off x="1207008" y="5541264"/>
            <a:ext cx="9784080" cy="493776"/>
          </a:xfrm>
          <a:prstGeom prst="roundRect">
            <a:avLst>
              <a:gd name="adj" fmla="val 7407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1536192" y="5678424"/>
            <a:ext cx="9125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SENSAR  →  ENVIAR  →  VISUALIZAR  →  ALERTAR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31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76656" y="420624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12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· PRIMERA VERSIÓN</a:t>
            </a:r>
            <a:endParaRPr lang="en-US" sz="1080" dirty="0"/>
          </a:p>
        </p:txBody>
      </p:sp>
      <p:sp>
        <p:nvSpPr>
          <p:cNvPr id="7" name="Text 4"/>
          <p:cNvSpPr/>
          <p:nvPr/>
        </p:nvSpPr>
        <p:spPr>
          <a:xfrm>
            <a:off x="676656" y="749808"/>
            <a:ext cx="6949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Construyan el guion del pitch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94944" y="130759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idea principal por tramo. Frases breves. Información que el equipo pueda explicar o respaldar.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58368" y="1773936"/>
            <a:ext cx="7077456" cy="4334256"/>
          </a:xfrm>
          <a:prstGeom prst="roundRect">
            <a:avLst>
              <a:gd name="adj" fmla="val 844"/>
            </a:avLst>
          </a:prstGeom>
          <a:solidFill>
            <a:srgbClr val="F5F2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14400" y="2011680"/>
            <a:ext cx="347472" cy="34747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2103120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1444752" y="1975104"/>
            <a:ext cx="5779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[lugar o contexto] observamos que...</a:t>
            </a:r>
            <a:endParaRPr lang="en-US" sz="1360" dirty="0"/>
          </a:p>
        </p:txBody>
      </p:sp>
      <p:sp>
        <p:nvSpPr>
          <p:cNvPr id="13" name="Shape 10"/>
          <p:cNvSpPr/>
          <p:nvPr/>
        </p:nvSpPr>
        <p:spPr>
          <a:xfrm>
            <a:off x="1444752" y="2377440"/>
            <a:ext cx="56692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14400" y="2569464"/>
            <a:ext cx="347472" cy="347472"/>
          </a:xfrm>
          <a:prstGeom prst="ellipse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2660904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444752" y="2532888"/>
            <a:ext cx="5779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 situación afecta o se relaciona con...</a:t>
            </a:r>
            <a:endParaRPr lang="en-US" sz="1360" dirty="0"/>
          </a:p>
        </p:txBody>
      </p:sp>
      <p:sp>
        <p:nvSpPr>
          <p:cNvPr id="17" name="Shape 14"/>
          <p:cNvSpPr/>
          <p:nvPr/>
        </p:nvSpPr>
        <p:spPr>
          <a:xfrm>
            <a:off x="1444752" y="2935224"/>
            <a:ext cx="56692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14400" y="3127248"/>
            <a:ext cx="347472" cy="34747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3218688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444752" y="3090672"/>
            <a:ext cx="5779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Frente a este problema, nuestro equipo propone...</a:t>
            </a:r>
            <a:endParaRPr lang="en-US" sz="1360" dirty="0"/>
          </a:p>
        </p:txBody>
      </p:sp>
      <p:sp>
        <p:nvSpPr>
          <p:cNvPr id="21" name="Shape 18"/>
          <p:cNvSpPr/>
          <p:nvPr/>
        </p:nvSpPr>
        <p:spPr>
          <a:xfrm>
            <a:off x="1444752" y="3493008"/>
            <a:ext cx="56692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14400" y="3685032"/>
            <a:ext cx="347472" cy="347472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3776472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444752" y="3648456"/>
            <a:ext cx="5779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propuesta funciona de la siguiente manera...</a:t>
            </a:r>
            <a:endParaRPr lang="en-US" sz="1360" dirty="0"/>
          </a:p>
        </p:txBody>
      </p:sp>
      <p:sp>
        <p:nvSpPr>
          <p:cNvPr id="25" name="Shape 22"/>
          <p:cNvSpPr/>
          <p:nvPr/>
        </p:nvSpPr>
        <p:spPr>
          <a:xfrm>
            <a:off x="1444752" y="4050792"/>
            <a:ext cx="56692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14400" y="4242816"/>
            <a:ext cx="347472" cy="347472"/>
          </a:xfrm>
          <a:prstGeom prst="ellipse">
            <a:avLst/>
          </a:prstGeom>
          <a:solidFill>
            <a:srgbClr val="1D4E89"/>
          </a:solidFill>
          <a:ln w="12700">
            <a:solidFill>
              <a:srgbClr val="1D4E8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14400" y="4334256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444752" y="4206240"/>
            <a:ext cx="5779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Podemos respaldar nuestro avance mostrando...</a:t>
            </a:r>
            <a:endParaRPr lang="en-US" sz="1360" dirty="0"/>
          </a:p>
        </p:txBody>
      </p:sp>
      <p:sp>
        <p:nvSpPr>
          <p:cNvPr id="29" name="Shape 26"/>
          <p:cNvSpPr/>
          <p:nvPr/>
        </p:nvSpPr>
        <p:spPr>
          <a:xfrm>
            <a:off x="1444752" y="4608576"/>
            <a:ext cx="56692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14400" y="4800600"/>
            <a:ext cx="347472" cy="347472"/>
          </a:xfrm>
          <a:prstGeom prst="ellipse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14400" y="4892040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1444752" y="4764024"/>
            <a:ext cx="5779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esta propuesta esperamos aportar a...</a:t>
            </a:r>
            <a:endParaRPr lang="en-US" sz="1360" dirty="0"/>
          </a:p>
        </p:txBody>
      </p:sp>
      <p:sp>
        <p:nvSpPr>
          <p:cNvPr id="33" name="Shape 30"/>
          <p:cNvSpPr/>
          <p:nvPr/>
        </p:nvSpPr>
        <p:spPr>
          <a:xfrm>
            <a:off x="1444752" y="5166360"/>
            <a:ext cx="56692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14400" y="5358384"/>
            <a:ext cx="347472" cy="34747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14400" y="5449824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1444752" y="5321808"/>
            <a:ext cx="5779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idea principal que queremos dejar es...</a:t>
            </a:r>
            <a:endParaRPr lang="en-US" sz="1360" dirty="0"/>
          </a:p>
        </p:txBody>
      </p:sp>
      <p:sp>
        <p:nvSpPr>
          <p:cNvPr id="37" name="Shape 34"/>
          <p:cNvSpPr/>
          <p:nvPr/>
        </p:nvSpPr>
        <p:spPr>
          <a:xfrm>
            <a:off x="1444752" y="5724144"/>
            <a:ext cx="56692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101584" y="1847088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10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MOVIMIENTOS</a:t>
            </a:r>
            <a:endParaRPr lang="en-US" sz="1080" dirty="0"/>
          </a:p>
        </p:txBody>
      </p:sp>
      <p:sp>
        <p:nvSpPr>
          <p:cNvPr id="39" name="Shape 36"/>
          <p:cNvSpPr/>
          <p:nvPr/>
        </p:nvSpPr>
        <p:spPr>
          <a:xfrm>
            <a:off x="8065008" y="2212848"/>
            <a:ext cx="3456432" cy="603504"/>
          </a:xfrm>
          <a:prstGeom prst="roundRect">
            <a:avLst>
              <a:gd name="adj" fmla="val 6061"/>
            </a:avLst>
          </a:prstGeom>
          <a:solidFill>
            <a:srgbClr val="0D223A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266176" y="2377440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705088" y="2304288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ORDENAR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8705088" y="2542032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Ubicar cada idea.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8065008" y="2944368"/>
            <a:ext cx="3456432" cy="603504"/>
          </a:xfrm>
          <a:prstGeom prst="roundRect">
            <a:avLst>
              <a:gd name="adj" fmla="val 6061"/>
            </a:avLst>
          </a:prstGeom>
          <a:solidFill>
            <a:srgbClr val="0D223A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266176" y="3108960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B7C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8705088" y="3035808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CONECTAR</a:t>
            </a:r>
            <a:endParaRPr lang="en-US" sz="1350" dirty="0"/>
          </a:p>
        </p:txBody>
      </p:sp>
      <p:sp>
        <p:nvSpPr>
          <p:cNvPr id="46" name="Text 43"/>
          <p:cNvSpPr/>
          <p:nvPr/>
        </p:nvSpPr>
        <p:spPr>
          <a:xfrm>
            <a:off x="8705088" y="3273552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Explicar relaciones.</a:t>
            </a:r>
            <a:endParaRPr lang="en-US" sz="1150" dirty="0"/>
          </a:p>
        </p:txBody>
      </p:sp>
      <p:sp>
        <p:nvSpPr>
          <p:cNvPr id="47" name="Shape 44"/>
          <p:cNvSpPr/>
          <p:nvPr/>
        </p:nvSpPr>
        <p:spPr>
          <a:xfrm>
            <a:off x="8065008" y="3675888"/>
            <a:ext cx="3456432" cy="603504"/>
          </a:xfrm>
          <a:prstGeom prst="roundRect">
            <a:avLst>
              <a:gd name="adj" fmla="val 6061"/>
            </a:avLst>
          </a:prstGeom>
          <a:solidFill>
            <a:srgbClr val="0D223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266176" y="3840480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8705088" y="3767328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DEPURAR</a:t>
            </a:r>
            <a:endParaRPr lang="en-US" sz="1350" dirty="0"/>
          </a:p>
        </p:txBody>
      </p:sp>
      <p:sp>
        <p:nvSpPr>
          <p:cNvPr id="50" name="Text 47"/>
          <p:cNvSpPr/>
          <p:nvPr/>
        </p:nvSpPr>
        <p:spPr>
          <a:xfrm>
            <a:off x="8705088" y="4005072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Quitar repeticiones.</a:t>
            </a:r>
            <a:endParaRPr lang="en-US" sz="1150" dirty="0"/>
          </a:p>
        </p:txBody>
      </p:sp>
      <p:sp>
        <p:nvSpPr>
          <p:cNvPr id="51" name="Shape 48"/>
          <p:cNvSpPr/>
          <p:nvPr/>
        </p:nvSpPr>
        <p:spPr>
          <a:xfrm>
            <a:off x="8065008" y="4407408"/>
            <a:ext cx="3456432" cy="603504"/>
          </a:xfrm>
          <a:prstGeom prst="roundRect">
            <a:avLst>
              <a:gd name="adj" fmla="val 6061"/>
            </a:avLst>
          </a:prstGeom>
          <a:solidFill>
            <a:srgbClr val="0D223A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266176" y="4572000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050" dirty="0"/>
          </a:p>
        </p:txBody>
      </p:sp>
      <p:sp>
        <p:nvSpPr>
          <p:cNvPr id="53" name="Text 50"/>
          <p:cNvSpPr/>
          <p:nvPr/>
        </p:nvSpPr>
        <p:spPr>
          <a:xfrm>
            <a:off x="8705088" y="4498848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LEER EN VOZ ALTA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8705088" y="4736592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Comprobar naturalidad.</a:t>
            </a:r>
            <a:endParaRPr lang="en-US" sz="1150" dirty="0"/>
          </a:p>
        </p:txBody>
      </p:sp>
      <p:sp>
        <p:nvSpPr>
          <p:cNvPr id="55" name="Shape 52"/>
          <p:cNvSpPr/>
          <p:nvPr/>
        </p:nvSpPr>
        <p:spPr>
          <a:xfrm>
            <a:off x="8065008" y="5358384"/>
            <a:ext cx="3456432" cy="749808"/>
          </a:xfrm>
          <a:prstGeom prst="roundRect">
            <a:avLst>
              <a:gd name="adj" fmla="val 4878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8284464" y="5550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MINUTOS</a:t>
            </a:r>
            <a:endParaRPr lang="en-US" sz="1100" dirty="0"/>
          </a:p>
        </p:txBody>
      </p:sp>
      <p:sp>
        <p:nvSpPr>
          <p:cNvPr id="57" name="Text 54"/>
          <p:cNvSpPr/>
          <p:nvPr/>
        </p:nvSpPr>
        <p:spPr>
          <a:xfrm>
            <a:off x="9400032" y="5513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Primera versión completa</a:t>
            </a:r>
            <a:endParaRPr lang="en-US" sz="1350" dirty="0"/>
          </a:p>
        </p:txBody>
      </p:sp>
      <p:sp>
        <p:nvSpPr>
          <p:cNvPr id="58" name="Text 55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59" name="Text 56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E7F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13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PRUEBA ENTRE PARES</a:t>
            </a:r>
            <a:endParaRPr lang="en-US" sz="108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35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¿Otra persona puede reconstruir la propuesta?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76656" y="1207008"/>
            <a:ext cx="9052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claridad se comprueba cuando alguien entiende el guion sin recibir explicaciones adicionales.</a:t>
            </a:r>
            <a:endParaRPr lang="en-US" sz="150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58368" y="1901952"/>
            <a:ext cx="3822192" cy="3529584"/>
          </a:xfrm>
          <a:prstGeom prst="roundRect">
            <a:avLst>
              <a:gd name="adj" fmla="val 1036"/>
            </a:avLst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87552" y="2249424"/>
            <a:ext cx="585216" cy="58521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87552" y="2404872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810512" y="226771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LEER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1810512" y="2551176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persona lee el guion completo.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1280160" y="2871216"/>
            <a:ext cx="0" cy="310896"/>
          </a:xfrm>
          <a:prstGeom prst="line">
            <a:avLst/>
          </a:prstGeom>
          <a:noFill/>
          <a:ln w="12700">
            <a:solidFill>
              <a:srgbClr val="1D4E89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987552" y="3200400"/>
            <a:ext cx="585216" cy="58521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87552" y="3355848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810512" y="321868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RECONSTRUIR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1810512" y="35021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Otra persona explica qué entendió.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280160" y="3822192"/>
            <a:ext cx="0" cy="310896"/>
          </a:xfrm>
          <a:prstGeom prst="line">
            <a:avLst/>
          </a:prstGeom>
          <a:noFill/>
          <a:ln w="12700">
            <a:solidFill>
              <a:srgbClr val="1D4E89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987552" y="4151376"/>
            <a:ext cx="585216" cy="58521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87552" y="4306824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810512" y="4169664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CORREGIR</a:t>
            </a:r>
            <a:endParaRPr lang="en-US" sz="1550" dirty="0"/>
          </a:p>
        </p:txBody>
      </p:sp>
      <p:sp>
        <p:nvSpPr>
          <p:cNvPr id="25" name="Text 22"/>
          <p:cNvSpPr/>
          <p:nvPr/>
        </p:nvSpPr>
        <p:spPr>
          <a:xfrm>
            <a:off x="1810512" y="445312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equipo ajusta el punto de quiebre.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846320" y="1901952"/>
            <a:ext cx="6272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spc="10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MIRAR EL GUION, RESPONDE:</a:t>
            </a:r>
            <a:endParaRPr lang="en-US" sz="1080" dirty="0"/>
          </a:p>
        </p:txBody>
      </p:sp>
      <p:sp>
        <p:nvSpPr>
          <p:cNvPr id="27" name="Shape 24"/>
          <p:cNvSpPr/>
          <p:nvPr/>
        </p:nvSpPr>
        <p:spPr>
          <a:xfrm>
            <a:off x="4864608" y="2304288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864608" y="2377440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431536" y="22860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¿Cuál es el problema y en qué contexto ocurre?</a:t>
            </a:r>
            <a:endParaRPr lang="en-US" sz="1520" dirty="0"/>
          </a:p>
        </p:txBody>
      </p:sp>
      <p:sp>
        <p:nvSpPr>
          <p:cNvPr id="30" name="Shape 27"/>
          <p:cNvSpPr/>
          <p:nvPr/>
        </p:nvSpPr>
        <p:spPr>
          <a:xfrm>
            <a:off x="5431536" y="2779776"/>
            <a:ext cx="5431536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864608" y="301752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864608" y="3090672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5431536" y="2999232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propone el equipo?</a:t>
            </a:r>
            <a:endParaRPr lang="en-US" sz="1520" dirty="0"/>
          </a:p>
        </p:txBody>
      </p:sp>
      <p:sp>
        <p:nvSpPr>
          <p:cNvPr id="34" name="Shape 31"/>
          <p:cNvSpPr/>
          <p:nvPr/>
        </p:nvSpPr>
        <p:spPr>
          <a:xfrm>
            <a:off x="5431536" y="3493008"/>
            <a:ext cx="5431536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864608" y="3730752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864608" y="3803904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31536" y="3712464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¿Cómo funciona la propuesta?</a:t>
            </a:r>
            <a:endParaRPr lang="en-US" sz="1520" dirty="0"/>
          </a:p>
        </p:txBody>
      </p:sp>
      <p:sp>
        <p:nvSpPr>
          <p:cNvPr id="38" name="Shape 35"/>
          <p:cNvSpPr/>
          <p:nvPr/>
        </p:nvSpPr>
        <p:spPr>
          <a:xfrm>
            <a:off x="5431536" y="4206240"/>
            <a:ext cx="5431536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64608" y="444398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864608" y="4517136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5431536" y="4425696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evidencia existe y qué aporte se espera?</a:t>
            </a:r>
            <a:endParaRPr lang="en-US" sz="1520" dirty="0"/>
          </a:p>
        </p:txBody>
      </p:sp>
      <p:sp>
        <p:nvSpPr>
          <p:cNvPr id="42" name="Shape 39"/>
          <p:cNvSpPr/>
          <p:nvPr/>
        </p:nvSpPr>
        <p:spPr>
          <a:xfrm>
            <a:off x="5431536" y="4919472"/>
            <a:ext cx="5431536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809744" y="5175504"/>
            <a:ext cx="6419088" cy="804672"/>
          </a:xfrm>
          <a:prstGeom prst="roundRect">
            <a:avLst>
              <a:gd name="adj" fmla="val 4545"/>
            </a:avLst>
          </a:prstGeom>
          <a:solidFill>
            <a:srgbClr val="F8E4E5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157216" y="5404104"/>
            <a:ext cx="5724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necesitan explicar algo fuera del guion, esa parte aún no está clara.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AIEP Osorno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Mentoría 4 - Comunicar para que la idea avance</dc:title>
  <dc:subject>Mentoría 4 - Comunicar la propuesta y ensayar el pitch</dc:subject>
  <dc:creator>GeoGreen Escolar Osorno</dc:creator>
  <cp:lastModifiedBy>GeoGreen Escolar Osorno</cp:lastModifiedBy>
  <cp:revision>1</cp:revision>
  <dcterms:created xsi:type="dcterms:W3CDTF">2026-07-19T21:55:55Z</dcterms:created>
  <dcterms:modified xsi:type="dcterms:W3CDTF">2026-07-19T21:55:55Z</dcterms:modified>
</cp:coreProperties>
</file>