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image" Target="../media/image-8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mentorias\02\ppt\source\assets\images\portada-estudiantes-mvp-hardware-software-geogreen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577840" cy="6858000"/>
          </a:xfrm>
          <a:prstGeom prst="rect">
            <a:avLst/>
          </a:prstGeom>
          <a:solidFill>
            <a:srgbClr val="031D3B">
              <a:alpha val="78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182880"/>
            <a:ext cx="1627632" cy="1005840"/>
          </a:xfrm>
          <a:prstGeom prst="roundRect">
            <a:avLst>
              <a:gd name="adj" fmla="val 3636"/>
            </a:avLst>
          </a:prstGeom>
          <a:solidFill>
            <a:srgbClr val="031D3B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567" y="237744"/>
            <a:ext cx="1235361" cy="8961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3232" y="658368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1060" dirty="0"/>
          </a:p>
        </p:txBody>
      </p:sp>
      <p:sp>
        <p:nvSpPr>
          <p:cNvPr id="10" name="Text 6"/>
          <p:cNvSpPr/>
          <p:nvPr/>
        </p:nvSpPr>
        <p:spPr>
          <a:xfrm>
            <a:off x="713232" y="1078992"/>
            <a:ext cx="44805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idea a un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 mínimo viable</a:t>
            </a:r>
            <a:endParaRPr lang="en-US" sz="3150" dirty="0"/>
          </a:p>
        </p:txBody>
      </p:sp>
      <p:sp>
        <p:nvSpPr>
          <p:cNvPr id="11" name="Text 7"/>
          <p:cNvSpPr/>
          <p:nvPr/>
        </p:nvSpPr>
        <p:spPr>
          <a:xfrm>
            <a:off x="731520" y="278892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propuesta y recursos definidos</a:t>
            </a:r>
            <a:endParaRPr lang="en-US" sz="1620" dirty="0"/>
          </a:p>
        </p:txBody>
      </p:sp>
      <p:sp>
        <p:nvSpPr>
          <p:cNvPr id="12" name="Shape 8"/>
          <p:cNvSpPr/>
          <p:nvPr/>
        </p:nvSpPr>
        <p:spPr>
          <a:xfrm>
            <a:off x="713232" y="3675888"/>
            <a:ext cx="4005072" cy="969264"/>
          </a:xfrm>
          <a:prstGeom prst="roundRect">
            <a:avLst>
              <a:gd name="adj" fmla="val 471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69264" y="3904488"/>
            <a:ext cx="3511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  →  DECIDIR  →  RESPONDER  →  MOSTRAR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005840" y="4242816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minutos · trabajo por equipos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731520" y="6099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SEPTIEMBRE · 2026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CENTRAL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señal se convierte en una decisión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dispositivo observa el mundo. El software hace que el dato pueda viajar, acumularse y servir.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755648"/>
            <a:ext cx="4709160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  <a:effectLst>
            <a:outerShdw sx="100000" sy="100000" kx="0" ky="0" algn="bl" rotWithShape="0" blurRad="15240" dist="50800" dir="2700000">
              <a:srgbClr val="8A96A3">
                <a:alpha val="15000"/>
              </a:srgbClr>
            </a:outerShdw>
          </a:effectLst>
        </p:spPr>
      </p:sp>
      <p:pic>
        <p:nvPicPr>
          <p:cNvPr id="12" name="Image 1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2"/>
          <a:srcRect l="0" r="0" t="2825" b="2825"/>
          <a:stretch/>
        </p:blipFill>
        <p:spPr>
          <a:xfrm>
            <a:off x="786384" y="1883664"/>
            <a:ext cx="4453128" cy="336499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86384" y="4736592"/>
            <a:ext cx="4453128" cy="512064"/>
          </a:xfrm>
          <a:prstGeom prst="rect">
            <a:avLst/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7552" y="4882896"/>
            <a:ext cx="4041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HARDWARE · observa y responde aquí</a:t>
            </a:r>
            <a:endParaRPr lang="en-US" sz="1440" dirty="0"/>
          </a:p>
        </p:txBody>
      </p:sp>
      <p:sp>
        <p:nvSpPr>
          <p:cNvPr id="15" name="Text 11"/>
          <p:cNvSpPr/>
          <p:nvPr/>
        </p:nvSpPr>
        <p:spPr>
          <a:xfrm>
            <a:off x="932688" y="5468112"/>
            <a:ext cx="4169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· regla · luz · sonido · pantalla</a:t>
            </a:r>
            <a:endParaRPr lang="en-US" sz="1220" dirty="0"/>
          </a:p>
        </p:txBody>
      </p:sp>
      <p:sp>
        <p:nvSpPr>
          <p:cNvPr id="16" name="Shape 12"/>
          <p:cNvSpPr/>
          <p:nvPr/>
        </p:nvSpPr>
        <p:spPr>
          <a:xfrm>
            <a:off x="5394960" y="3319272"/>
            <a:ext cx="512064" cy="80467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34456" y="1755648"/>
            <a:ext cx="5596128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  <a:effectLst>
            <a:outerShdw sx="100000" sy="100000" kx="0" ky="0" algn="bl" rotWithShape="0" blurRad="15240" dist="50800" dir="2700000">
              <a:srgbClr val="8A96A3">
                <a:alpha val="15000"/>
              </a:srgbClr>
            </a:outerShdw>
          </a:effectLst>
        </p:spPr>
      </p:sp>
      <p:pic>
        <p:nvPicPr>
          <p:cNvPr id="18" name="Image 2" descr="C:\Users\Diego Obando\dev\proyecto-01-aiep-geogreen\mentorias\02\media\capturas\dashboard-geogreen-mapa-osorno.png">    </p:cNvPr>
          <p:cNvPicPr>
            <a:picLocks noChangeAspect="1"/>
          </p:cNvPicPr>
          <p:nvPr/>
        </p:nvPicPr>
        <p:blipFill>
          <a:blip r:embed="rId3"/>
          <a:srcRect l="5367" r="5367" t="0" b="0"/>
          <a:stretch/>
        </p:blipFill>
        <p:spPr>
          <a:xfrm>
            <a:off x="6062472" y="1883664"/>
            <a:ext cx="5340096" cy="336499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062472" y="4736592"/>
            <a:ext cx="5340096" cy="512064"/>
          </a:xfrm>
          <a:prstGeom prst="rect">
            <a:avLst/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336792" y="4882896"/>
            <a:ext cx="4791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· muestra y permite decidir</a:t>
            </a:r>
            <a:endParaRPr lang="en-US" sz="1440" dirty="0"/>
          </a:p>
        </p:txBody>
      </p:sp>
      <p:sp>
        <p:nvSpPr>
          <p:cNvPr id="21" name="Text 16"/>
          <p:cNvSpPr/>
          <p:nvPr/>
        </p:nvSpPr>
        <p:spPr>
          <a:xfrm>
            <a:off x="6309360" y="5468112"/>
            <a:ext cx="4828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· historial · comparación · alertas · mapa</a:t>
            </a:r>
            <a:endParaRPr lang="en-US" sz="12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CONTINUIDAD DEL PROYECTO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Hoy no comienzan desde cero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Traigan sus decisiones anteriores a la mesa: esta sesión las convierte en un plan construible.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792224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1975104"/>
            <a:ext cx="658368" cy="65836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41832" y="1984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792224" y="193852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MENTORÍA 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792224" y="217627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validado</a:t>
            </a:r>
            <a:endParaRPr lang="en-US" sz="1620" dirty="0"/>
          </a:p>
        </p:txBody>
      </p:sp>
      <p:sp>
        <p:nvSpPr>
          <p:cNvPr id="16" name="Text 13"/>
          <p:cNvSpPr/>
          <p:nvPr/>
        </p:nvSpPr>
        <p:spPr>
          <a:xfrm>
            <a:off x="1792224" y="248716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 y personas relacionadas.</a:t>
            </a:r>
            <a:endParaRPr lang="en-US" sz="1160" dirty="0"/>
          </a:p>
        </p:txBody>
      </p:sp>
      <p:sp>
        <p:nvSpPr>
          <p:cNvPr id="17" name="Shape 14"/>
          <p:cNvSpPr/>
          <p:nvPr/>
        </p:nvSpPr>
        <p:spPr>
          <a:xfrm>
            <a:off x="694944" y="3090672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2688" y="3273552"/>
            <a:ext cx="658368" cy="65836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1832" y="32826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792224" y="32369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3</a:t>
            </a:r>
            <a:endParaRPr lang="en-US" sz="960" dirty="0"/>
          </a:p>
        </p:txBody>
      </p:sp>
      <p:sp>
        <p:nvSpPr>
          <p:cNvPr id="21" name="Text 18"/>
          <p:cNvSpPr/>
          <p:nvPr/>
        </p:nvSpPr>
        <p:spPr>
          <a:xfrm>
            <a:off x="1792224" y="34564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tecnológica inicial</a:t>
            </a:r>
            <a:endParaRPr lang="en-US" sz="1520" dirty="0"/>
          </a:p>
        </p:txBody>
      </p:sp>
      <p:sp>
        <p:nvSpPr>
          <p:cNvPr id="22" name="Text 19"/>
          <p:cNvSpPr/>
          <p:nvPr/>
        </p:nvSpPr>
        <p:spPr>
          <a:xfrm>
            <a:off x="1792224" y="3913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Variable, sensor posible y primera lógica.</a:t>
            </a:r>
            <a:endParaRPr lang="en-US" sz="1160" dirty="0"/>
          </a:p>
        </p:txBody>
      </p:sp>
      <p:sp>
        <p:nvSpPr>
          <p:cNvPr id="23" name="Shape 20"/>
          <p:cNvSpPr/>
          <p:nvPr/>
        </p:nvSpPr>
        <p:spPr>
          <a:xfrm>
            <a:off x="694944" y="4389120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2688" y="4572000"/>
            <a:ext cx="658368" cy="65836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1832" y="45811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792224" y="453542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SESIONES</a:t>
            </a:r>
            <a:endParaRPr lang="en-US" sz="960" dirty="0"/>
          </a:p>
        </p:txBody>
      </p:sp>
      <p:sp>
        <p:nvSpPr>
          <p:cNvPr id="27" name="Text 24"/>
          <p:cNvSpPr/>
          <p:nvPr/>
        </p:nvSpPr>
        <p:spPr>
          <a:xfrm>
            <a:off x="1792224" y="477316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paso</a:t>
            </a:r>
            <a:endParaRPr lang="en-US" sz="1620" dirty="0"/>
          </a:p>
        </p:txBody>
      </p:sp>
      <p:sp>
        <p:nvSpPr>
          <p:cNvPr id="28" name="Text 25"/>
          <p:cNvSpPr/>
          <p:nvPr/>
        </p:nvSpPr>
        <p:spPr>
          <a:xfrm>
            <a:off x="1792224" y="508406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Compromiso verificable del equipo.</a:t>
            </a:r>
            <a:endParaRPr lang="en-US" sz="1160" dirty="0"/>
          </a:p>
        </p:txBody>
      </p:sp>
      <p:sp>
        <p:nvSpPr>
          <p:cNvPr id="29" name="Shape 26"/>
          <p:cNvSpPr/>
          <p:nvPr/>
        </p:nvSpPr>
        <p:spPr>
          <a:xfrm>
            <a:off x="5468112" y="3035808"/>
            <a:ext cx="676656" cy="106070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81344" y="1792224"/>
            <a:ext cx="5340096" cy="4553712"/>
          </a:xfrm>
          <a:prstGeom prst="roundRect">
            <a:avLst>
              <a:gd name="adj" fmla="val 1205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47104" y="2121408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13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OBLIGATORIA</a:t>
            </a:r>
            <a:endParaRPr lang="en-US" sz="1040" dirty="0"/>
          </a:p>
        </p:txBody>
      </p:sp>
      <p:sp>
        <p:nvSpPr>
          <p:cNvPr id="32" name="Text 29"/>
          <p:cNvSpPr/>
          <p:nvPr/>
        </p:nvSpPr>
        <p:spPr>
          <a:xfrm>
            <a:off x="6547104" y="2542032"/>
            <a:ext cx="45537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 mínimo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viable definido</a:t>
            </a:r>
            <a:endParaRPr lang="en-US" sz="2700" dirty="0"/>
          </a:p>
        </p:txBody>
      </p:sp>
      <p:sp>
        <p:nvSpPr>
          <p:cNvPr id="33" name="Shape 30"/>
          <p:cNvSpPr/>
          <p:nvPr/>
        </p:nvSpPr>
        <p:spPr>
          <a:xfrm>
            <a:off x="6620256" y="376732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67728" y="369417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+ umbral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979408" y="376732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326880" y="369417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o fuente de datos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620256" y="440740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67728" y="433425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+ capa de software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979408" y="440740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326880" y="433425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+ seguridad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620256" y="504748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967728" y="497433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Responsables + fechas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979408" y="5047488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26880" y="497433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para Mentoría 3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601968" y="5687568"/>
            <a:ext cx="4498848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839712" y="579729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poder construirse, probarse y explicarse.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DE LA MENTORÍA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 minutos para dejar una ruta de construcción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bloque toma una decisión que el siguiente necesita.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7512" y="190195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0′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1128248" y="19019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078992" y="2212848"/>
            <a:ext cx="10003536" cy="0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344168" y="1929384"/>
            <a:ext cx="566928" cy="56692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53312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658368" y="2761488"/>
            <a:ext cx="1938528" cy="2523744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8368" y="2761488"/>
            <a:ext cx="1938528" cy="146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090672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41248" y="355701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822960" y="391363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DEFINIR</a:t>
            </a:r>
            <a:endParaRPr lang="en-US" sz="1520" dirty="0"/>
          </a:p>
        </p:txBody>
      </p:sp>
      <p:sp>
        <p:nvSpPr>
          <p:cNvPr id="21" name="Text 18"/>
          <p:cNvSpPr/>
          <p:nvPr/>
        </p:nvSpPr>
        <p:spPr>
          <a:xfrm>
            <a:off x="841248" y="434340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 → MVP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822960" y="4892040"/>
            <a:ext cx="1609344" cy="310896"/>
          </a:xfrm>
          <a:prstGeom prst="roundRect">
            <a:avLst>
              <a:gd name="adj" fmla="val 11765"/>
            </a:avLst>
          </a:prstGeom>
          <a:solidFill>
            <a:srgbClr val="D62027">
              <a:alpha val="12000"/>
            </a:srgbClr>
          </a:solidFill>
          <a:ln w="12700">
            <a:solidFill>
              <a:srgbClr val="D62027">
                <a:alpha val="3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974336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FUNCIÓN</a:t>
            </a:r>
            <a:endParaRPr lang="en-US" sz="920" dirty="0"/>
          </a:p>
        </p:txBody>
      </p:sp>
      <p:sp>
        <p:nvSpPr>
          <p:cNvPr id="24" name="Shape 21"/>
          <p:cNvSpPr/>
          <p:nvPr/>
        </p:nvSpPr>
        <p:spPr>
          <a:xfrm>
            <a:off x="3456432" y="1929384"/>
            <a:ext cx="566928" cy="56692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65576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120" dirty="0"/>
          </a:p>
        </p:txBody>
      </p:sp>
      <p:sp>
        <p:nvSpPr>
          <p:cNvPr id="26" name="Shape 23"/>
          <p:cNvSpPr/>
          <p:nvPr/>
        </p:nvSpPr>
        <p:spPr>
          <a:xfrm>
            <a:off x="2724912" y="2761488"/>
            <a:ext cx="2029968" cy="2523744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724912" y="2761488"/>
            <a:ext cx="2029968" cy="146304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889504" y="3090672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2907792" y="3557016"/>
            <a:ext cx="1664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30" name="Text 27"/>
          <p:cNvSpPr/>
          <p:nvPr/>
        </p:nvSpPr>
        <p:spPr>
          <a:xfrm>
            <a:off x="2889504" y="391363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MEDIR</a:t>
            </a:r>
            <a:endParaRPr lang="en-US" sz="1520" dirty="0"/>
          </a:p>
        </p:txBody>
      </p:sp>
      <p:sp>
        <p:nvSpPr>
          <p:cNvPr id="31" name="Text 28"/>
          <p:cNvSpPr/>
          <p:nvPr/>
        </p:nvSpPr>
        <p:spPr>
          <a:xfrm>
            <a:off x="2907792" y="434340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+ sensor + umbral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2889504" y="4892040"/>
            <a:ext cx="1700784" cy="310896"/>
          </a:xfrm>
          <a:prstGeom prst="roundRect">
            <a:avLst>
              <a:gd name="adj" fmla="val 11765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>
                <a:alpha val="35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80944" y="4974336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REGLA</a:t>
            </a:r>
            <a:endParaRPr lang="en-US" sz="920" dirty="0"/>
          </a:p>
        </p:txBody>
      </p:sp>
      <p:sp>
        <p:nvSpPr>
          <p:cNvPr id="34" name="Shape 31"/>
          <p:cNvSpPr/>
          <p:nvPr/>
        </p:nvSpPr>
        <p:spPr>
          <a:xfrm>
            <a:off x="6007608" y="1929384"/>
            <a:ext cx="566928" cy="566928"/>
          </a:xfrm>
          <a:prstGeom prst="ellipse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16752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120" dirty="0"/>
          </a:p>
        </p:txBody>
      </p:sp>
      <p:sp>
        <p:nvSpPr>
          <p:cNvPr id="36" name="Shape 33"/>
          <p:cNvSpPr/>
          <p:nvPr/>
        </p:nvSpPr>
        <p:spPr>
          <a:xfrm>
            <a:off x="4882896" y="2761488"/>
            <a:ext cx="2816352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882896" y="2761488"/>
            <a:ext cx="2816352" cy="146304"/>
          </a:xfrm>
          <a:prstGeom prst="rect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47488" y="3090672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600" dirty="0"/>
          </a:p>
        </p:txBody>
      </p:sp>
      <p:sp>
        <p:nvSpPr>
          <p:cNvPr id="39" name="Text 36"/>
          <p:cNvSpPr/>
          <p:nvPr/>
        </p:nvSpPr>
        <p:spPr>
          <a:xfrm>
            <a:off x="5065776" y="3557016"/>
            <a:ext cx="2450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40" name="Text 37"/>
          <p:cNvSpPr/>
          <p:nvPr/>
        </p:nvSpPr>
        <p:spPr>
          <a:xfrm>
            <a:off x="5047488" y="3913632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ACOTAR</a:t>
            </a:r>
            <a:endParaRPr lang="en-US" sz="1520" dirty="0"/>
          </a:p>
        </p:txBody>
      </p:sp>
      <p:sp>
        <p:nvSpPr>
          <p:cNvPr id="41" name="Text 38"/>
          <p:cNvSpPr/>
          <p:nvPr/>
        </p:nvSpPr>
        <p:spPr>
          <a:xfrm>
            <a:off x="5065776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+ software + seguridad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5047488" y="4892040"/>
            <a:ext cx="2487168" cy="310896"/>
          </a:xfrm>
          <a:prstGeom prst="roundRect">
            <a:avLst>
              <a:gd name="adj" fmla="val 11765"/>
            </a:avLst>
          </a:prstGeom>
          <a:solidFill>
            <a:srgbClr val="082B5C">
              <a:alpha val="12000"/>
            </a:srgbClr>
          </a:solidFill>
          <a:ln w="12700">
            <a:solidFill>
              <a:srgbClr val="082B5C">
                <a:alpha val="3500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138928" y="4974336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ALCANCE</a:t>
            </a:r>
            <a:endParaRPr lang="en-US" sz="920" dirty="0"/>
          </a:p>
        </p:txBody>
      </p:sp>
      <p:sp>
        <p:nvSpPr>
          <p:cNvPr id="44" name="Shape 41"/>
          <p:cNvSpPr/>
          <p:nvPr/>
        </p:nvSpPr>
        <p:spPr>
          <a:xfrm>
            <a:off x="8567928" y="1929384"/>
            <a:ext cx="566928" cy="56692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77072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120" dirty="0"/>
          </a:p>
        </p:txBody>
      </p:sp>
      <p:sp>
        <p:nvSpPr>
          <p:cNvPr id="46" name="Shape 43"/>
          <p:cNvSpPr/>
          <p:nvPr/>
        </p:nvSpPr>
        <p:spPr>
          <a:xfrm>
            <a:off x="7827264" y="2761488"/>
            <a:ext cx="2048256" cy="2523744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827264" y="2761488"/>
            <a:ext cx="2048256" cy="146304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991856" y="30906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600" dirty="0"/>
          </a:p>
        </p:txBody>
      </p:sp>
      <p:sp>
        <p:nvSpPr>
          <p:cNvPr id="49" name="Text 46"/>
          <p:cNvSpPr/>
          <p:nvPr/>
        </p:nvSpPr>
        <p:spPr>
          <a:xfrm>
            <a:off x="8010144" y="3557016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7991856" y="391363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REPARTIR</a:t>
            </a:r>
            <a:endParaRPr lang="en-US" sz="1520" dirty="0"/>
          </a:p>
        </p:txBody>
      </p:sp>
      <p:sp>
        <p:nvSpPr>
          <p:cNvPr id="51" name="Text 48"/>
          <p:cNvSpPr/>
          <p:nvPr/>
        </p:nvSpPr>
        <p:spPr>
          <a:xfrm>
            <a:off x="8010144" y="434340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Tareas + rama + evidencia</a:t>
            </a:r>
            <a:endParaRPr lang="en-US" sz="1080" dirty="0"/>
          </a:p>
        </p:txBody>
      </p:sp>
      <p:sp>
        <p:nvSpPr>
          <p:cNvPr id="52" name="Shape 49"/>
          <p:cNvSpPr/>
          <p:nvPr/>
        </p:nvSpPr>
        <p:spPr>
          <a:xfrm>
            <a:off x="7991856" y="4892040"/>
            <a:ext cx="1719072" cy="310896"/>
          </a:xfrm>
          <a:prstGeom prst="roundRect">
            <a:avLst>
              <a:gd name="adj" fmla="val 11765"/>
            </a:avLst>
          </a:prstGeom>
          <a:solidFill>
            <a:srgbClr val="2E8B57">
              <a:alpha val="12000"/>
            </a:srgbClr>
          </a:solidFill>
          <a:ln w="12700">
            <a:solidFill>
              <a:srgbClr val="2E8B57">
                <a:alpha val="3500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083296" y="4974336"/>
            <a:ext cx="15361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PLAN</a:t>
            </a:r>
            <a:endParaRPr lang="en-US" sz="920" dirty="0"/>
          </a:p>
        </p:txBody>
      </p:sp>
      <p:sp>
        <p:nvSpPr>
          <p:cNvPr id="54" name="Shape 51"/>
          <p:cNvSpPr/>
          <p:nvPr/>
        </p:nvSpPr>
        <p:spPr>
          <a:xfrm>
            <a:off x="10479024" y="1929384"/>
            <a:ext cx="566928" cy="56692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0488168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120" dirty="0"/>
          </a:p>
        </p:txBody>
      </p:sp>
      <p:sp>
        <p:nvSpPr>
          <p:cNvPr id="56" name="Shape 53"/>
          <p:cNvSpPr/>
          <p:nvPr/>
        </p:nvSpPr>
        <p:spPr>
          <a:xfrm>
            <a:off x="10003536" y="2761488"/>
            <a:ext cx="1517904" cy="252374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003536" y="2761488"/>
            <a:ext cx="1517904" cy="1463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0168128" y="30906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59" name="Text 56"/>
          <p:cNvSpPr/>
          <p:nvPr/>
        </p:nvSpPr>
        <p:spPr>
          <a:xfrm>
            <a:off x="10186416" y="355701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860" dirty="0"/>
          </a:p>
        </p:txBody>
      </p:sp>
      <p:sp>
        <p:nvSpPr>
          <p:cNvPr id="60" name="Text 57"/>
          <p:cNvSpPr/>
          <p:nvPr/>
        </p:nvSpPr>
        <p:spPr>
          <a:xfrm>
            <a:off x="10168128" y="39136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CERRAR</a:t>
            </a:r>
            <a:endParaRPr lang="en-US" sz="1250" dirty="0"/>
          </a:p>
        </p:txBody>
      </p:sp>
      <p:sp>
        <p:nvSpPr>
          <p:cNvPr id="61" name="Text 58"/>
          <p:cNvSpPr/>
          <p:nvPr/>
        </p:nvSpPr>
        <p:spPr>
          <a:xfrm>
            <a:off x="10186416" y="434340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Ficha + próximo paso</a:t>
            </a:r>
            <a:endParaRPr lang="en-US" sz="960" dirty="0"/>
          </a:p>
        </p:txBody>
      </p:sp>
      <p:sp>
        <p:nvSpPr>
          <p:cNvPr id="62" name="Shape 59"/>
          <p:cNvSpPr/>
          <p:nvPr/>
        </p:nvSpPr>
        <p:spPr>
          <a:xfrm>
            <a:off x="10168128" y="4892040"/>
            <a:ext cx="1188720" cy="310896"/>
          </a:xfrm>
          <a:prstGeom prst="roundRect">
            <a:avLst>
              <a:gd name="adj" fmla="val 11765"/>
            </a:avLst>
          </a:prstGeom>
          <a:solidFill>
            <a:srgbClr val="FBF3DE"/>
          </a:solidFill>
          <a:ln w="12700">
            <a:solidFill>
              <a:srgbClr val="E0BC5A">
                <a:alpha val="35000"/>
              </a:srgbClr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259568" y="497433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spc="45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COMPROMISO</a:t>
            </a:r>
            <a:endParaRPr lang="en-US" sz="810" dirty="0"/>
          </a:p>
        </p:txBody>
      </p:sp>
      <p:sp>
        <p:nvSpPr>
          <p:cNvPr id="64" name="Shape 61"/>
          <p:cNvSpPr/>
          <p:nvPr/>
        </p:nvSpPr>
        <p:spPr>
          <a:xfrm>
            <a:off x="1243584" y="5559552"/>
            <a:ext cx="9710928" cy="621792"/>
          </a:xfrm>
          <a:prstGeom prst="chevron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737360" y="5669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spc="90" kern="0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DECISIÓN ALIMENTA LA SIGUIENTE</a:t>
            </a:r>
            <a:endParaRPr lang="en-US" sz="1180" dirty="0"/>
          </a:p>
        </p:txBody>
      </p:sp>
      <p:sp>
        <p:nvSpPr>
          <p:cNvPr id="66" name="Text 63"/>
          <p:cNvSpPr/>
          <p:nvPr/>
        </p:nvSpPr>
        <p:spPr>
          <a:xfrm>
            <a:off x="4828032" y="5650992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final: solución definida + semana útil + evidencia comprometida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22192" cy="6858000"/>
          </a:xfrm>
          <a:prstGeom prst="rect">
            <a:avLst/>
          </a:prstGeom>
          <a:solidFill>
            <a:srgbClr val="031D3B"/>
          </a:solidFill>
          <a:ln w="12700">
            <a:solidFill>
              <a:srgbClr val="031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6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4754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10 MINUTOS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76656" y="91440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solución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describe por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 función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94944" y="2395728"/>
            <a:ext cx="26883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piezas dicen con qué.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función explica para qué.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8368" y="3246120"/>
            <a:ext cx="2724912" cy="804672"/>
          </a:xfrm>
          <a:prstGeom prst="roundRect">
            <a:avLst>
              <a:gd name="adj" fmla="val 454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342900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PIEZAS</a:t>
            </a:r>
            <a:endParaRPr lang="en-US" sz="940" dirty="0"/>
          </a:p>
        </p:txBody>
      </p:sp>
      <p:sp>
        <p:nvSpPr>
          <p:cNvPr id="12" name="Text 9"/>
          <p:cNvSpPr/>
          <p:nvPr/>
        </p:nvSpPr>
        <p:spPr>
          <a:xfrm>
            <a:off x="1609344" y="337413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Arduino + sensor + alarma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 rot="5400000">
            <a:off x="1691640" y="4160520"/>
            <a:ext cx="658368" cy="420624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4681728"/>
            <a:ext cx="2724912" cy="1024128"/>
          </a:xfrm>
          <a:prstGeom prst="roundRect">
            <a:avLst>
              <a:gd name="adj" fmla="val 4464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488289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2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FUNCIÓN</a:t>
            </a:r>
            <a:endParaRPr lang="en-US" sz="940" dirty="0"/>
          </a:p>
        </p:txBody>
      </p:sp>
      <p:sp>
        <p:nvSpPr>
          <p:cNvPr id="16" name="Text 13"/>
          <p:cNvSpPr/>
          <p:nvPr/>
        </p:nvSpPr>
        <p:spPr>
          <a:xfrm>
            <a:off x="932688" y="515721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 → decidir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 responder → mostrar</a:t>
            </a:r>
            <a:endParaRPr lang="en-US" sz="1380" dirty="0"/>
          </a:p>
        </p:txBody>
      </p:sp>
      <p:pic>
        <p:nvPicPr>
          <p:cNvPr id="17" name="Image 1" descr="C:\Users\Diego Obando\dev\proyecto-01-aiep-geogreen\talleres\03\media\generadas\sistema-geogreen-sensor-dato-respuesta.png">    </p:cNvPr>
          <p:cNvPicPr>
            <a:picLocks noChangeAspect="1"/>
          </p:cNvPicPr>
          <p:nvPr/>
        </p:nvPicPr>
        <p:blipFill>
          <a:blip r:embed="rId2"/>
          <a:srcRect l="0" r="0" t="13541" b="13541"/>
          <a:stretch/>
        </p:blipFill>
        <p:spPr>
          <a:xfrm>
            <a:off x="3968496" y="1965960"/>
            <a:ext cx="7754112" cy="318211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069080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178808" y="1499616"/>
            <a:ext cx="438912" cy="43891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187952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681728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</a:t>
            </a:r>
            <a:endParaRPr lang="en-US" sz="960" dirty="0"/>
          </a:p>
        </p:txBody>
      </p:sp>
      <p:sp>
        <p:nvSpPr>
          <p:cNvPr id="22" name="Text 18"/>
          <p:cNvSpPr/>
          <p:nvPr/>
        </p:nvSpPr>
        <p:spPr>
          <a:xfrm>
            <a:off x="4654296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cambia?</a:t>
            </a:r>
            <a:endParaRPr lang="en-US" sz="880" dirty="0"/>
          </a:p>
        </p:txBody>
      </p:sp>
      <p:sp>
        <p:nvSpPr>
          <p:cNvPr id="23" name="Shape 19"/>
          <p:cNvSpPr/>
          <p:nvPr/>
        </p:nvSpPr>
        <p:spPr>
          <a:xfrm>
            <a:off x="5925312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035040" y="1499616"/>
            <a:ext cx="438912" cy="43891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044184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37960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DECIDIR</a:t>
            </a:r>
            <a:endParaRPr lang="en-US" sz="960" dirty="0"/>
          </a:p>
        </p:txBody>
      </p:sp>
      <p:sp>
        <p:nvSpPr>
          <p:cNvPr id="27" name="Text 23"/>
          <p:cNvSpPr/>
          <p:nvPr/>
        </p:nvSpPr>
        <p:spPr>
          <a:xfrm>
            <a:off x="6510528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regla?</a:t>
            </a:r>
            <a:endParaRPr lang="en-US" sz="880" dirty="0"/>
          </a:p>
        </p:txBody>
      </p:sp>
      <p:sp>
        <p:nvSpPr>
          <p:cNvPr id="28" name="Shape 24"/>
          <p:cNvSpPr/>
          <p:nvPr/>
        </p:nvSpPr>
        <p:spPr>
          <a:xfrm>
            <a:off x="7827264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936992" y="1499616"/>
            <a:ext cx="438912" cy="438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946136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8439912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RESPONDER</a:t>
            </a:r>
            <a:endParaRPr lang="en-US" sz="960" dirty="0"/>
          </a:p>
        </p:txBody>
      </p:sp>
      <p:sp>
        <p:nvSpPr>
          <p:cNvPr id="32" name="Text 28"/>
          <p:cNvSpPr/>
          <p:nvPr/>
        </p:nvSpPr>
        <p:spPr>
          <a:xfrm>
            <a:off x="8412480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ocurre?</a:t>
            </a:r>
            <a:endParaRPr lang="en-US" sz="880" dirty="0"/>
          </a:p>
        </p:txBody>
      </p:sp>
      <p:sp>
        <p:nvSpPr>
          <p:cNvPr id="33" name="Shape 29"/>
          <p:cNvSpPr/>
          <p:nvPr/>
        </p:nvSpPr>
        <p:spPr>
          <a:xfrm>
            <a:off x="9765792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875520" y="1499616"/>
            <a:ext cx="438912" cy="43891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9884664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10378440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MOSTRAR</a:t>
            </a:r>
            <a:endParaRPr lang="en-US" sz="960" dirty="0"/>
          </a:p>
        </p:txBody>
      </p:sp>
      <p:sp>
        <p:nvSpPr>
          <p:cNvPr id="37" name="Text 33"/>
          <p:cNvSpPr/>
          <p:nvPr/>
        </p:nvSpPr>
        <p:spPr>
          <a:xfrm>
            <a:off x="10351008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actúa?</a:t>
            </a:r>
            <a:endParaRPr lang="en-US" sz="880" dirty="0"/>
          </a:p>
        </p:txBody>
      </p:sp>
      <p:sp>
        <p:nvSpPr>
          <p:cNvPr id="38" name="Shape 34"/>
          <p:cNvSpPr/>
          <p:nvPr/>
        </p:nvSpPr>
        <p:spPr>
          <a:xfrm>
            <a:off x="4352544" y="5486400"/>
            <a:ext cx="6821424" cy="713232"/>
          </a:xfrm>
          <a:prstGeom prst="roundRect">
            <a:avLst>
              <a:gd name="adj" fmla="val 6410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626864" y="563270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0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DESAFÍO · 30 SEGUNDOS</a:t>
            </a:r>
            <a:endParaRPr lang="en-US" sz="920" dirty="0"/>
          </a:p>
        </p:txBody>
      </p:sp>
      <p:sp>
        <p:nvSpPr>
          <p:cNvPr id="40" name="Text 36"/>
          <p:cNvSpPr/>
          <p:nvPr/>
        </p:nvSpPr>
        <p:spPr>
          <a:xfrm>
            <a:off x="6236208" y="558698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Describan su solución sin nombrar componentes.</a:t>
            </a:r>
            <a:endParaRPr lang="en-US" sz="1440" dirty="0"/>
          </a:p>
        </p:txBody>
      </p:sp>
      <p:sp>
        <p:nvSpPr>
          <p:cNvPr id="41" name="Text 37"/>
          <p:cNvSpPr/>
          <p:nvPr/>
        </p:nvSpPr>
        <p:spPr>
          <a:xfrm>
            <a:off x="6236208" y="5870448"/>
            <a:ext cx="4553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solo aparecen piezas, todavía falta el propósito.</a:t>
            </a:r>
            <a:endParaRPr lang="en-US" sz="980" dirty="0"/>
          </a:p>
        </p:txBody>
      </p:sp>
      <p:sp>
        <p:nvSpPr>
          <p:cNvPr id="42" name="Text 38"/>
          <p:cNvSpPr/>
          <p:nvPr/>
        </p:nvSpPr>
        <p:spPr>
          <a:xfrm>
            <a:off x="658368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43" name="Text 39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MÍNIMO VIABLE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versión más pequeña que ya sirve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necesita estar terminada: necesita medir, decidir, responder y poder mostrarse.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78308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96112" y="1901952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" y="1911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682496" y="191109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MIDE ALGO REAL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1682496" y="222199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lectura cambia y puede repetirse.</a:t>
            </a:r>
            <a:endParaRPr lang="en-US" sz="1140" dirty="0"/>
          </a:p>
        </p:txBody>
      </p:sp>
      <p:sp>
        <p:nvSpPr>
          <p:cNvPr id="16" name="Shape 13"/>
          <p:cNvSpPr/>
          <p:nvPr/>
        </p:nvSpPr>
        <p:spPr>
          <a:xfrm>
            <a:off x="694944" y="278892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6112" y="2907792"/>
            <a:ext cx="585216" cy="58521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" y="2916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682496" y="291693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 CON SU REGLA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1682496" y="322783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umbral tiene un origen explicable.</a:t>
            </a:r>
            <a:endParaRPr lang="en-US" sz="1140" dirty="0"/>
          </a:p>
        </p:txBody>
      </p:sp>
      <p:sp>
        <p:nvSpPr>
          <p:cNvPr id="21" name="Shape 18"/>
          <p:cNvSpPr/>
          <p:nvPr/>
        </p:nvSpPr>
        <p:spPr>
          <a:xfrm>
            <a:off x="694944" y="379476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96112" y="3913632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5256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682496" y="392277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</a:t>
            </a:r>
            <a:endParaRPr lang="en-US" sz="1440" dirty="0"/>
          </a:p>
        </p:txBody>
      </p:sp>
      <p:sp>
        <p:nvSpPr>
          <p:cNvPr id="25" name="Text 22"/>
          <p:cNvSpPr/>
          <p:nvPr/>
        </p:nvSpPr>
        <p:spPr>
          <a:xfrm>
            <a:off x="1682496" y="423367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se ve, se oye o produce una acción.</a:t>
            </a:r>
            <a:endParaRPr lang="en-US" sz="1140" dirty="0"/>
          </a:p>
        </p:txBody>
      </p:sp>
      <p:sp>
        <p:nvSpPr>
          <p:cNvPr id="26" name="Shape 23"/>
          <p:cNvSpPr/>
          <p:nvPr/>
        </p:nvSpPr>
        <p:spPr>
          <a:xfrm>
            <a:off x="694944" y="480060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6112" y="4919472"/>
            <a:ext cx="585216" cy="58521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5256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682496" y="492861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MUESTRA</a:t>
            </a:r>
            <a:endParaRPr lang="en-US" sz="1440" dirty="0"/>
          </a:p>
        </p:txBody>
      </p:sp>
      <p:sp>
        <p:nvSpPr>
          <p:cNvPr id="30" name="Text 27"/>
          <p:cNvSpPr/>
          <p:nvPr/>
        </p:nvSpPr>
        <p:spPr>
          <a:xfrm>
            <a:off x="1682496" y="523951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Otra persona entiende qué está pasando.</a:t>
            </a:r>
            <a:endParaRPr lang="en-US" sz="1140" dirty="0"/>
          </a:p>
        </p:txBody>
      </p:sp>
      <p:sp>
        <p:nvSpPr>
          <p:cNvPr id="31" name="Shape 28"/>
          <p:cNvSpPr/>
          <p:nvPr/>
        </p:nvSpPr>
        <p:spPr>
          <a:xfrm>
            <a:off x="5577840" y="1783080"/>
            <a:ext cx="5943600" cy="4553712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pic>
        <p:nvPicPr>
          <p:cNvPr id="32" name="Image 1" descr="C:\Users\Diego Obando\dev\proyecto-01-aiep-geogreen\mentorias\02\media\capturas\dashboard-geogreen-detalle-contenedor.png">    </p:cNvPr>
          <p:cNvPicPr>
            <a:picLocks noChangeAspect="1"/>
          </p:cNvPicPr>
          <p:nvPr/>
        </p:nvPicPr>
        <p:blipFill>
          <a:blip r:embed="rId2"/>
          <a:srcRect l="18" r="18" t="0" b="0"/>
          <a:stretch/>
        </p:blipFill>
        <p:spPr>
          <a:xfrm>
            <a:off x="5705856" y="1911096"/>
            <a:ext cx="5687568" cy="32004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5705856" y="4462272"/>
            <a:ext cx="5687568" cy="649224"/>
          </a:xfrm>
          <a:prstGeom prst="rect">
            <a:avLst/>
          </a:prstGeom>
          <a:solidFill>
            <a:srgbClr val="031D3B">
              <a:alpha val="94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89904" y="4626864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lectura se vuelve información cuando alguien puede comprenderla y actuar.</a:t>
            </a:r>
            <a:endParaRPr lang="en-US" sz="1420" dirty="0"/>
          </a:p>
        </p:txBody>
      </p:sp>
      <p:sp>
        <p:nvSpPr>
          <p:cNvPr id="35" name="Text 31"/>
          <p:cNvSpPr/>
          <p:nvPr/>
        </p:nvSpPr>
        <p:spPr>
          <a:xfrm>
            <a:off x="5989320" y="5413248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HARDWARE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7315200" y="5367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  <a:endParaRPr lang="en-US" sz="1800" dirty="0"/>
          </a:p>
        </p:txBody>
      </p:sp>
      <p:sp>
        <p:nvSpPr>
          <p:cNvPr id="37" name="Text 33"/>
          <p:cNvSpPr/>
          <p:nvPr/>
        </p:nvSpPr>
        <p:spPr>
          <a:xfrm>
            <a:off x="7754112" y="541324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9125712" y="5367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=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9528048" y="5285232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5F3E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646920" y="5422392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PROPUESTA DE VALOR</a:t>
            </a:r>
            <a:endParaRPr lang="en-US" sz="1040" dirty="0"/>
          </a:p>
        </p:txBody>
      </p:sp>
      <p:sp>
        <p:nvSpPr>
          <p:cNvPr id="41" name="Text 37"/>
          <p:cNvSpPr/>
          <p:nvPr/>
        </p:nvSpPr>
        <p:spPr>
          <a:xfrm>
            <a:off x="6053328" y="5907024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que encienda. Debe quedar claro qué observa, qué significa y para quién sirve.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spc="12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MÉTODO DE TRABAJO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658368" y="731520"/>
            <a:ext cx="9052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velocidades para avanzar de verdad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76656" y="1307592"/>
            <a:ext cx="9070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Aceleren donde el agente multiplica el trabajo. Frenen donde una equivocación puede dañar el montaje.</a:t>
            </a:r>
            <a:endParaRPr lang="en-US" sz="1420" dirty="0"/>
          </a:p>
        </p:txBody>
      </p:sp>
      <p:sp>
        <p:nvSpPr>
          <p:cNvPr id="9" name="Shape 6"/>
          <p:cNvSpPr/>
          <p:nvPr/>
        </p:nvSpPr>
        <p:spPr>
          <a:xfrm>
            <a:off x="658368" y="1847088"/>
            <a:ext cx="5175504" cy="2871216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2139696"/>
            <a:ext cx="804672" cy="804672"/>
          </a:xfrm>
          <a:prstGeom prst="ellipse">
            <a:avLst/>
          </a:prstGeom>
          <a:solidFill>
            <a:srgbClr val="082B5C"/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41832" y="214884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&gt;&gt;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938528" y="2157984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ACELERAR CON EL AGENTE</a:t>
            </a:r>
            <a:endParaRPr lang="en-US" sz="1740" dirty="0"/>
          </a:p>
        </p:txBody>
      </p:sp>
      <p:sp>
        <p:nvSpPr>
          <p:cNvPr id="13" name="Shape 10"/>
          <p:cNvSpPr/>
          <p:nvPr/>
        </p:nvSpPr>
        <p:spPr>
          <a:xfrm>
            <a:off x="932688" y="2944368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054096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INVESTIGAR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2907792" y="2944368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17520" y="3054096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</a:t>
            </a:r>
            <a:endParaRPr lang="en-US" sz="1020" dirty="0"/>
          </a:p>
        </p:txBody>
      </p:sp>
      <p:sp>
        <p:nvSpPr>
          <p:cNvPr id="17" name="Shape 14"/>
          <p:cNvSpPr/>
          <p:nvPr/>
        </p:nvSpPr>
        <p:spPr>
          <a:xfrm>
            <a:off x="932688" y="3529584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42416" y="363931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2907792" y="3529584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017520" y="363931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DISEÑAR</a:t>
            </a:r>
            <a:endParaRPr lang="en-US" sz="1020" dirty="0"/>
          </a:p>
        </p:txBody>
      </p:sp>
      <p:sp>
        <p:nvSpPr>
          <p:cNvPr id="21" name="Text 18"/>
          <p:cNvSpPr/>
          <p:nvPr/>
        </p:nvSpPr>
        <p:spPr>
          <a:xfrm>
            <a:off x="932688" y="4187952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entrega velocidad.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equipo entrega criterio.</a:t>
            </a:r>
            <a:endParaRPr lang="en-US" sz="1310" dirty="0"/>
          </a:p>
        </p:txBody>
      </p:sp>
      <p:sp>
        <p:nvSpPr>
          <p:cNvPr id="22" name="Shape 19"/>
          <p:cNvSpPr/>
          <p:nvPr/>
        </p:nvSpPr>
        <p:spPr>
          <a:xfrm>
            <a:off x="5980176" y="1847088"/>
            <a:ext cx="5541264" cy="287121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91072" y="2139696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0216" y="214884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!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7296912" y="21579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FRENAR CON EL MONTAJE</a:t>
            </a:r>
            <a:endParaRPr lang="en-US" sz="1740" dirty="0"/>
          </a:p>
        </p:txBody>
      </p:sp>
      <p:sp>
        <p:nvSpPr>
          <p:cNvPr id="26" name="Shape 23"/>
          <p:cNvSpPr/>
          <p:nvPr/>
        </p:nvSpPr>
        <p:spPr>
          <a:xfrm>
            <a:off x="6309360" y="2944368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19088" y="305409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VOLTAJE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8339328" y="2944368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449056" y="305409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POLARIDAD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6309360" y="3529584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19088" y="3639312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CABLES</a:t>
            </a:r>
            <a:endParaRPr lang="en-US" sz="1020" dirty="0"/>
          </a:p>
        </p:txBody>
      </p:sp>
      <p:sp>
        <p:nvSpPr>
          <p:cNvPr id="32" name="Shape 29"/>
          <p:cNvSpPr/>
          <p:nvPr/>
        </p:nvSpPr>
        <p:spPr>
          <a:xfrm>
            <a:off x="8339328" y="3529584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49056" y="3639312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6419088" y="418795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puede explicar conexiones.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puede ver sus cables.</a:t>
            </a:r>
            <a:endParaRPr lang="en-US" sz="1310" dirty="0"/>
          </a:p>
        </p:txBody>
      </p:sp>
      <p:sp>
        <p:nvSpPr>
          <p:cNvPr id="35" name="Text 32"/>
          <p:cNvSpPr/>
          <p:nvPr/>
        </p:nvSpPr>
        <p:spPr>
          <a:xfrm>
            <a:off x="694944" y="5010912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SOLO MÉTODO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1481328" y="5550408"/>
            <a:ext cx="8778240" cy="0"/>
          </a:xfrm>
          <a:prstGeom prst="line">
            <a:avLst/>
          </a:prstGeom>
          <a:noFill/>
          <a:ln w="12700">
            <a:solidFill>
              <a:srgbClr val="D8E7F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353312" y="5285232"/>
            <a:ext cx="530352" cy="5303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362456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2011680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</a:t>
            </a:r>
            <a:endParaRPr lang="en-US" sz="1090" dirty="0"/>
          </a:p>
        </p:txBody>
      </p:sp>
      <p:sp>
        <p:nvSpPr>
          <p:cNvPr id="40" name="Shape 37"/>
          <p:cNvSpPr/>
          <p:nvPr/>
        </p:nvSpPr>
        <p:spPr>
          <a:xfrm>
            <a:off x="3858768" y="5285232"/>
            <a:ext cx="530352" cy="53035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867912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517136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TAREA PEQUEÑA</a:t>
            </a:r>
            <a:endParaRPr lang="en-US" sz="1090" dirty="0"/>
          </a:p>
        </p:txBody>
      </p:sp>
      <p:sp>
        <p:nvSpPr>
          <p:cNvPr id="43" name="Shape 40"/>
          <p:cNvSpPr/>
          <p:nvPr/>
        </p:nvSpPr>
        <p:spPr>
          <a:xfrm>
            <a:off x="6364224" y="5285232"/>
            <a:ext cx="530352" cy="5303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73368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7022592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VERIFICAR</a:t>
            </a:r>
            <a:endParaRPr lang="en-US" sz="1090" dirty="0"/>
          </a:p>
        </p:txBody>
      </p:sp>
      <p:sp>
        <p:nvSpPr>
          <p:cNvPr id="46" name="Shape 43"/>
          <p:cNvSpPr/>
          <p:nvPr/>
        </p:nvSpPr>
        <p:spPr>
          <a:xfrm>
            <a:off x="8869680" y="5285232"/>
            <a:ext cx="530352" cy="53035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878824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9528048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DECIDIR</a:t>
            </a:r>
            <a:endParaRPr lang="en-US" sz="1090" dirty="0"/>
          </a:p>
        </p:txBody>
      </p:sp>
      <p:sp>
        <p:nvSpPr>
          <p:cNvPr id="49" name="Shape 46"/>
          <p:cNvSpPr/>
          <p:nvPr/>
        </p:nvSpPr>
        <p:spPr>
          <a:xfrm>
            <a:off x="1353312" y="5925312"/>
            <a:ext cx="9491472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1682496" y="6025896"/>
            <a:ext cx="8833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un agente no es hacer trampa. Entregar algo que no pueden explicar, sí.</a:t>
            </a:r>
            <a:endParaRPr lang="en-US" sz="1230" dirty="0"/>
          </a:p>
        </p:txBody>
      </p:sp>
      <p:sp>
        <p:nvSpPr>
          <p:cNvPr id="51" name="Text 48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52" name="Text 49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4944" y="493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15 MINUTOS</a:t>
            </a:r>
            <a:endParaRPr lang="en-US" sz="1060" dirty="0"/>
          </a:p>
        </p:txBody>
      </p:sp>
      <p:sp>
        <p:nvSpPr>
          <p:cNvPr id="7" name="Text 4"/>
          <p:cNvSpPr/>
          <p:nvPr/>
        </p:nvSpPr>
        <p:spPr>
          <a:xfrm>
            <a:off x="694944" y="914400"/>
            <a:ext cx="4800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medimos,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qué y cuándo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activa</a:t>
            </a:r>
            <a:endParaRPr lang="en-US" sz="3150" dirty="0"/>
          </a:p>
        </p:txBody>
      </p:sp>
      <p:sp>
        <p:nvSpPr>
          <p:cNvPr id="8" name="Shape 5"/>
          <p:cNvSpPr/>
          <p:nvPr/>
        </p:nvSpPr>
        <p:spPr>
          <a:xfrm>
            <a:off x="713232" y="2907792"/>
            <a:ext cx="4133088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3182112"/>
            <a:ext cx="4251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idea empieza a funcionar cuando puede observar algo real y decidir con una regla propia.</a:t>
            </a:r>
            <a:endParaRPr lang="en-US" sz="1720" dirty="0"/>
          </a:p>
        </p:txBody>
      </p:sp>
      <p:sp>
        <p:nvSpPr>
          <p:cNvPr id="10" name="Shape 7"/>
          <p:cNvSpPr/>
          <p:nvPr/>
        </p:nvSpPr>
        <p:spPr>
          <a:xfrm>
            <a:off x="5596128" y="1243584"/>
            <a:ext cx="1572768" cy="1847088"/>
          </a:xfrm>
          <a:prstGeom prst="roundRect">
            <a:avLst>
              <a:gd name="adj" fmla="val 2907"/>
            </a:avLst>
          </a:prstGeom>
          <a:solidFill>
            <a:srgbClr val="FFFFFF">
              <a:alpha val="98000"/>
            </a:srgbClr>
          </a:solidFill>
          <a:ln w="12700">
            <a:solidFill>
              <a:srgbClr val="D62027"/>
            </a:solidFill>
            <a:prstDash val="solid"/>
          </a:ln>
          <a:effectLst>
            <a:outerShdw sx="100000" sy="100000" kx="0" ky="0" algn="bl" rotWithShape="0" blurRad="19050" dist="50800" dir="27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C:\Users\Diego Obando\dev\proyecto-01-aiep-geogreen\banco-ideas\assets\hc-sr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1380744"/>
            <a:ext cx="1234440" cy="12344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96128" y="2779776"/>
            <a:ext cx="1572768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669280" y="2862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spc="8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DISTANCIA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7434072" y="1243584"/>
            <a:ext cx="1572768" cy="1847088"/>
          </a:xfrm>
          <a:prstGeom prst="roundRect">
            <a:avLst>
              <a:gd name="adj" fmla="val 2907"/>
            </a:avLst>
          </a:prstGeom>
          <a:solidFill>
            <a:srgbClr val="FFFFFF">
              <a:alpha val="98000"/>
            </a:srgbClr>
          </a:solidFill>
          <a:ln w="12700">
            <a:solidFill>
              <a:srgbClr val="35B7C6"/>
            </a:solidFill>
            <a:prstDash val="solid"/>
          </a:ln>
          <a:effectLst>
            <a:outerShdw sx="100000" sy="100000" kx="0" ky="0" algn="bl" rotWithShape="0" blurRad="19050" dist="50800" dir="27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Diego Obando\dev\proyecto-01-aiep-geogreen\banco-ideas\assets\ky-0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3236" y="1380744"/>
            <a:ext cx="1234440" cy="12344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7434072" y="2779776"/>
            <a:ext cx="1572768" cy="310896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507224" y="2862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spc="8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AMBIENTE</a:t>
            </a:r>
            <a:endParaRPr lang="en-US" sz="940" dirty="0"/>
          </a:p>
        </p:txBody>
      </p:sp>
      <p:sp>
        <p:nvSpPr>
          <p:cNvPr id="18" name="Shape 13"/>
          <p:cNvSpPr/>
          <p:nvPr/>
        </p:nvSpPr>
        <p:spPr>
          <a:xfrm>
            <a:off x="9272016" y="1243584"/>
            <a:ext cx="1572768" cy="1847088"/>
          </a:xfrm>
          <a:prstGeom prst="roundRect">
            <a:avLst>
              <a:gd name="adj" fmla="val 2907"/>
            </a:avLst>
          </a:prstGeom>
          <a:solidFill>
            <a:srgbClr val="FFFFFF">
              <a:alpha val="98000"/>
            </a:srgbClr>
          </a:solidFill>
          <a:ln w="12700">
            <a:solidFill>
              <a:srgbClr val="E0BC5A"/>
            </a:solidFill>
            <a:prstDash val="solid"/>
          </a:ln>
          <a:effectLst>
            <a:outerShdw sx="100000" sy="100000" kx="0" ky="0" algn="bl" rotWithShape="0" blurRad="19050" dist="50800" dir="2700000">
              <a:srgbClr val="000000">
                <a:alpha val="18000"/>
              </a:srgbClr>
            </a:outerShdw>
          </a:effectLst>
        </p:spPr>
      </p:sp>
      <p:pic>
        <p:nvPicPr>
          <p:cNvPr id="19" name="Image 3" descr="C:\Users\Diego Obando\dev\proyecto-01-aiep-geogreen\banco-ideas\assets\ky-018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0" y="1380744"/>
            <a:ext cx="1234440" cy="12344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272016" y="2779776"/>
            <a:ext cx="1572768" cy="3108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9345168" y="2862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spc="80" kern="0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LUZ</a:t>
            </a:r>
            <a:endParaRPr lang="en-US" sz="940" dirty="0"/>
          </a:p>
        </p:txBody>
      </p:sp>
      <p:sp>
        <p:nvSpPr>
          <p:cNvPr id="22" name="Shape 16"/>
          <p:cNvSpPr/>
          <p:nvPr/>
        </p:nvSpPr>
        <p:spPr>
          <a:xfrm>
            <a:off x="5596128" y="3374136"/>
            <a:ext cx="1572768" cy="1847088"/>
          </a:xfrm>
          <a:prstGeom prst="roundRect">
            <a:avLst>
              <a:gd name="adj" fmla="val 2907"/>
            </a:avLst>
          </a:prstGeom>
          <a:solidFill>
            <a:srgbClr val="FFFFFF">
              <a:alpha val="98000"/>
            </a:srgbClr>
          </a:solidFill>
          <a:ln w="12700">
            <a:solidFill>
              <a:srgbClr val="2E8B57"/>
            </a:solidFill>
            <a:prstDash val="solid"/>
          </a:ln>
          <a:effectLst>
            <a:outerShdw sx="100000" sy="100000" kx="0" ky="0" algn="bl" rotWithShape="0" blurRad="19050" dist="50800" dir="2700000">
              <a:srgbClr val="000000">
                <a:alpha val="18000"/>
              </a:srgbClr>
            </a:outerShdw>
          </a:effectLst>
        </p:spPr>
      </p:sp>
      <p:pic>
        <p:nvPicPr>
          <p:cNvPr id="23" name="Image 4" descr="C:\Users\Diego Obando\dev\proyecto-01-aiep-geogreen\banco-ideas\assets\soil-moistur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2432" y="3701796"/>
            <a:ext cx="1280160" cy="8534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5596128" y="4910328"/>
            <a:ext cx="1572768" cy="310896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5669280" y="499262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spc="8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HUMEDAD</a:t>
            </a:r>
            <a:endParaRPr lang="en-US" sz="940" dirty="0"/>
          </a:p>
        </p:txBody>
      </p:sp>
      <p:sp>
        <p:nvSpPr>
          <p:cNvPr id="26" name="Shape 19"/>
          <p:cNvSpPr/>
          <p:nvPr/>
        </p:nvSpPr>
        <p:spPr>
          <a:xfrm>
            <a:off x="7434072" y="3374136"/>
            <a:ext cx="1572768" cy="1847088"/>
          </a:xfrm>
          <a:prstGeom prst="roundRect">
            <a:avLst>
              <a:gd name="adj" fmla="val 2907"/>
            </a:avLst>
          </a:prstGeom>
          <a:solidFill>
            <a:srgbClr val="FFFFFF">
              <a:alpha val="98000"/>
            </a:srgbClr>
          </a:solidFill>
          <a:ln w="12700">
            <a:solidFill>
              <a:srgbClr val="1D4E89"/>
            </a:solidFill>
            <a:prstDash val="solid"/>
          </a:ln>
          <a:effectLst>
            <a:outerShdw sx="100000" sy="100000" kx="0" ky="0" algn="bl" rotWithShape="0" blurRad="19050" dist="50800" dir="2700000">
              <a:srgbClr val="000000">
                <a:alpha val="18000"/>
              </a:srgbClr>
            </a:outerShdw>
          </a:effectLst>
        </p:spPr>
      </p:sp>
      <p:pic>
        <p:nvPicPr>
          <p:cNvPr id="27" name="Image 5" descr="C:\Users\Diego Obando\dev\proyecto-01-aiep-geogreen\banco-ideas\assets\water-level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0376" y="3762756"/>
            <a:ext cx="1280160" cy="73152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7434072" y="4910328"/>
            <a:ext cx="1572768" cy="310896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7507224" y="499262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spc="8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NIVEL</a:t>
            </a:r>
            <a:endParaRPr lang="en-US" sz="940" dirty="0"/>
          </a:p>
        </p:txBody>
      </p:sp>
      <p:sp>
        <p:nvSpPr>
          <p:cNvPr id="30" name="Shape 22"/>
          <p:cNvSpPr/>
          <p:nvPr/>
        </p:nvSpPr>
        <p:spPr>
          <a:xfrm>
            <a:off x="9272016" y="3374136"/>
            <a:ext cx="1572768" cy="1847088"/>
          </a:xfrm>
          <a:prstGeom prst="roundRect">
            <a:avLst>
              <a:gd name="adj" fmla="val 2907"/>
            </a:avLst>
          </a:prstGeom>
          <a:solidFill>
            <a:srgbClr val="FFFFFF">
              <a:alpha val="98000"/>
            </a:srgbClr>
          </a:solidFill>
          <a:ln w="12700">
            <a:solidFill>
              <a:srgbClr val="D62027"/>
            </a:solidFill>
            <a:prstDash val="solid"/>
          </a:ln>
          <a:effectLst>
            <a:outerShdw sx="100000" sy="100000" kx="0" ky="0" algn="bl" rotWithShape="0" blurRad="19050" dist="50800" dir="2700000">
              <a:srgbClr val="000000">
                <a:alpha val="18000"/>
              </a:srgbClr>
            </a:outerShdw>
          </a:effectLst>
        </p:spPr>
      </p:sp>
      <p:pic>
        <p:nvPicPr>
          <p:cNvPr id="31" name="Image 6" descr="C:\Users\Diego Obando\dev\proyecto-01-aiep-geogreen\banco-ideas\assets\ky-021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1180" y="3511296"/>
            <a:ext cx="1234440" cy="123444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9272016" y="4910328"/>
            <a:ext cx="1572768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9345168" y="4992624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spc="8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</a:t>
            </a:r>
            <a:endParaRPr lang="en-US" sz="940" dirty="0"/>
          </a:p>
        </p:txBody>
      </p:sp>
      <p:sp>
        <p:nvSpPr>
          <p:cNvPr id="34" name="Text 25"/>
          <p:cNvSpPr/>
          <p:nvPr/>
        </p:nvSpPr>
        <p:spPr>
          <a:xfrm>
            <a:off x="932688" y="4992624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350" dirty="0"/>
          </a:p>
        </p:txBody>
      </p:sp>
      <p:sp>
        <p:nvSpPr>
          <p:cNvPr id="35" name="Shape 26"/>
          <p:cNvSpPr/>
          <p:nvPr/>
        </p:nvSpPr>
        <p:spPr>
          <a:xfrm>
            <a:off x="2240280" y="4882896"/>
            <a:ext cx="1828800" cy="502920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4133088" y="4992624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</a:t>
            </a:r>
            <a:endParaRPr lang="en-US" sz="1350" dirty="0"/>
          </a:p>
        </p:txBody>
      </p:sp>
      <p:sp>
        <p:nvSpPr>
          <p:cNvPr id="37" name="Shape 28"/>
          <p:cNvSpPr/>
          <p:nvPr/>
        </p:nvSpPr>
        <p:spPr>
          <a:xfrm>
            <a:off x="5449824" y="4882896"/>
            <a:ext cx="1828800" cy="502920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7342632" y="4992624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SENSOR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59368" y="4882896"/>
            <a:ext cx="1828800" cy="5029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10405872" y="4992624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UMBRAL</a:t>
            </a:r>
            <a:endParaRPr lang="en-US" sz="1350" dirty="0"/>
          </a:p>
        </p:txBody>
      </p:sp>
      <p:sp>
        <p:nvSpPr>
          <p:cNvPr id="41" name="Text 32"/>
          <p:cNvSpPr/>
          <p:nvPr/>
        </p:nvSpPr>
        <p:spPr>
          <a:xfrm>
            <a:off x="1188720" y="5751576"/>
            <a:ext cx="9802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 entendemos qué cambia. Después elegimos con qué medirlo.</a:t>
            </a:r>
            <a:endParaRPr lang="en-US" sz="1600" dirty="0"/>
          </a:p>
        </p:txBody>
      </p:sp>
      <p:sp>
        <p:nvSpPr>
          <p:cNvPr id="42" name="Text 33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43" name="Text 34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OBSERVABLE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sistema no puede medir una intención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Necesita algo que cambie y que pueda leerse.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828800"/>
            <a:ext cx="3950208" cy="2121408"/>
          </a:xfrm>
          <a:prstGeom prst="roundRect">
            <a:avLst>
              <a:gd name="adj" fmla="val 2586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112264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INTENCIÓN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987552" y="2542032"/>
            <a:ext cx="3364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“Queremos cuidar el agua”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987552" y="335584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 propósito valioso, pero todavía no produce un dato.</a:t>
            </a:r>
            <a:endParaRPr lang="en-US" sz="1230" dirty="0"/>
          </a:p>
        </p:txBody>
      </p:sp>
      <p:sp>
        <p:nvSpPr>
          <p:cNvPr id="15" name="Shape 12"/>
          <p:cNvSpPr/>
          <p:nvPr/>
        </p:nvSpPr>
        <p:spPr>
          <a:xfrm>
            <a:off x="4800600" y="2542032"/>
            <a:ext cx="1170432" cy="731520"/>
          </a:xfrm>
          <a:prstGeom prst="chevron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18304" y="3447288"/>
            <a:ext cx="1316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spc="90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PREGUNTEN</a:t>
            </a:r>
            <a:endParaRPr lang="en-US" sz="860" dirty="0"/>
          </a:p>
        </p:txBody>
      </p:sp>
      <p:sp>
        <p:nvSpPr>
          <p:cNvPr id="17" name="Text 14"/>
          <p:cNvSpPr/>
          <p:nvPr/>
        </p:nvSpPr>
        <p:spPr>
          <a:xfrm>
            <a:off x="4544568" y="3703320"/>
            <a:ext cx="1682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cambia cuando el problema empeora?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144768" y="1828800"/>
            <a:ext cx="5321808" cy="2121408"/>
          </a:xfrm>
          <a:prstGeom prst="roundRect">
            <a:avLst>
              <a:gd name="adj" fmla="val 2586"/>
            </a:avLst>
          </a:prstGeom>
          <a:solidFill>
            <a:srgbClr val="DDF4F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64808" y="2112264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spc="11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OBSERVABLE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6464808" y="2523744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Nivel de agua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9180576" y="2423160"/>
            <a:ext cx="17190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cm  o  %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6483096" y="3273552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Sube o baja · puede registrarse · permite decidir</a:t>
            </a:r>
            <a:endParaRPr lang="en-US" sz="1240" dirty="0"/>
          </a:p>
        </p:txBody>
      </p:sp>
      <p:sp>
        <p:nvSpPr>
          <p:cNvPr id="23" name="Shape 20"/>
          <p:cNvSpPr/>
          <p:nvPr/>
        </p:nvSpPr>
        <p:spPr>
          <a:xfrm>
            <a:off x="713232" y="4608576"/>
            <a:ext cx="3273552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79145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7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 SALUDABLE</a:t>
            </a:r>
            <a:endParaRPr lang="en-US" sz="870" dirty="0"/>
          </a:p>
        </p:txBody>
      </p:sp>
      <p:sp>
        <p:nvSpPr>
          <p:cNvPr id="25" name="Text 22"/>
          <p:cNvSpPr/>
          <p:nvPr/>
        </p:nvSpPr>
        <p:spPr>
          <a:xfrm>
            <a:off x="914400" y="5074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Humedad del aire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2862072" y="49560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%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517136" y="4608576"/>
            <a:ext cx="3273552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479145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7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PATIO MÁS LIMPIO</a:t>
            </a:r>
            <a:endParaRPr lang="en-US" sz="870" dirty="0"/>
          </a:p>
        </p:txBody>
      </p:sp>
      <p:sp>
        <p:nvSpPr>
          <p:cNvPr id="29" name="Text 26"/>
          <p:cNvSpPr/>
          <p:nvPr/>
        </p:nvSpPr>
        <p:spPr>
          <a:xfrm>
            <a:off x="4718304" y="5074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Cantidad de residuos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665976" y="49560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unidades</a:t>
            </a:r>
            <a:endParaRPr lang="en-US" sz="1020" dirty="0"/>
          </a:p>
        </p:txBody>
      </p:sp>
      <p:sp>
        <p:nvSpPr>
          <p:cNvPr id="31" name="Shape 28"/>
          <p:cNvSpPr/>
          <p:nvPr/>
        </p:nvSpPr>
        <p:spPr>
          <a:xfrm>
            <a:off x="8321040" y="4608576"/>
            <a:ext cx="3273552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22208" y="479145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70" kern="0" dirty="0">
                <a:solidFill>
                  <a:srgbClr val="1D4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TAPA CERRADA</a:t>
            </a:r>
            <a:endParaRPr lang="en-US" sz="870" dirty="0"/>
          </a:p>
        </p:txBody>
      </p:sp>
      <p:sp>
        <p:nvSpPr>
          <p:cNvPr id="33" name="Text 30"/>
          <p:cNvSpPr/>
          <p:nvPr/>
        </p:nvSpPr>
        <p:spPr>
          <a:xfrm>
            <a:off x="8522208" y="5074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de la tapa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10469880" y="49560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D4E8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abierta / cerrada</a:t>
            </a:r>
            <a:endParaRPr lang="en-US" sz="1020" dirty="0"/>
          </a:p>
        </p:txBody>
      </p:sp>
      <p:sp>
        <p:nvSpPr>
          <p:cNvPr id="35" name="Text 32"/>
          <p:cNvSpPr/>
          <p:nvPr/>
        </p:nvSpPr>
        <p:spPr>
          <a:xfrm>
            <a:off x="1371600" y="5961888"/>
            <a:ext cx="9454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no pueden nombrar la unidad o los dos estados, todavía tienen un deseo.</a:t>
            </a:r>
            <a:endParaRPr lang="en-US" sz="15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4944" y="4389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 INTELIGENTE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94944" y="841248"/>
            <a:ext cx="9555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variable bien probada vale más que cuatro a medias</a:t>
            </a:r>
            <a:endParaRPr lang="en-US" sz="2950" dirty="0"/>
          </a:p>
        </p:txBody>
      </p:sp>
      <p:sp>
        <p:nvSpPr>
          <p:cNvPr id="8" name="Text 5"/>
          <p:cNvSpPr/>
          <p:nvPr/>
        </p:nvSpPr>
        <p:spPr>
          <a:xfrm>
            <a:off x="713232" y="162763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desafío no premia cuántas piezas conectan. Premia qué tan bien resuelven el problema.</a:t>
            </a:r>
            <a:endParaRPr lang="en-US" sz="1460" dirty="0"/>
          </a:p>
        </p:txBody>
      </p:sp>
      <p:sp>
        <p:nvSpPr>
          <p:cNvPr id="9" name="Shape 6"/>
          <p:cNvSpPr/>
          <p:nvPr/>
        </p:nvSpPr>
        <p:spPr>
          <a:xfrm>
            <a:off x="932688" y="2304288"/>
            <a:ext cx="3054096" cy="305409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41832" y="2295144"/>
            <a:ext cx="3035808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6600" dirty="0"/>
          </a:p>
        </p:txBody>
      </p:sp>
      <p:sp>
        <p:nvSpPr>
          <p:cNvPr id="11" name="Text 8"/>
          <p:cNvSpPr/>
          <p:nvPr/>
        </p:nvSpPr>
        <p:spPr>
          <a:xfrm>
            <a:off x="1261872" y="4489704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90" kern="0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 PRINCIPAL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43584" y="477316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medida · explicada · demostrable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5532120" y="2395728"/>
            <a:ext cx="1389888" cy="1389888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41264" y="2404872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7818120" y="2395728"/>
            <a:ext cx="1389888" cy="1389888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27264" y="2404872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Shape 14"/>
          <p:cNvSpPr/>
          <p:nvPr/>
        </p:nvSpPr>
        <p:spPr>
          <a:xfrm>
            <a:off x="5532120" y="4151376"/>
            <a:ext cx="1389888" cy="1389888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41264" y="4160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Shape 16"/>
          <p:cNvSpPr/>
          <p:nvPr/>
        </p:nvSpPr>
        <p:spPr>
          <a:xfrm>
            <a:off x="7818120" y="4151376"/>
            <a:ext cx="1389888" cy="1389888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27264" y="4160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300" dirty="0"/>
          </a:p>
        </p:txBody>
      </p:sp>
      <p:sp>
        <p:nvSpPr>
          <p:cNvPr id="21" name="Shape 18"/>
          <p:cNvSpPr/>
          <p:nvPr/>
        </p:nvSpPr>
        <p:spPr>
          <a:xfrm>
            <a:off x="5175504" y="2286000"/>
            <a:ext cx="4407408" cy="33832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2" name="Shape 19"/>
          <p:cNvSpPr/>
          <p:nvPr/>
        </p:nvSpPr>
        <p:spPr>
          <a:xfrm flipV="1">
            <a:off x="5175504" y="2286000"/>
            <a:ext cx="4407408" cy="338328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3" name="Text 20"/>
          <p:cNvSpPr/>
          <p:nvPr/>
        </p:nvSpPr>
        <p:spPr>
          <a:xfrm>
            <a:off x="5230368" y="5742432"/>
            <a:ext cx="4498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MEDIDAS A MEDIAS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829800" y="2331720"/>
            <a:ext cx="1682496" cy="3401568"/>
          </a:xfrm>
          <a:prstGeom prst="roundRect">
            <a:avLst>
              <a:gd name="adj" fmla="val 3261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058400" y="26791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¿QUIEREN UNA SEGUNDA?</a:t>
            </a:r>
            <a:endParaRPr lang="en-US" sz="1160" dirty="0"/>
          </a:p>
        </p:txBody>
      </p:sp>
      <p:sp>
        <p:nvSpPr>
          <p:cNvPr id="26" name="Text 23"/>
          <p:cNvSpPr/>
          <p:nvPr/>
        </p:nvSpPr>
        <p:spPr>
          <a:xfrm>
            <a:off x="10040112" y="3429000"/>
            <a:ext cx="1261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Expliquen qué decisión permite tomar que la primera no permite.</a:t>
            </a:r>
            <a:endParaRPr lang="en-US" sz="1110" dirty="0"/>
          </a:p>
        </p:txBody>
      </p:sp>
      <p:sp>
        <p:nvSpPr>
          <p:cNvPr id="27" name="Text 24"/>
          <p:cNvSpPr/>
          <p:nvPr/>
        </p:nvSpPr>
        <p:spPr>
          <a:xfrm>
            <a:off x="10021824" y="4928616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no cambia una decisión, no entra al MVP.</a:t>
            </a:r>
            <a:endParaRPr lang="en-US" sz="1070" dirty="0"/>
          </a:p>
        </p:txBody>
      </p:sp>
      <p:sp>
        <p:nvSpPr>
          <p:cNvPr id="28" name="Text 25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ORDEN DE DECISIÓN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sensor se elige después de la variable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pieza tiene sentido cuando cumple una función de la regla.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901952"/>
            <a:ext cx="2798064" cy="3364992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" y="1901952"/>
            <a:ext cx="2798064" cy="4754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9536" y="203911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040" dirty="0"/>
          </a:p>
        </p:txBody>
      </p:sp>
      <p:sp>
        <p:nvSpPr>
          <p:cNvPr id="14" name="Text 11"/>
          <p:cNvSpPr/>
          <p:nvPr/>
        </p:nvSpPr>
        <p:spPr>
          <a:xfrm>
            <a:off x="1335024" y="2020824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9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87552" y="2907792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contenedor se desborda antes de que alguien alcance a retirarlo.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987552" y="4626864"/>
            <a:ext cx="2212848" cy="384048"/>
          </a:xfrm>
          <a:prstGeom prst="roundRect">
            <a:avLst>
              <a:gd name="adj" fmla="val 9524"/>
            </a:avLst>
          </a:prstGeom>
          <a:solidFill>
            <a:srgbClr val="D62027">
              <a:alpha val="12000"/>
            </a:srgbClr>
          </a:solidFill>
          <a:ln w="12700">
            <a:solidFill>
              <a:srgbClr val="D62027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06424" y="4736592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4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NECESITA CAMBIAR?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913632" y="1901952"/>
            <a:ext cx="2798064" cy="3364992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913632" y="1901952"/>
            <a:ext cx="2798064" cy="47548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078224" y="203911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4553712" y="2020824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90" kern="0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206240" y="2907792"/>
            <a:ext cx="22128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Distancia entre la tapa y los residuos, convertida a porcentaje.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4206240" y="4626864"/>
            <a:ext cx="2212848" cy="384048"/>
          </a:xfrm>
          <a:prstGeom prst="roundRect">
            <a:avLst>
              <a:gd name="adj" fmla="val 9524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>
                <a:alpha val="45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25112" y="4736592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4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DATO LO REPRESENTA?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7132320" y="1901952"/>
            <a:ext cx="4343400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32320" y="1901952"/>
            <a:ext cx="4343400" cy="47548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296912" y="203911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040" dirty="0"/>
          </a:p>
        </p:txBody>
      </p:sp>
      <p:sp>
        <p:nvSpPr>
          <p:cNvPr id="28" name="Text 25"/>
          <p:cNvSpPr/>
          <p:nvPr/>
        </p:nvSpPr>
        <p:spPr>
          <a:xfrm>
            <a:off x="7772400" y="2020824"/>
            <a:ext cx="3502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9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SENSOR</a:t>
            </a:r>
            <a:endParaRPr lang="en-US" sz="1150" dirty="0"/>
          </a:p>
        </p:txBody>
      </p:sp>
      <p:pic>
        <p:nvPicPr>
          <p:cNvPr id="29" name="Image 1" descr="C:\Users\Diego Obando\dev\proyecto-01-aiep-geogreen\banco-ideas\assets\hc-sr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0" y="2587752"/>
            <a:ext cx="1874520" cy="187452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400032" y="2880360"/>
            <a:ext cx="175564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HC-SR04: mide distancia sin tocar el contenido.</a:t>
            </a:r>
            <a:endParaRPr lang="en-US" sz="1540" dirty="0"/>
          </a:p>
        </p:txBody>
      </p:sp>
      <p:sp>
        <p:nvSpPr>
          <p:cNvPr id="31" name="Shape 27"/>
          <p:cNvSpPr/>
          <p:nvPr/>
        </p:nvSpPr>
        <p:spPr>
          <a:xfrm>
            <a:off x="7424928" y="4626864"/>
            <a:ext cx="3758184" cy="384048"/>
          </a:xfrm>
          <a:prstGeom prst="roundRect">
            <a:avLst>
              <a:gd name="adj" fmla="val 9524"/>
            </a:avLst>
          </a:prstGeom>
          <a:solidFill>
            <a:srgbClr val="2E8B57">
              <a:alpha val="12000"/>
            </a:srgbClr>
          </a:solidFill>
          <a:ln w="12700">
            <a:solidFill>
              <a:srgbClr val="2E8B57">
                <a:alpha val="4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543800" y="473659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spc="45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PIEZA PRODUCE ESE DATO?</a:t>
            </a:r>
            <a:endParaRPr lang="en-US" sz="870" dirty="0"/>
          </a:p>
        </p:txBody>
      </p:sp>
      <p:sp>
        <p:nvSpPr>
          <p:cNvPr id="33" name="Shape 29"/>
          <p:cNvSpPr/>
          <p:nvPr/>
        </p:nvSpPr>
        <p:spPr>
          <a:xfrm>
            <a:off x="3520440" y="3300984"/>
            <a:ext cx="347472" cy="51206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739128" y="3300984"/>
            <a:ext cx="347472" cy="512064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1188720" y="5715000"/>
            <a:ext cx="9802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parten por la pieza, terminan buscando un problema que la justifique.</a:t>
            </a:r>
            <a:endParaRPr lang="en-US" sz="16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BANCO DE SENSORES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Siete formas de observar el mundo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Elijan por lo que necesitan medir; el código del módulo viene después.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847088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  <a:effectLst>
            <a:outerShdw sx="100000" sy="100000" kx="0" ky="0" algn="bl" rotWithShape="0" blurRad="15240" dist="50800" dir="2700000">
              <a:srgbClr val="7A8794">
                <a:alpha val="12000"/>
              </a:srgbClr>
            </a:outerShdw>
          </a:effectLst>
        </p:spPr>
      </p:sp>
      <p:pic>
        <p:nvPicPr>
          <p:cNvPr id="12" name="Image 1" descr="C:\Users\Diego Obando\dev\proyecto-01-aiep-geogreen\banco-ideas\assets\hc-sr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56816"/>
            <a:ext cx="1207008" cy="12070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04672" y="325526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DISTANCIA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1197864" y="354787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D62027">
              <a:alpha val="12000"/>
            </a:srgbClr>
          </a:solidFill>
          <a:ln w="12700">
            <a:solidFill>
              <a:srgbClr val="D62027">
                <a:alpha val="4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234440" y="3602736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HC-SR04</a:t>
            </a:r>
            <a:endParaRPr lang="en-US" sz="780" dirty="0"/>
          </a:p>
        </p:txBody>
      </p:sp>
      <p:sp>
        <p:nvSpPr>
          <p:cNvPr id="16" name="Shape 12"/>
          <p:cNvSpPr/>
          <p:nvPr/>
        </p:nvSpPr>
        <p:spPr>
          <a:xfrm>
            <a:off x="2761488" y="1847088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  <a:effectLst>
            <a:outerShdw sx="100000" sy="100000" kx="0" ky="0" algn="bl" rotWithShape="0" blurRad="15240" dist="50800" dir="2700000">
              <a:srgbClr val="7A8794">
                <a:alpha val="12000"/>
              </a:srgbClr>
            </a:outerShdw>
          </a:effectLst>
        </p:spPr>
      </p:sp>
      <p:pic>
        <p:nvPicPr>
          <p:cNvPr id="17" name="Image 2" descr="C:\Users\Diego Obando\dev\proyecto-01-aiep-geogreen\banco-ideas\assets\ky-0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1956816"/>
            <a:ext cx="1207008" cy="12070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871216" y="325526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AIRE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3264408" y="354787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>
                <a:alpha val="45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300984" y="3602736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KY-015</a:t>
            </a:r>
            <a:endParaRPr lang="en-US" sz="780" dirty="0"/>
          </a:p>
        </p:txBody>
      </p:sp>
      <p:sp>
        <p:nvSpPr>
          <p:cNvPr id="21" name="Shape 16"/>
          <p:cNvSpPr/>
          <p:nvPr/>
        </p:nvSpPr>
        <p:spPr>
          <a:xfrm>
            <a:off x="4828032" y="1847088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  <a:effectLst>
            <a:outerShdw sx="100000" sy="100000" kx="0" ky="0" algn="bl" rotWithShape="0" blurRad="15240" dist="50800" dir="2700000">
              <a:srgbClr val="7A8794">
                <a:alpha val="12000"/>
              </a:srgbClr>
            </a:outerShdw>
          </a:effectLst>
        </p:spPr>
      </p:sp>
      <p:pic>
        <p:nvPicPr>
          <p:cNvPr id="22" name="Image 3" descr="C:\Users\Diego Obando\dev\proyecto-01-aiep-geogreen\banco-ideas\assets\ky-00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1956816"/>
            <a:ext cx="1207008" cy="12070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937760" y="325526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TEMPERATURA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330952" y="354787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E0BC5A">
              <a:alpha val="80000"/>
            </a:srgbClr>
          </a:solidFill>
          <a:ln w="12700">
            <a:solidFill>
              <a:srgbClr val="E0BC5A">
                <a:alpha val="4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367528" y="3602736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KY-001</a:t>
            </a:r>
            <a:endParaRPr lang="en-US" sz="780" dirty="0"/>
          </a:p>
        </p:txBody>
      </p:sp>
      <p:sp>
        <p:nvSpPr>
          <p:cNvPr id="26" name="Shape 20"/>
          <p:cNvSpPr/>
          <p:nvPr/>
        </p:nvSpPr>
        <p:spPr>
          <a:xfrm>
            <a:off x="6894576" y="1847088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  <a:effectLst>
            <a:outerShdw sx="100000" sy="100000" kx="0" ky="0" algn="bl" rotWithShape="0" blurRad="15240" dist="50800" dir="2700000">
              <a:srgbClr val="7A8794">
                <a:alpha val="12000"/>
              </a:srgbClr>
            </a:outerShdw>
          </a:effectLst>
        </p:spPr>
      </p:sp>
      <p:pic>
        <p:nvPicPr>
          <p:cNvPr id="27" name="Image 4" descr="C:\Users\Diego Obando\dev\proyecto-01-aiep-geogreen\banco-ideas\assets\ky-018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472" y="1956816"/>
            <a:ext cx="1207008" cy="120700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04304" y="325526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LUZ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7397496" y="354787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2E8B57">
              <a:alpha val="12000"/>
            </a:srgbClr>
          </a:solidFill>
          <a:ln w="12700">
            <a:solidFill>
              <a:srgbClr val="2E8B57">
                <a:alpha val="45000"/>
              </a:srgbClr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7434072" y="3602736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KY-018</a:t>
            </a:r>
            <a:endParaRPr lang="en-US" sz="780" dirty="0"/>
          </a:p>
        </p:txBody>
      </p:sp>
      <p:sp>
        <p:nvSpPr>
          <p:cNvPr id="31" name="Shape 24"/>
          <p:cNvSpPr/>
          <p:nvPr/>
        </p:nvSpPr>
        <p:spPr>
          <a:xfrm>
            <a:off x="8961120" y="1847088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D4E89"/>
            </a:solidFill>
            <a:prstDash val="solid"/>
          </a:ln>
          <a:effectLst>
            <a:outerShdw sx="100000" sy="100000" kx="0" ky="0" algn="bl" rotWithShape="0" blurRad="15240" dist="50800" dir="2700000">
              <a:srgbClr val="7A8794">
                <a:alpha val="12000"/>
              </a:srgbClr>
            </a:outerShdw>
          </a:effectLst>
        </p:spPr>
      </p:sp>
      <p:pic>
        <p:nvPicPr>
          <p:cNvPr id="32" name="Image 5" descr="C:\Users\Diego Obando\dev\proyecto-01-aiep-geogreen\banco-ideas\assets\soil-moistur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7424" y="2048256"/>
            <a:ext cx="1536192" cy="102412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70848" y="325526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TIERRA</a:t>
            </a:r>
            <a:endParaRPr lang="en-US" sz="1080" dirty="0"/>
          </a:p>
        </p:txBody>
      </p:sp>
      <p:sp>
        <p:nvSpPr>
          <p:cNvPr id="34" name="Shape 26"/>
          <p:cNvSpPr/>
          <p:nvPr/>
        </p:nvSpPr>
        <p:spPr>
          <a:xfrm>
            <a:off x="9464040" y="354787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1D4E89">
              <a:alpha val="12000"/>
            </a:srgbClr>
          </a:solidFill>
          <a:ln w="12700">
            <a:solidFill>
              <a:srgbClr val="1D4E89">
                <a:alpha val="45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9500616" y="3602736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D4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SOIL</a:t>
            </a:r>
            <a:endParaRPr lang="en-US" sz="780" dirty="0"/>
          </a:p>
        </p:txBody>
      </p:sp>
      <p:sp>
        <p:nvSpPr>
          <p:cNvPr id="36" name="Shape 28"/>
          <p:cNvSpPr/>
          <p:nvPr/>
        </p:nvSpPr>
        <p:spPr>
          <a:xfrm>
            <a:off x="2761488" y="4142232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  <a:effectLst>
            <a:outerShdw sx="100000" sy="100000" kx="0" ky="0" algn="bl" rotWithShape="0" blurRad="15240" dist="50800" dir="2700000">
              <a:srgbClr val="7A8794">
                <a:alpha val="12000"/>
              </a:srgbClr>
            </a:outerShdw>
          </a:effectLst>
        </p:spPr>
      </p:sp>
      <p:pic>
        <p:nvPicPr>
          <p:cNvPr id="37" name="Image 6" descr="C:\Users\Diego Obando\dev\proyecto-01-aiep-geogreen\banco-ideas\assets\water-level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7792" y="4416552"/>
            <a:ext cx="1536192" cy="877824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2871216" y="555040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NIVEL DE AGUA</a:t>
            </a:r>
            <a:endParaRPr lang="en-US" sz="880" dirty="0"/>
          </a:p>
        </p:txBody>
      </p:sp>
      <p:sp>
        <p:nvSpPr>
          <p:cNvPr id="39" name="Shape 30"/>
          <p:cNvSpPr/>
          <p:nvPr/>
        </p:nvSpPr>
        <p:spPr>
          <a:xfrm>
            <a:off x="3264408" y="5843016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>
                <a:alpha val="45000"/>
              </a:srgbClr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300984" y="589788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</a:t>
            </a:r>
            <a:endParaRPr lang="en-US" sz="780" dirty="0"/>
          </a:p>
        </p:txBody>
      </p:sp>
      <p:sp>
        <p:nvSpPr>
          <p:cNvPr id="41" name="Shape 32"/>
          <p:cNvSpPr/>
          <p:nvPr/>
        </p:nvSpPr>
        <p:spPr>
          <a:xfrm>
            <a:off x="6894576" y="4142232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  <a:effectLst>
            <a:outerShdw sx="100000" sy="100000" kx="0" ky="0" algn="bl" rotWithShape="0" blurRad="15240" dist="50800" dir="2700000">
              <a:srgbClr val="7A8794">
                <a:alpha val="12000"/>
              </a:srgbClr>
            </a:outerShdw>
          </a:effectLst>
        </p:spPr>
      </p:sp>
      <p:pic>
        <p:nvPicPr>
          <p:cNvPr id="42" name="Image 7" descr="C:\Users\Diego Obando\dev\proyecto-01-aiep-geogreen\banco-ideas\assets\ky-021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5472" y="4251960"/>
            <a:ext cx="1207008" cy="120700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04304" y="555040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ABIERTO / CERRADO</a:t>
            </a:r>
            <a:endParaRPr lang="en-US" sz="880" dirty="0"/>
          </a:p>
        </p:txBody>
      </p:sp>
      <p:sp>
        <p:nvSpPr>
          <p:cNvPr id="44" name="Shape 34"/>
          <p:cNvSpPr/>
          <p:nvPr/>
        </p:nvSpPr>
        <p:spPr>
          <a:xfrm>
            <a:off x="7397496" y="5843016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D62027">
              <a:alpha val="12000"/>
            </a:srgbClr>
          </a:solidFill>
          <a:ln w="12700">
            <a:solidFill>
              <a:srgbClr val="D62027">
                <a:alpha val="45000"/>
              </a:srgbClr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7434072" y="589788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KY-021</a:t>
            </a:r>
            <a:endParaRPr lang="en-US" sz="780" dirty="0"/>
          </a:p>
        </p:txBody>
      </p:sp>
      <p:sp>
        <p:nvSpPr>
          <p:cNvPr id="46" name="Shape 36"/>
          <p:cNvSpPr/>
          <p:nvPr/>
        </p:nvSpPr>
        <p:spPr>
          <a:xfrm>
            <a:off x="4828032" y="4142232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082B5C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5138928" y="4480560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: 1</a:t>
            </a:r>
            <a:endParaRPr lang="en-US" sz="2800" dirty="0"/>
          </a:p>
        </p:txBody>
      </p:sp>
      <p:sp>
        <p:nvSpPr>
          <p:cNvPr id="48" name="Text 38"/>
          <p:cNvSpPr/>
          <p:nvPr/>
        </p:nvSpPr>
        <p:spPr>
          <a:xfrm>
            <a:off x="5020056" y="5175504"/>
            <a:ext cx="1444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VARIABLE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SENSOR PRINCIPAL</a:t>
            </a:r>
            <a:endParaRPr lang="en-US" sz="1130" dirty="0"/>
          </a:p>
        </p:txBody>
      </p:sp>
      <p:sp>
        <p:nvSpPr>
          <p:cNvPr id="49" name="Text 39"/>
          <p:cNvSpPr/>
          <p:nvPr/>
        </p:nvSpPr>
        <p:spPr>
          <a:xfrm>
            <a:off x="5084064" y="5824728"/>
            <a:ext cx="13167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7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MÍNIMA</a:t>
            </a:r>
            <a:endParaRPr lang="en-US" sz="820" dirty="0"/>
          </a:p>
        </p:txBody>
      </p:sp>
      <p:sp>
        <p:nvSpPr>
          <p:cNvPr id="50" name="Shape 40"/>
          <p:cNvSpPr/>
          <p:nvPr/>
        </p:nvSpPr>
        <p:spPr>
          <a:xfrm>
            <a:off x="713232" y="4142232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950976" y="4517136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¿NO ESTÁ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AQUÍ?</a:t>
            </a:r>
            <a:endParaRPr lang="en-US" sz="1800" dirty="0"/>
          </a:p>
        </p:txBody>
      </p:sp>
      <p:sp>
        <p:nvSpPr>
          <p:cNvPr id="52" name="Text 42"/>
          <p:cNvSpPr/>
          <p:nvPr/>
        </p:nvSpPr>
        <p:spPr>
          <a:xfrm>
            <a:off x="923544" y="5330952"/>
            <a:ext cx="1408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kit tiene más opciones. La exigencia es justificar la elección.</a:t>
            </a:r>
            <a:endParaRPr lang="en-US" sz="970" dirty="0"/>
          </a:p>
        </p:txBody>
      </p:sp>
      <p:sp>
        <p:nvSpPr>
          <p:cNvPr id="53" name="Shape 43"/>
          <p:cNvSpPr/>
          <p:nvPr/>
        </p:nvSpPr>
        <p:spPr>
          <a:xfrm>
            <a:off x="8961120" y="4142232"/>
            <a:ext cx="1828800" cy="1993392"/>
          </a:xfrm>
          <a:prstGeom prst="roundRect">
            <a:avLst>
              <a:gd name="adj" fmla="val 2500"/>
            </a:avLst>
          </a:prstGeom>
          <a:solidFill>
            <a:srgbClr val="FBF3DE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9208008" y="4489704"/>
            <a:ext cx="1335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</a:t>
            </a:r>
            <a:endParaRPr lang="en-US" sz="1420" dirty="0"/>
          </a:p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DECISIVA</a:t>
            </a:r>
            <a:endParaRPr lang="en-US" sz="1420" dirty="0"/>
          </a:p>
        </p:txBody>
      </p:sp>
      <p:sp>
        <p:nvSpPr>
          <p:cNvPr id="55" name="Text 45"/>
          <p:cNvSpPr/>
          <p:nvPr/>
        </p:nvSpPr>
        <p:spPr>
          <a:xfrm>
            <a:off x="9180576" y="5175504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parte de nuestra regla cumple este sensor?</a:t>
            </a:r>
            <a:endParaRPr lang="en-US" sz="10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Medir no basta: el sistema debe hacer algo perceptible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salida convierte el dato en una acción que otra persona puede notar.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13232" y="1874520"/>
            <a:ext cx="3182112" cy="389534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1874520"/>
            <a:ext cx="164592" cy="3895344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3" name="Image 1" descr="C:\Users\Diego Obando\dev\proyecto-01-aiep-geogreen\banco-ideas\assets\ky-0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084832"/>
            <a:ext cx="1682496" cy="16824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15568" y="389534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2615184" y="3886200"/>
            <a:ext cx="932688" cy="292608"/>
          </a:xfrm>
          <a:prstGeom prst="roundRect">
            <a:avLst>
              <a:gd name="adj" fmla="val 9375"/>
            </a:avLst>
          </a:prstGeom>
          <a:solidFill>
            <a:srgbClr val="2E8B57">
              <a:alpha val="12000"/>
            </a:srgbClr>
          </a:solidFill>
          <a:ln w="12700">
            <a:solidFill>
              <a:srgbClr val="2E8B57">
                <a:alpha val="5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688336" y="3968496"/>
            <a:ext cx="7863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6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VE</a:t>
            </a:r>
            <a:endParaRPr lang="en-US" sz="780" dirty="0"/>
          </a:p>
        </p:txBody>
      </p:sp>
      <p:sp>
        <p:nvSpPr>
          <p:cNvPr id="17" name="Text 13"/>
          <p:cNvSpPr/>
          <p:nvPr/>
        </p:nvSpPr>
        <p:spPr>
          <a:xfrm>
            <a:off x="1115568" y="4389120"/>
            <a:ext cx="248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Luz de colores · KY-011</a:t>
            </a:r>
            <a:endParaRPr lang="en-US" sz="1220" dirty="0"/>
          </a:p>
        </p:txBody>
      </p:sp>
      <p:sp>
        <p:nvSpPr>
          <p:cNvPr id="18" name="Text 14"/>
          <p:cNvSpPr/>
          <p:nvPr/>
        </p:nvSpPr>
        <p:spPr>
          <a:xfrm>
            <a:off x="1115568" y="4791456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Comunica un estado a distancia: normal, atención o crítico.</a:t>
            </a:r>
            <a:endParaRPr lang="en-US" sz="1130" dirty="0"/>
          </a:p>
        </p:txBody>
      </p:sp>
      <p:sp>
        <p:nvSpPr>
          <p:cNvPr id="19" name="Shape 15"/>
          <p:cNvSpPr/>
          <p:nvPr/>
        </p:nvSpPr>
        <p:spPr>
          <a:xfrm>
            <a:off x="4251960" y="1874520"/>
            <a:ext cx="3182112" cy="389534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51960" y="1874520"/>
            <a:ext cx="164592" cy="38953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pic>
        <p:nvPicPr>
          <p:cNvPr id="21" name="Image 2" descr="C:\Users\Diego Obando\dev\proyecto-01-aiep-geogreen\banco-ideas\assets\ky-01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768" y="2084832"/>
            <a:ext cx="1682496" cy="168249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654296" y="389534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OÍR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53912" y="3886200"/>
            <a:ext cx="932688" cy="292608"/>
          </a:xfrm>
          <a:prstGeom prst="roundRect">
            <a:avLst>
              <a:gd name="adj" fmla="val 9375"/>
            </a:avLst>
          </a:prstGeom>
          <a:solidFill>
            <a:srgbClr val="D62027">
              <a:alpha val="12000"/>
            </a:srgbClr>
          </a:solidFill>
          <a:ln w="12700">
            <a:solidFill>
              <a:srgbClr val="D62027">
                <a:alpha val="50000"/>
              </a:srgbClr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227064" y="3968496"/>
            <a:ext cx="7863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6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OYE</a:t>
            </a:r>
            <a:endParaRPr lang="en-US" sz="780" dirty="0"/>
          </a:p>
        </p:txBody>
      </p:sp>
      <p:sp>
        <p:nvSpPr>
          <p:cNvPr id="25" name="Text 20"/>
          <p:cNvSpPr/>
          <p:nvPr/>
        </p:nvSpPr>
        <p:spPr>
          <a:xfrm>
            <a:off x="4654296" y="4389120"/>
            <a:ext cx="248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Zumbador · KY-012</a:t>
            </a:r>
            <a:endParaRPr lang="en-US" sz="1220" dirty="0"/>
          </a:p>
        </p:txBody>
      </p:sp>
      <p:sp>
        <p:nvSpPr>
          <p:cNvPr id="26" name="Text 21"/>
          <p:cNvSpPr/>
          <p:nvPr/>
        </p:nvSpPr>
        <p:spPr>
          <a:xfrm>
            <a:off x="4654296" y="4791456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 la atención cuando ocurre una condición urgente.</a:t>
            </a:r>
            <a:endParaRPr lang="en-US" sz="1130" dirty="0"/>
          </a:p>
        </p:txBody>
      </p:sp>
      <p:sp>
        <p:nvSpPr>
          <p:cNvPr id="27" name="Shape 22"/>
          <p:cNvSpPr/>
          <p:nvPr/>
        </p:nvSpPr>
        <p:spPr>
          <a:xfrm>
            <a:off x="7790688" y="1874520"/>
            <a:ext cx="3182112" cy="389534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790688" y="1874520"/>
            <a:ext cx="164592" cy="38953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29" name="Image 3" descr="C:\Users\Diego Obando\dev\proyecto-01-aiep-geogreen\banco-ideas\assets\ky-0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496" y="2084832"/>
            <a:ext cx="1682496" cy="168249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8193024" y="389534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ACTUAR</a:t>
            </a:r>
            <a:endParaRPr lang="en-US" sz="2100" dirty="0"/>
          </a:p>
        </p:txBody>
      </p:sp>
      <p:sp>
        <p:nvSpPr>
          <p:cNvPr id="31" name="Shape 25"/>
          <p:cNvSpPr/>
          <p:nvPr/>
        </p:nvSpPr>
        <p:spPr>
          <a:xfrm>
            <a:off x="9692640" y="3886200"/>
            <a:ext cx="932688" cy="292608"/>
          </a:xfrm>
          <a:prstGeom prst="roundRect">
            <a:avLst>
              <a:gd name="adj" fmla="val 9375"/>
            </a:avLst>
          </a:prstGeom>
          <a:solidFill>
            <a:srgbClr val="E0BC5A">
              <a:alpha val="85000"/>
            </a:srgbClr>
          </a:solidFill>
          <a:ln w="12700">
            <a:solidFill>
              <a:srgbClr val="E0BC5A">
                <a:alpha val="50000"/>
              </a:srgbClr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9765792" y="3968496"/>
            <a:ext cx="7863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6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ACTIVA</a:t>
            </a:r>
            <a:endParaRPr lang="en-US" sz="780" dirty="0"/>
          </a:p>
        </p:txBody>
      </p:sp>
      <p:sp>
        <p:nvSpPr>
          <p:cNvPr id="33" name="Text 27"/>
          <p:cNvSpPr/>
          <p:nvPr/>
        </p:nvSpPr>
        <p:spPr>
          <a:xfrm>
            <a:off x="8193024" y="4389120"/>
            <a:ext cx="248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Relé · KY-019</a:t>
            </a:r>
            <a:endParaRPr lang="en-US" sz="1220" dirty="0"/>
          </a:p>
        </p:txBody>
      </p:sp>
      <p:sp>
        <p:nvSpPr>
          <p:cNvPr id="34" name="Text 28"/>
          <p:cNvSpPr/>
          <p:nvPr/>
        </p:nvSpPr>
        <p:spPr>
          <a:xfrm>
            <a:off x="8193024" y="4791456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activar otro dispositivo con supervisión docente.</a:t>
            </a:r>
            <a:endParaRPr lang="en-US" sz="1130" dirty="0"/>
          </a:p>
        </p:txBody>
      </p:sp>
      <p:sp>
        <p:nvSpPr>
          <p:cNvPr id="35" name="Text 29"/>
          <p:cNvSpPr/>
          <p:nvPr/>
        </p:nvSpPr>
        <p:spPr>
          <a:xfrm>
            <a:off x="8193024" y="540410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Siempre con revisión antes de energizar.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1353312" y="5961888"/>
            <a:ext cx="9464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salida sirve cuando la persona correcta la percibe y sabe qué hacer.</a:t>
            </a:r>
            <a:endParaRPr lang="en-US" sz="15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4944" y="38404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 TECNOLOGÍA NUEVA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94944" y="749808"/>
            <a:ext cx="8686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necesitan conocer todos los sensores.</a:t>
            </a:r>
            <a:endParaRPr lang="en-US" sz="2650" dirty="0"/>
          </a:p>
          <a:p>
            <a:pPr indent="0" marL="0">
              <a:buNone/>
            </a:pPr>
            <a:r>
              <a:rPr lang="en-US" sz="2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Necesitan un método para dominar cualquiera.</a:t>
            </a:r>
            <a:endParaRPr lang="en-US" sz="2650" dirty="0"/>
          </a:p>
        </p:txBody>
      </p:sp>
      <p:sp>
        <p:nvSpPr>
          <p:cNvPr id="8" name="Shape 5"/>
          <p:cNvSpPr/>
          <p:nvPr/>
        </p:nvSpPr>
        <p:spPr>
          <a:xfrm>
            <a:off x="1417320" y="2926080"/>
            <a:ext cx="8915400" cy="0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371600" y="2496312"/>
            <a:ext cx="859536" cy="85953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80744" y="250545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86384" y="3246120"/>
            <a:ext cx="1938528" cy="2057400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357530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IDENTIFICAR</a:t>
            </a:r>
            <a:endParaRPr lang="en-US" sz="1240" dirty="0"/>
          </a:p>
        </p:txBody>
      </p:sp>
      <p:sp>
        <p:nvSpPr>
          <p:cNvPr id="13" name="Text 10"/>
          <p:cNvSpPr/>
          <p:nvPr/>
        </p:nvSpPr>
        <p:spPr>
          <a:xfrm>
            <a:off x="987552" y="4059936"/>
            <a:ext cx="15361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la etiqueta exacta del módulo.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1024128" y="492861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spc="6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RÁPIDO</a:t>
            </a:r>
            <a:endParaRPr lang="en-US" sz="810" dirty="0"/>
          </a:p>
        </p:txBody>
      </p:sp>
      <p:sp>
        <p:nvSpPr>
          <p:cNvPr id="15" name="Shape 12"/>
          <p:cNvSpPr/>
          <p:nvPr/>
        </p:nvSpPr>
        <p:spPr>
          <a:xfrm>
            <a:off x="3547872" y="2496312"/>
            <a:ext cx="859536" cy="85953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57016" y="250545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62656" y="3246120"/>
            <a:ext cx="1938528" cy="2057400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127248" y="357530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REDUCIR</a:t>
            </a:r>
            <a:endParaRPr lang="en-US" sz="1240" dirty="0"/>
          </a:p>
        </p:txBody>
      </p:sp>
      <p:sp>
        <p:nvSpPr>
          <p:cNvPr id="19" name="Text 16"/>
          <p:cNvSpPr/>
          <p:nvPr/>
        </p:nvSpPr>
        <p:spPr>
          <a:xfrm>
            <a:off x="3163824" y="4059936"/>
            <a:ext cx="15361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mide · voltaje · función de cada cable.</a:t>
            </a:r>
            <a:endParaRPr lang="en-US" sz="1070" dirty="0"/>
          </a:p>
        </p:txBody>
      </p:sp>
      <p:sp>
        <p:nvSpPr>
          <p:cNvPr id="20" name="Text 17"/>
          <p:cNvSpPr/>
          <p:nvPr/>
        </p:nvSpPr>
        <p:spPr>
          <a:xfrm>
            <a:off x="3200400" y="492861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spc="6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RÁPIDO</a:t>
            </a:r>
            <a:endParaRPr lang="en-US" sz="810" dirty="0"/>
          </a:p>
        </p:txBody>
      </p:sp>
      <p:sp>
        <p:nvSpPr>
          <p:cNvPr id="21" name="Shape 18"/>
          <p:cNvSpPr/>
          <p:nvPr/>
        </p:nvSpPr>
        <p:spPr>
          <a:xfrm>
            <a:off x="5724144" y="2496312"/>
            <a:ext cx="859536" cy="85953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33288" y="250545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138928" y="3246120"/>
            <a:ext cx="1938528" cy="2057400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03520" y="357530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PREGUNTAR</a:t>
            </a:r>
            <a:endParaRPr lang="en-US" sz="1240" dirty="0"/>
          </a:p>
        </p:txBody>
      </p:sp>
      <p:sp>
        <p:nvSpPr>
          <p:cNvPr id="25" name="Text 22"/>
          <p:cNvSpPr/>
          <p:nvPr/>
        </p:nvSpPr>
        <p:spPr>
          <a:xfrm>
            <a:off x="5340096" y="4059936"/>
            <a:ext cx="15361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 al agente componente, placa y objetivo.</a:t>
            </a:r>
            <a:endParaRPr lang="en-US" sz="1070" dirty="0"/>
          </a:p>
        </p:txBody>
      </p:sp>
      <p:sp>
        <p:nvSpPr>
          <p:cNvPr id="26" name="Text 23"/>
          <p:cNvSpPr/>
          <p:nvPr/>
        </p:nvSpPr>
        <p:spPr>
          <a:xfrm>
            <a:off x="5376672" y="492861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spc="65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RÁPIDO</a:t>
            </a:r>
            <a:endParaRPr lang="en-US" sz="810" dirty="0"/>
          </a:p>
        </p:txBody>
      </p:sp>
      <p:sp>
        <p:nvSpPr>
          <p:cNvPr id="27" name="Shape 24"/>
          <p:cNvSpPr/>
          <p:nvPr/>
        </p:nvSpPr>
        <p:spPr>
          <a:xfrm>
            <a:off x="7900416" y="2496312"/>
            <a:ext cx="859536" cy="85953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909560" y="250545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315200" y="3246120"/>
            <a:ext cx="1938528" cy="2057400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79792" y="357530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240" dirty="0"/>
          </a:p>
        </p:txBody>
      </p:sp>
      <p:sp>
        <p:nvSpPr>
          <p:cNvPr id="31" name="Text 28"/>
          <p:cNvSpPr/>
          <p:nvPr/>
        </p:nvSpPr>
        <p:spPr>
          <a:xfrm>
            <a:off x="7516368" y="4059936"/>
            <a:ext cx="15361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Conectar solo el sensor y ver su lectura.</a:t>
            </a:r>
            <a:endParaRPr lang="en-US" sz="1070" dirty="0"/>
          </a:p>
        </p:txBody>
      </p:sp>
      <p:sp>
        <p:nvSpPr>
          <p:cNvPr id="32" name="Text 29"/>
          <p:cNvSpPr/>
          <p:nvPr/>
        </p:nvSpPr>
        <p:spPr>
          <a:xfrm>
            <a:off x="7552944" y="492861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spc="65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MÍNIMA</a:t>
            </a:r>
            <a:endParaRPr lang="en-US" sz="810" dirty="0"/>
          </a:p>
        </p:txBody>
      </p:sp>
      <p:sp>
        <p:nvSpPr>
          <p:cNvPr id="33" name="Shape 30"/>
          <p:cNvSpPr/>
          <p:nvPr/>
        </p:nvSpPr>
        <p:spPr>
          <a:xfrm>
            <a:off x="10076688" y="2496312"/>
            <a:ext cx="859536" cy="859536"/>
          </a:xfrm>
          <a:prstGeom prst="ellipse">
            <a:avLst/>
          </a:prstGeom>
          <a:solidFill>
            <a:srgbClr val="1D4E89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085832" y="250545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491472" y="3246120"/>
            <a:ext cx="1938528" cy="2057400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656064" y="3575304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D4E8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CONTRASTAR</a:t>
            </a:r>
            <a:endParaRPr lang="en-US" sz="1240" dirty="0"/>
          </a:p>
        </p:txBody>
      </p:sp>
      <p:sp>
        <p:nvSpPr>
          <p:cNvPr id="37" name="Text 34"/>
          <p:cNvSpPr/>
          <p:nvPr/>
        </p:nvSpPr>
        <p:spPr>
          <a:xfrm>
            <a:off x="9692640" y="4059936"/>
            <a:ext cx="15361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el mundo y comprobar que cambia el dato.</a:t>
            </a:r>
            <a:endParaRPr lang="en-US" sz="1070" dirty="0"/>
          </a:p>
        </p:txBody>
      </p:sp>
      <p:sp>
        <p:nvSpPr>
          <p:cNvPr id="38" name="Text 35"/>
          <p:cNvSpPr/>
          <p:nvPr/>
        </p:nvSpPr>
        <p:spPr>
          <a:xfrm>
            <a:off x="9729216" y="492861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spc="65" kern="0" dirty="0">
                <a:solidFill>
                  <a:srgbClr val="1D4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REAL</a:t>
            </a:r>
            <a:endParaRPr lang="en-US" sz="810" dirty="0"/>
          </a:p>
        </p:txBody>
      </p:sp>
      <p:sp>
        <p:nvSpPr>
          <p:cNvPr id="39" name="Shape 36"/>
          <p:cNvSpPr/>
          <p:nvPr/>
        </p:nvSpPr>
        <p:spPr>
          <a:xfrm>
            <a:off x="1481328" y="5596128"/>
            <a:ext cx="9217152" cy="502920"/>
          </a:xfrm>
          <a:prstGeom prst="roundRect">
            <a:avLst>
              <a:gd name="adj" fmla="val 7273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783080" y="5733288"/>
            <a:ext cx="8613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meta no es memorizar un catálogo. Es aprender a aprender una pieza nueva.</a:t>
            </a:r>
            <a:endParaRPr lang="en-US" sz="1320" dirty="0"/>
          </a:p>
        </p:txBody>
      </p:sp>
      <p:sp>
        <p:nvSpPr>
          <p:cNvPr id="41" name="Text 38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42" name="Text 39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MÍNIMA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del proyecto completo: hagan aparecer un número que reaccione</a:t>
            </a:r>
            <a:endParaRPr lang="en-US" sz="248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+ placa + lectura. Nada más.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874520"/>
            <a:ext cx="3035808" cy="3749040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pic>
        <p:nvPicPr>
          <p:cNvPr id="12" name="Image 1" descr="C:\Users\Diego Obando\dev\proyecto-01-aiep-geogreen\banco-ideas\assets\hc-sr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267712"/>
            <a:ext cx="1938528" cy="19385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" y="43616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HC-SR04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133856" y="4791456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el sensor conectado</a:t>
            </a:r>
            <a:endParaRPr lang="en-US" sz="1140" dirty="0"/>
          </a:p>
        </p:txBody>
      </p:sp>
      <p:sp>
        <p:nvSpPr>
          <p:cNvPr id="15" name="Shape 11"/>
          <p:cNvSpPr/>
          <p:nvPr/>
        </p:nvSpPr>
        <p:spPr>
          <a:xfrm>
            <a:off x="3858768" y="3127248"/>
            <a:ext cx="914400" cy="694944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37760" y="1874520"/>
            <a:ext cx="2999232" cy="3749040"/>
          </a:xfrm>
          <a:prstGeom prst="roundRect">
            <a:avLst>
              <a:gd name="adj" fmla="val 1829"/>
            </a:avLst>
          </a:prstGeom>
          <a:solidFill>
            <a:srgbClr val="031D3B"/>
          </a:solidFill>
          <a:ln w="12700">
            <a:solidFill>
              <a:srgbClr val="031D3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874520"/>
            <a:ext cx="2999232" cy="438912"/>
          </a:xfrm>
          <a:prstGeom prst="rect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193792" y="2011680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DEL SENSOR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5257800" y="271576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532120" y="2670048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B7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cm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6510528" y="2743200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mano lejos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5257800" y="34564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532120" y="3410712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cm</a:t>
            </a:r>
            <a:endParaRPr lang="en-US" sz="1900" dirty="0"/>
          </a:p>
        </p:txBody>
      </p:sp>
      <p:sp>
        <p:nvSpPr>
          <p:cNvPr id="24" name="Text 20"/>
          <p:cNvSpPr/>
          <p:nvPr/>
        </p:nvSpPr>
        <p:spPr>
          <a:xfrm>
            <a:off x="6510528" y="3483864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mano al medio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5257800" y="4197096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5532120" y="4151376"/>
            <a:ext cx="1115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cm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6510528" y="4224528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mano cerca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5257800" y="4956048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DATO CAMBIA</a:t>
            </a:r>
            <a:endParaRPr lang="en-US" sz="1180" dirty="0"/>
          </a:p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EL MUNDO REAL</a:t>
            </a:r>
            <a:endParaRPr lang="en-US" sz="1180" dirty="0"/>
          </a:p>
        </p:txBody>
      </p:sp>
      <p:sp>
        <p:nvSpPr>
          <p:cNvPr id="29" name="Shape 25"/>
          <p:cNvSpPr/>
          <p:nvPr/>
        </p:nvSpPr>
        <p:spPr>
          <a:xfrm>
            <a:off x="8083296" y="3127248"/>
            <a:ext cx="914400" cy="694944"/>
          </a:xfrm>
          <a:prstGeom prst="chevron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162288" y="1874520"/>
            <a:ext cx="2304288" cy="3749040"/>
          </a:xfrm>
          <a:prstGeom prst="roundRect">
            <a:avLst>
              <a:gd name="adj" fmla="val 2381"/>
            </a:avLst>
          </a:prstGeom>
          <a:solidFill>
            <a:srgbClr val="E5F3E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802368" y="2377440"/>
            <a:ext cx="1005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4700" dirty="0"/>
          </a:p>
        </p:txBody>
      </p:sp>
      <p:sp>
        <p:nvSpPr>
          <p:cNvPr id="32" name="Text 28"/>
          <p:cNvSpPr/>
          <p:nvPr/>
        </p:nvSpPr>
        <p:spPr>
          <a:xfrm>
            <a:off x="9436608" y="3547872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YA PUEDEN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CONSTRUIR ENCIMA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9454896" y="449884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Recién ahora agregan luces, alarmas, panel o carcasa.</a:t>
            </a:r>
            <a:endParaRPr lang="en-US" sz="1080" dirty="0"/>
          </a:p>
        </p:txBody>
      </p:sp>
      <p:sp>
        <p:nvSpPr>
          <p:cNvPr id="34" name="Text 30"/>
          <p:cNvSpPr/>
          <p:nvPr/>
        </p:nvSpPr>
        <p:spPr>
          <a:xfrm>
            <a:off x="1645920" y="5943600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dato no reacciona, detenerse aquí es avanzar.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4944" y="4206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NO FUNCIONA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94944" y="80467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Revisen en este orden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713232" y="14356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programa suele ser el sospechoso. Muchas veces el problema está antes.</a:t>
            </a:r>
            <a:endParaRPr lang="en-US" sz="1440" dirty="0"/>
          </a:p>
        </p:txBody>
      </p:sp>
      <p:sp>
        <p:nvSpPr>
          <p:cNvPr id="9" name="Shape 6"/>
          <p:cNvSpPr/>
          <p:nvPr/>
        </p:nvSpPr>
        <p:spPr>
          <a:xfrm>
            <a:off x="713232" y="2212848"/>
            <a:ext cx="2944368" cy="3310128"/>
          </a:xfrm>
          <a:prstGeom prst="roundRect">
            <a:avLst>
              <a:gd name="adj" fmla="val 186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19072" y="2542032"/>
            <a:ext cx="932688" cy="9326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255117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3621024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1060704" y="397764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ENERGÍA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1060704" y="452628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placa está encendida?</a:t>
            </a:r>
            <a:endParaRPr lang="en-US" sz="1110" dirty="0"/>
          </a:p>
          <a:p>
            <a:pPr algn="ctr" indent="0" marL="0">
              <a:buNone/>
            </a:pPr>
            <a:r>
              <a:rPr lang="en-US" sz="111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voltaje corresponde?</a:t>
            </a:r>
            <a:endParaRPr lang="en-US" sz="1110" dirty="0"/>
          </a:p>
        </p:txBody>
      </p:sp>
      <p:sp>
        <p:nvSpPr>
          <p:cNvPr id="15" name="Shape 12"/>
          <p:cNvSpPr/>
          <p:nvPr/>
        </p:nvSpPr>
        <p:spPr>
          <a:xfrm>
            <a:off x="3739896" y="3502152"/>
            <a:ext cx="329184" cy="53035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42232" y="2212848"/>
            <a:ext cx="2944368" cy="3310128"/>
          </a:xfrm>
          <a:prstGeom prst="roundRect">
            <a:avLst>
              <a:gd name="adj" fmla="val 186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148072" y="2542032"/>
            <a:ext cx="932688" cy="93268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57216" y="255117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800600" y="3621024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DESPUÉS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4489704" y="397764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CABLES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4489704" y="452628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¿Cada cable está donde debe?</a:t>
            </a:r>
            <a:endParaRPr lang="en-US" sz="1110" dirty="0"/>
          </a:p>
          <a:p>
            <a:pPr algn="ctr" indent="0" marL="0">
              <a:buNone/>
            </a:pPr>
            <a:r>
              <a:rPr lang="en-US" sz="111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¿Comparten tierra?</a:t>
            </a:r>
            <a:endParaRPr lang="en-US" sz="1110" dirty="0"/>
          </a:p>
        </p:txBody>
      </p:sp>
      <p:sp>
        <p:nvSpPr>
          <p:cNvPr id="22" name="Shape 19"/>
          <p:cNvSpPr/>
          <p:nvPr/>
        </p:nvSpPr>
        <p:spPr>
          <a:xfrm>
            <a:off x="7168896" y="3502152"/>
            <a:ext cx="329184" cy="53035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2212848"/>
            <a:ext cx="2944368" cy="3310128"/>
          </a:xfrm>
          <a:prstGeom prst="roundRect">
            <a:avLst>
              <a:gd name="adj" fmla="val 1863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577072" y="2542032"/>
            <a:ext cx="932688" cy="93268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586216" y="255117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229600" y="3621024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spc="10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FINAL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7918704" y="397764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PROGRAMA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7918704" y="452628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pin y la lectura coinciden</a:t>
            </a:r>
            <a:endParaRPr lang="en-US" sz="1110" dirty="0"/>
          </a:p>
          <a:p>
            <a:pPr algn="ctr" indent="0" marL="0">
              <a:buNone/>
            </a:pPr>
            <a:r>
              <a:rPr lang="en-US" sz="111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el montaje real?</a:t>
            </a:r>
            <a:endParaRPr lang="en-US" sz="1110" dirty="0"/>
          </a:p>
        </p:txBody>
      </p:sp>
      <p:sp>
        <p:nvSpPr>
          <p:cNvPr id="29" name="Shape 26"/>
          <p:cNvSpPr/>
          <p:nvPr/>
        </p:nvSpPr>
        <p:spPr>
          <a:xfrm>
            <a:off x="1316736" y="5815584"/>
            <a:ext cx="95280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645920" y="5943600"/>
            <a:ext cx="8887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conectar energía: revisen la etiqueta real, el voltaje y la polaridad.</a:t>
            </a:r>
            <a:endParaRPr lang="en-US" sz="1320" dirty="0"/>
          </a:p>
        </p:txBody>
      </p:sp>
      <p:sp>
        <p:nvSpPr>
          <p:cNvPr id="31" name="Text 28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32" name="Text 29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REGLA DE DECISIÓN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umbral es la frontera que activa una respuesta</a:t>
            </a:r>
            <a:endParaRPr lang="en-US" sz="258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describe solamente el dato: define cuándo alguien necesita enterarse.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213969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0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</a:t>
            </a:r>
            <a:endParaRPr lang="en-US" sz="980" dirty="0"/>
          </a:p>
        </p:txBody>
      </p:sp>
      <p:sp>
        <p:nvSpPr>
          <p:cNvPr id="12" name="Text 9"/>
          <p:cNvSpPr/>
          <p:nvPr/>
        </p:nvSpPr>
        <p:spPr>
          <a:xfrm>
            <a:off x="786384" y="24871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Nivel de llenado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22960" y="392277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0 %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771632" y="392277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100 %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60704" y="3218688"/>
            <a:ext cx="3931920" cy="676656"/>
          </a:xfrm>
          <a:prstGeom prst="roundRect">
            <a:avLst>
              <a:gd name="adj" fmla="val 6757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992624" y="3218688"/>
            <a:ext cx="3611880" cy="6766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04504" y="3218688"/>
            <a:ext cx="2532888" cy="676656"/>
          </a:xfrm>
          <a:prstGeom prst="roundRect">
            <a:avLst>
              <a:gd name="adj" fmla="val 6757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67712" y="3438144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998464" y="343814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ATENCIÓN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098280" y="3438144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ACTUAR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992624" y="2505456"/>
            <a:ext cx="0" cy="1773936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764024" y="2432304"/>
            <a:ext cx="457200" cy="502920"/>
          </a:xfrm>
          <a:prstGeom prst="downArrow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81144" y="20848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40 %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604504" y="2505456"/>
            <a:ext cx="0" cy="1773936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75904" y="2432304"/>
            <a:ext cx="457200" cy="502920"/>
          </a:xfrm>
          <a:prstGeom prst="downArrow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193024" y="20848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80 %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42416" y="4690872"/>
            <a:ext cx="10094976" cy="1024128"/>
          </a:xfrm>
          <a:prstGeom prst="roundRect">
            <a:avLst>
              <a:gd name="adj" fmla="val 4464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371600" y="4965192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624328" y="4864608"/>
            <a:ext cx="3712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frontera que cambia la decisión del sistema.</a:t>
            </a:r>
            <a:endParaRPr lang="en-US" sz="1620" dirty="0"/>
          </a:p>
        </p:txBody>
      </p:sp>
      <p:sp>
        <p:nvSpPr>
          <p:cNvPr id="30" name="Text 27"/>
          <p:cNvSpPr/>
          <p:nvPr/>
        </p:nvSpPr>
        <p:spPr>
          <a:xfrm>
            <a:off x="6574536" y="4828032"/>
            <a:ext cx="4133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pregunta no es solo “¿cuánto marca?”.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“¿qué hacemos desde aquí?”.</a:t>
            </a:r>
            <a:endParaRPr lang="en-US" sz="1220" dirty="0"/>
          </a:p>
        </p:txBody>
      </p:sp>
      <p:sp>
        <p:nvSpPr>
          <p:cNvPr id="31" name="Text 28"/>
          <p:cNvSpPr/>
          <p:nvPr/>
        </p:nvSpPr>
        <p:spPr>
          <a:xfrm>
            <a:off x="1536192" y="5971032"/>
            <a:ext cx="9125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número sin una acción asociada todavía no es una regla.</a:t>
            </a:r>
            <a:endParaRPr lang="en-US" sz="14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 VERIFICABLE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umbral no se inventa: tiene un origen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cuatro fuentes convierten un número en una decisión defendible.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874520"/>
            <a:ext cx="523036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9264" y="2148840"/>
            <a:ext cx="676656" cy="6766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8408" y="21579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865376" y="2148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MEDICIÓN PREVIA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865376" y="2587752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 varias lecturas en situación normal y problemática.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1865376" y="3182112"/>
            <a:ext cx="3621024" cy="310896"/>
          </a:xfrm>
          <a:prstGeom prst="roundRect">
            <a:avLst>
              <a:gd name="adj" fmla="val 11765"/>
            </a:avLst>
          </a:prstGeom>
          <a:solidFill>
            <a:srgbClr val="D62027">
              <a:alpha val="12000"/>
            </a:srgbClr>
          </a:solidFill>
          <a:ln w="12700">
            <a:solidFill>
              <a:srgbClr val="D62027">
                <a:alpha val="40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993392" y="3264408"/>
            <a:ext cx="3364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vacío ↔ casi lleno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254496" y="1874520"/>
            <a:ext cx="523036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28816" y="2148840"/>
            <a:ext cx="676656" cy="6766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21579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24928" y="2148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CÁLCULO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424928" y="2587752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Deducir el valor desde una dimensión o relación conocida.</a:t>
            </a:r>
            <a:endParaRPr lang="en-US" sz="1120" dirty="0"/>
          </a:p>
        </p:txBody>
      </p:sp>
      <p:sp>
        <p:nvSpPr>
          <p:cNvPr id="23" name="Shape 20"/>
          <p:cNvSpPr/>
          <p:nvPr/>
        </p:nvSpPr>
        <p:spPr>
          <a:xfrm>
            <a:off x="7424928" y="3182112"/>
            <a:ext cx="3621024" cy="310896"/>
          </a:xfrm>
          <a:prstGeom prst="roundRect">
            <a:avLst>
              <a:gd name="adj" fmla="val 11765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>
                <a:alpha val="4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52944" y="3264408"/>
            <a:ext cx="3364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distancia → porcentaje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94944" y="4069080"/>
            <a:ext cx="523036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9264" y="4343400"/>
            <a:ext cx="676656" cy="6766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78408" y="435254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865376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 PUBLICADO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1865376" y="4782312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una recomendación identificable y citar su fuente.</a:t>
            </a:r>
            <a:endParaRPr lang="en-US" sz="1120" dirty="0"/>
          </a:p>
        </p:txBody>
      </p:sp>
      <p:sp>
        <p:nvSpPr>
          <p:cNvPr id="30" name="Shape 27"/>
          <p:cNvSpPr/>
          <p:nvPr/>
        </p:nvSpPr>
        <p:spPr>
          <a:xfrm>
            <a:off x="1865376" y="5376672"/>
            <a:ext cx="3621024" cy="310896"/>
          </a:xfrm>
          <a:prstGeom prst="roundRect">
            <a:avLst>
              <a:gd name="adj" fmla="val 11765"/>
            </a:avLst>
          </a:prstGeom>
          <a:solidFill>
            <a:srgbClr val="E0BC5A">
              <a:alpha val="85000"/>
            </a:srgbClr>
          </a:solidFill>
          <a:ln w="12700">
            <a:solidFill>
              <a:srgbClr val="E0BC5A">
                <a:alpha val="4000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993392" y="5458968"/>
            <a:ext cx="3364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rango saludable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254496" y="4069080"/>
            <a:ext cx="523036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528816" y="4343400"/>
            <a:ext cx="676656" cy="67665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537960" y="435254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424928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ACUERDO PROVISIONAL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7424928" y="4782312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Partir con un valor razonable y declarar cómo se ajustará.</a:t>
            </a:r>
            <a:endParaRPr lang="en-US" sz="1120" dirty="0"/>
          </a:p>
        </p:txBody>
      </p:sp>
      <p:sp>
        <p:nvSpPr>
          <p:cNvPr id="37" name="Shape 34"/>
          <p:cNvSpPr/>
          <p:nvPr/>
        </p:nvSpPr>
        <p:spPr>
          <a:xfrm>
            <a:off x="7424928" y="5376672"/>
            <a:ext cx="3621024" cy="310896"/>
          </a:xfrm>
          <a:prstGeom prst="roundRect">
            <a:avLst>
              <a:gd name="adj" fmla="val 11765"/>
            </a:avLst>
          </a:prstGeom>
          <a:solidFill>
            <a:srgbClr val="2E8B57">
              <a:alpha val="12000"/>
            </a:srgbClr>
          </a:solidFill>
          <a:ln w="12700">
            <a:solidFill>
              <a:srgbClr val="2E8B57">
                <a:alpha val="40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552944" y="5458968"/>
            <a:ext cx="3364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70 % → probar → corregir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108960" y="6117336"/>
            <a:ext cx="5961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“Sonaba bien” no es una quinta fuente.</a:t>
            </a:r>
            <a:endParaRPr lang="en-US" sz="14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4944" y="3840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GEOGREEN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94944" y="7498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alertar al 80 % y no al 100 %?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13232" y="13716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la persona necesita tiempo para reaccionar.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41248" y="2002536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24712" y="2816352"/>
            <a:ext cx="2313432" cy="2532888"/>
          </a:xfrm>
          <a:prstGeom prst="rect">
            <a:avLst/>
          </a:prstGeom>
          <a:solidFill>
            <a:srgbClr val="E9EEF4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24712" y="3319272"/>
            <a:ext cx="2313432" cy="20299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41832" y="3319272"/>
            <a:ext cx="274320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99032" y="3849624"/>
            <a:ext cx="1755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80 %</a:t>
            </a:r>
            <a:endParaRPr lang="en-US" sz="3100" dirty="0"/>
          </a:p>
        </p:txBody>
      </p:sp>
      <p:sp>
        <p:nvSpPr>
          <p:cNvPr id="14" name="Text 11"/>
          <p:cNvSpPr/>
          <p:nvPr/>
        </p:nvSpPr>
        <p:spPr>
          <a:xfrm>
            <a:off x="1554480" y="4590288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977640" y="3218688"/>
            <a:ext cx="960120" cy="7132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38928" y="2121408"/>
            <a:ext cx="2542032" cy="3474720"/>
          </a:xfrm>
          <a:prstGeom prst="roundRect">
            <a:avLst>
              <a:gd name="adj" fmla="val 2158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32120" y="2560320"/>
            <a:ext cx="1755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DE</a:t>
            </a:r>
            <a:endParaRPr lang="en-US" sz="1750" dirty="0"/>
          </a:p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REACCIÓN</a:t>
            </a:r>
            <a:endParaRPr lang="en-US" sz="1750" dirty="0"/>
          </a:p>
        </p:txBody>
      </p:sp>
      <p:sp>
        <p:nvSpPr>
          <p:cNvPr id="18" name="Text 15"/>
          <p:cNvSpPr/>
          <p:nvPr/>
        </p:nvSpPr>
        <p:spPr>
          <a:xfrm>
            <a:off x="5596128" y="3383280"/>
            <a:ext cx="16276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recibir aviso</a:t>
            </a:r>
            <a:endParaRPr lang="en-US" sz="1120" dirty="0"/>
          </a:p>
        </p:txBody>
      </p:sp>
      <p:sp>
        <p:nvSpPr>
          <p:cNvPr id="19" name="Text 16"/>
          <p:cNvSpPr/>
          <p:nvPr/>
        </p:nvSpPr>
        <p:spPr>
          <a:xfrm>
            <a:off x="6071616" y="3639312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↓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5596128" y="4114800"/>
            <a:ext cx="16276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llegar</a:t>
            </a:r>
            <a:endParaRPr lang="en-US" sz="1120" dirty="0"/>
          </a:p>
        </p:txBody>
      </p:sp>
      <p:sp>
        <p:nvSpPr>
          <p:cNvPr id="21" name="Text 18"/>
          <p:cNvSpPr/>
          <p:nvPr/>
        </p:nvSpPr>
        <p:spPr>
          <a:xfrm>
            <a:off x="6071616" y="4370832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↓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5596128" y="4846320"/>
            <a:ext cx="16276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retirar</a:t>
            </a:r>
            <a:endParaRPr lang="en-US" sz="1120" dirty="0"/>
          </a:p>
        </p:txBody>
      </p:sp>
      <p:sp>
        <p:nvSpPr>
          <p:cNvPr id="23" name="Shape 20"/>
          <p:cNvSpPr/>
          <p:nvPr/>
        </p:nvSpPr>
        <p:spPr>
          <a:xfrm>
            <a:off x="7882128" y="3218688"/>
            <a:ext cx="960120" cy="713232"/>
          </a:xfrm>
          <a:prstGeom prst="chevron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34272" y="2121408"/>
            <a:ext cx="2322576" cy="3474720"/>
          </a:xfrm>
          <a:prstGeom prst="roundRect">
            <a:avLst>
              <a:gd name="adj" fmla="val 2362"/>
            </a:avLst>
          </a:prstGeom>
          <a:solidFill>
            <a:srgbClr val="E5F3E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36024" y="2743200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DESBORDE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674352" y="3657600"/>
            <a:ext cx="1051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4600" dirty="0"/>
          </a:p>
        </p:txBody>
      </p:sp>
      <p:sp>
        <p:nvSpPr>
          <p:cNvPr id="27" name="Text 24"/>
          <p:cNvSpPr/>
          <p:nvPr/>
        </p:nvSpPr>
        <p:spPr>
          <a:xfrm>
            <a:off x="9400032" y="479145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alerta todavía permite actuar.</a:t>
            </a:r>
            <a:endParaRPr lang="en-US" sz="1070" dirty="0"/>
          </a:p>
        </p:txBody>
      </p:sp>
      <p:sp>
        <p:nvSpPr>
          <p:cNvPr id="28" name="Shape 25"/>
          <p:cNvSpPr/>
          <p:nvPr/>
        </p:nvSpPr>
        <p:spPr>
          <a:xfrm>
            <a:off x="1353312" y="5925312"/>
            <a:ext cx="9509760" cy="438912"/>
          </a:xfrm>
          <a:prstGeom prst="roundRect">
            <a:avLst>
              <a:gd name="adj" fmla="val 83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682496" y="6053328"/>
            <a:ext cx="88513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umbral se elige por la necesidad humana, no por el sensor.</a:t>
            </a:r>
            <a:endParaRPr lang="en-US" sz="1320" dirty="0"/>
          </a:p>
        </p:txBody>
      </p:sp>
      <p:sp>
        <p:nvSpPr>
          <p:cNvPr id="30" name="Text 27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REGLA ESTABLE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valor vive en la frontera, el sistema no debe parpadear</a:t>
            </a:r>
            <a:endParaRPr lang="en-US" sz="247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mediciones reales tienen ruido. La lógica necesita margen.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847088"/>
            <a:ext cx="5230368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12140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TOLERANCIA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127248" y="2157984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80 % para entrar y salir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1170432" y="4901184"/>
            <a:ext cx="427939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70432" y="2743200"/>
            <a:ext cx="0" cy="2157984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70432" y="3474720"/>
            <a:ext cx="4279392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336499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 flipV="1">
            <a:off x="1207008" y="3621024"/>
            <a:ext cx="594360" cy="640080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1801368" y="3429000"/>
            <a:ext cx="548640" cy="192024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350008" y="3429000"/>
            <a:ext cx="548640" cy="173736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2898648" y="3383280"/>
            <a:ext cx="548640" cy="219456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47288" y="3383280"/>
            <a:ext cx="548640" cy="201168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995928" y="3328416"/>
            <a:ext cx="548640" cy="256032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44568" y="3328416"/>
            <a:ext cx="502920" cy="237744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5047488" y="3291840"/>
            <a:ext cx="411480" cy="274320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25296" y="5157216"/>
            <a:ext cx="4169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salida cambia a cada instante.</a:t>
            </a:r>
            <a:endParaRPr lang="en-US" sz="1230" dirty="0"/>
          </a:p>
        </p:txBody>
      </p:sp>
      <p:sp>
        <p:nvSpPr>
          <p:cNvPr id="27" name="Text 24"/>
          <p:cNvSpPr/>
          <p:nvPr/>
        </p:nvSpPr>
        <p:spPr>
          <a:xfrm>
            <a:off x="1261872" y="5468112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poco de ruido cruza la misma frontera una y otra vez.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6254496" y="1847088"/>
            <a:ext cx="5230368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547104" y="212140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TOLERANCIA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8686800" y="2157984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80 % para entrar · 75 % para salir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6729984" y="4901184"/>
            <a:ext cx="427939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729984" y="2743200"/>
            <a:ext cx="0" cy="2157984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29984" y="3474720"/>
            <a:ext cx="4279392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272784" y="336499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</a:t>
            </a:r>
            <a:endParaRPr lang="en-US" sz="920" dirty="0"/>
          </a:p>
        </p:txBody>
      </p:sp>
      <p:sp>
        <p:nvSpPr>
          <p:cNvPr id="35" name="Shape 32"/>
          <p:cNvSpPr/>
          <p:nvPr/>
        </p:nvSpPr>
        <p:spPr>
          <a:xfrm>
            <a:off x="6729984" y="3995928"/>
            <a:ext cx="4279392" cy="0"/>
          </a:xfrm>
          <a:prstGeom prst="line">
            <a:avLst/>
          </a:prstGeom>
          <a:noFill/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72784" y="388620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6729984" y="3474720"/>
            <a:ext cx="4279392" cy="521208"/>
          </a:xfrm>
          <a:prstGeom prst="rect">
            <a:avLst/>
          </a:prstGeom>
          <a:solidFill>
            <a:srgbClr val="E0BC5A">
              <a:alpha val="25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6766560" y="3675888"/>
            <a:ext cx="640080" cy="640080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7406640" y="3346704"/>
            <a:ext cx="640080" cy="329184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046720" y="3346704"/>
            <a:ext cx="640080" cy="201168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8686800" y="3236976"/>
            <a:ext cx="640080" cy="310896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326880" y="3236976"/>
            <a:ext cx="640080" cy="210312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9966960" y="3145536"/>
            <a:ext cx="640080" cy="301752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607040" y="3145536"/>
            <a:ext cx="411480" cy="146304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784848" y="5157216"/>
            <a:ext cx="4169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estado permanece estable.</a:t>
            </a:r>
            <a:endParaRPr lang="en-US" sz="1230" dirty="0"/>
          </a:p>
        </p:txBody>
      </p:sp>
      <p:sp>
        <p:nvSpPr>
          <p:cNvPr id="46" name="Text 43"/>
          <p:cNvSpPr/>
          <p:nvPr/>
        </p:nvSpPr>
        <p:spPr>
          <a:xfrm>
            <a:off x="6821424" y="5468112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banda de tolerancia evita falsas alarmas.</a:t>
            </a:r>
            <a:endParaRPr lang="en-US" sz="980" dirty="0"/>
          </a:p>
        </p:txBody>
      </p:sp>
      <p:sp>
        <p:nvSpPr>
          <p:cNvPr id="47" name="Text 44"/>
          <p:cNvSpPr/>
          <p:nvPr/>
        </p:nvSpPr>
        <p:spPr>
          <a:xfrm>
            <a:off x="1298448" y="6007608"/>
            <a:ext cx="9582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lectura rara se filtra. Una frontera inestable necesita una banda de tolerancia.</a:t>
            </a:r>
            <a:endParaRPr lang="en-US" sz="14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4944" y="4206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DEL BLOQUE 2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94944" y="79552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Escriban la regla completa de su MVP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13232" y="1408176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entenderse de corrido, sin explicaciones adicionales.</a:t>
            </a:r>
            <a:endParaRPr lang="en-US" sz="1420" dirty="0"/>
          </a:p>
        </p:txBody>
      </p:sp>
      <p:sp>
        <p:nvSpPr>
          <p:cNvPr id="9" name="Shape 6"/>
          <p:cNvSpPr/>
          <p:nvPr/>
        </p:nvSpPr>
        <p:spPr>
          <a:xfrm>
            <a:off x="749808" y="1993392"/>
            <a:ext cx="10698480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1993392"/>
            <a:ext cx="2148840" cy="4389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50976" y="2130552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spc="6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MEDIMOS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3218688" y="212140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+ unidad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28232" y="2276856"/>
            <a:ext cx="4526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9808" y="2578608"/>
            <a:ext cx="10698480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2578608"/>
            <a:ext cx="2148840" cy="438912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0976" y="2715768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spc="6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</a:t>
            </a:r>
            <a:endParaRPr lang="en-US" sz="930" dirty="0"/>
          </a:p>
        </p:txBody>
      </p:sp>
      <p:sp>
        <p:nvSpPr>
          <p:cNvPr id="17" name="Text 14"/>
          <p:cNvSpPr/>
          <p:nvPr/>
        </p:nvSpPr>
        <p:spPr>
          <a:xfrm>
            <a:off x="3218688" y="2706624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sensor, instrumento u observación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428232" y="2862072"/>
            <a:ext cx="4526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3163824"/>
            <a:ext cx="10698480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3163824"/>
            <a:ext cx="2148840" cy="43891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50976" y="3300984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NORMAL CUANDO</a:t>
            </a:r>
            <a:endParaRPr lang="en-US" sz="860" dirty="0"/>
          </a:p>
        </p:txBody>
      </p:sp>
      <p:sp>
        <p:nvSpPr>
          <p:cNvPr id="22" name="Text 19"/>
          <p:cNvSpPr/>
          <p:nvPr/>
        </p:nvSpPr>
        <p:spPr>
          <a:xfrm>
            <a:off x="3218688" y="329184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rango o estado esperado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428232" y="3447288"/>
            <a:ext cx="4526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3749040"/>
            <a:ext cx="10698480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3749040"/>
            <a:ext cx="2148840" cy="4389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50976" y="3886200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5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ACTIVA CUANDO</a:t>
            </a:r>
            <a:endParaRPr lang="en-US" sz="860" dirty="0"/>
          </a:p>
        </p:txBody>
      </p:sp>
      <p:sp>
        <p:nvSpPr>
          <p:cNvPr id="27" name="Text 24"/>
          <p:cNvSpPr/>
          <p:nvPr/>
        </p:nvSpPr>
        <p:spPr>
          <a:xfrm>
            <a:off x="3218688" y="387705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+ origen del número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428232" y="4032504"/>
            <a:ext cx="4526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4334256"/>
            <a:ext cx="10698480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4334256"/>
            <a:ext cx="2148840" cy="4389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50976" y="4471416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spc="6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ENTONCES</a:t>
            </a:r>
            <a:endParaRPr lang="en-US" sz="930" dirty="0"/>
          </a:p>
        </p:txBody>
      </p:sp>
      <p:sp>
        <p:nvSpPr>
          <p:cNvPr id="32" name="Text 29"/>
          <p:cNvSpPr/>
          <p:nvPr/>
        </p:nvSpPr>
        <p:spPr>
          <a:xfrm>
            <a:off x="3218688" y="446227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perceptible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428232" y="4617720"/>
            <a:ext cx="4526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4919472"/>
            <a:ext cx="10698480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49808" y="4919472"/>
            <a:ext cx="2148840" cy="438912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50976" y="5056632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spc="6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MUESTRA</a:t>
            </a:r>
            <a:endParaRPr lang="en-US" sz="930" dirty="0"/>
          </a:p>
        </p:txBody>
      </p:sp>
      <p:sp>
        <p:nvSpPr>
          <p:cNvPr id="37" name="Text 34"/>
          <p:cNvSpPr/>
          <p:nvPr/>
        </p:nvSpPr>
        <p:spPr>
          <a:xfrm>
            <a:off x="3218688" y="504748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dónde se ve la información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428232" y="5202936"/>
            <a:ext cx="4526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9808" y="5504688"/>
            <a:ext cx="10698480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7000"/>
            </a:srgbClr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9808" y="5504688"/>
            <a:ext cx="2148840" cy="43891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50976" y="5641848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spc="6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QUE</a:t>
            </a:r>
            <a:endParaRPr lang="en-US" sz="930" dirty="0"/>
          </a:p>
        </p:txBody>
      </p:sp>
      <p:sp>
        <p:nvSpPr>
          <p:cNvPr id="42" name="Text 39"/>
          <p:cNvSpPr/>
          <p:nvPr/>
        </p:nvSpPr>
        <p:spPr>
          <a:xfrm>
            <a:off x="3218688" y="5632704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 + acción posible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6428232" y="5788152"/>
            <a:ext cx="4526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626096" y="1435608"/>
            <a:ext cx="3785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8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regla conecta dato → decisión → respuesta → persona.</a:t>
            </a:r>
            <a:endParaRPr lang="en-US" sz="1280" dirty="0"/>
          </a:p>
        </p:txBody>
      </p:sp>
      <p:sp>
        <p:nvSpPr>
          <p:cNvPr id="45" name="Text 42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46" name="Text 43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COMPROBACIÓN DEL BLOQUE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Lean su regla en voz alta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necesita aclaraciones para entenderse, todavía no está lista.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13232" y="1856232"/>
            <a:ext cx="4626864" cy="3566160"/>
          </a:xfrm>
          <a:prstGeom prst="roundRect">
            <a:avLst>
              <a:gd name="adj" fmla="val 1538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78992" y="2221992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SOLA PASADA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78992" y="2679192"/>
            <a:ext cx="385876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“Medimos…</a:t>
            </a:r>
            <a:endParaRPr lang="en-US" sz="2150" dirty="0"/>
          </a:p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con…</a:t>
            </a:r>
            <a:endParaRPr lang="en-US" sz="2150" dirty="0"/>
          </a:p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activa cuando…</a:t>
            </a:r>
            <a:endParaRPr lang="en-US" sz="2150" dirty="0"/>
          </a:p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entonces…”</a:t>
            </a:r>
            <a:endParaRPr lang="en-US" sz="2150" dirty="0"/>
          </a:p>
        </p:txBody>
      </p:sp>
      <p:sp>
        <p:nvSpPr>
          <p:cNvPr id="14" name="Shape 11"/>
          <p:cNvSpPr/>
          <p:nvPr/>
        </p:nvSpPr>
        <p:spPr>
          <a:xfrm>
            <a:off x="1060704" y="4498848"/>
            <a:ext cx="3913632" cy="502920"/>
          </a:xfrm>
          <a:prstGeom prst="roundRect">
            <a:avLst>
              <a:gd name="adj" fmla="val 7273"/>
            </a:avLst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35024" y="4645152"/>
            <a:ext cx="3364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¿OTRO EQUIPO LA ENTIENDE?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5696712" y="1856232"/>
            <a:ext cx="574243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897880" y="1975104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07024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37960" y="20025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UNIDAD</a:t>
            </a:r>
            <a:endParaRPr lang="en-US" sz="1120" dirty="0"/>
          </a:p>
        </p:txBody>
      </p:sp>
      <p:sp>
        <p:nvSpPr>
          <p:cNvPr id="20" name="Text 17"/>
          <p:cNvSpPr/>
          <p:nvPr/>
        </p:nvSpPr>
        <p:spPr>
          <a:xfrm>
            <a:off x="8028432" y="202082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se mide?</a:t>
            </a:r>
            <a:endParaRPr lang="en-US" sz="1070" dirty="0"/>
          </a:p>
        </p:txBody>
      </p:sp>
      <p:sp>
        <p:nvSpPr>
          <p:cNvPr id="21" name="Shape 18"/>
          <p:cNvSpPr/>
          <p:nvPr/>
        </p:nvSpPr>
        <p:spPr>
          <a:xfrm>
            <a:off x="5696712" y="2770632"/>
            <a:ext cx="574243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97880" y="2889504"/>
            <a:ext cx="475488" cy="47548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07024" y="2898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537960" y="2916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ORIGEN</a:t>
            </a:r>
            <a:endParaRPr lang="en-US" sz="1120" dirty="0"/>
          </a:p>
        </p:txBody>
      </p:sp>
      <p:sp>
        <p:nvSpPr>
          <p:cNvPr id="25" name="Text 22"/>
          <p:cNvSpPr/>
          <p:nvPr/>
        </p:nvSpPr>
        <p:spPr>
          <a:xfrm>
            <a:off x="8028432" y="293522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¿De dónde salió el umbral?</a:t>
            </a:r>
            <a:endParaRPr lang="en-US" sz="1070" dirty="0"/>
          </a:p>
        </p:txBody>
      </p:sp>
      <p:sp>
        <p:nvSpPr>
          <p:cNvPr id="26" name="Shape 23"/>
          <p:cNvSpPr/>
          <p:nvPr/>
        </p:nvSpPr>
        <p:spPr>
          <a:xfrm>
            <a:off x="5696712" y="3685032"/>
            <a:ext cx="574243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897880" y="3803904"/>
            <a:ext cx="475488" cy="47548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07024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537960" y="38313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FRONTERA</a:t>
            </a:r>
            <a:endParaRPr lang="en-US" sz="1120" dirty="0"/>
          </a:p>
        </p:txBody>
      </p:sp>
      <p:sp>
        <p:nvSpPr>
          <p:cNvPr id="30" name="Text 27"/>
          <p:cNvSpPr/>
          <p:nvPr/>
        </p:nvSpPr>
        <p:spPr>
          <a:xfrm>
            <a:off x="8028432" y="384962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 justo en el límite?</a:t>
            </a:r>
            <a:endParaRPr lang="en-US" sz="1070" dirty="0"/>
          </a:p>
        </p:txBody>
      </p:sp>
      <p:sp>
        <p:nvSpPr>
          <p:cNvPr id="31" name="Shape 28"/>
          <p:cNvSpPr/>
          <p:nvPr/>
        </p:nvSpPr>
        <p:spPr>
          <a:xfrm>
            <a:off x="5696712" y="4599432"/>
            <a:ext cx="5742432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897880" y="4718304"/>
            <a:ext cx="475488" cy="47548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07024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537960" y="47457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DESTINATARIO</a:t>
            </a:r>
            <a:endParaRPr lang="en-US" sz="1120" dirty="0"/>
          </a:p>
        </p:txBody>
      </p:sp>
      <p:sp>
        <p:nvSpPr>
          <p:cNvPr id="35" name="Text 32"/>
          <p:cNvSpPr/>
          <p:nvPr/>
        </p:nvSpPr>
        <p:spPr>
          <a:xfrm>
            <a:off x="8028432" y="476402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se entera y qué hace?</a:t>
            </a:r>
            <a:endParaRPr lang="en-US" sz="1070" dirty="0"/>
          </a:p>
        </p:txBody>
      </p:sp>
      <p:sp>
        <p:nvSpPr>
          <p:cNvPr id="36" name="Shape 33"/>
          <p:cNvSpPr/>
          <p:nvPr/>
        </p:nvSpPr>
        <p:spPr>
          <a:xfrm>
            <a:off x="5696712" y="5605272"/>
            <a:ext cx="5742432" cy="566928"/>
          </a:xfrm>
          <a:prstGeom prst="roundRect">
            <a:avLst>
              <a:gd name="adj" fmla="val 8065"/>
            </a:avLst>
          </a:prstGeom>
          <a:solidFill>
            <a:srgbClr val="E5F3E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61888" y="577900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8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DEL BLOQUE</a:t>
            </a:r>
            <a:endParaRPr lang="en-US" sz="880" dirty="0"/>
          </a:p>
        </p:txBody>
      </p:sp>
      <p:sp>
        <p:nvSpPr>
          <p:cNvPr id="38" name="Text 35"/>
          <p:cNvSpPr/>
          <p:nvPr/>
        </p:nvSpPr>
        <p:spPr>
          <a:xfrm>
            <a:off x="7498080" y="5733288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 + sensor + umbral + regla escrita</a:t>
            </a:r>
            <a:endParaRPr lang="en-US" sz="1260" dirty="0"/>
          </a:p>
        </p:txBody>
      </p:sp>
      <p:sp>
        <p:nvSpPr>
          <p:cNvPr id="39" name="Text 36"/>
          <p:cNvSpPr/>
          <p:nvPr/>
        </p:nvSpPr>
        <p:spPr>
          <a:xfrm>
            <a:off x="1325880" y="5943600"/>
            <a:ext cx="3675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Siguiente: recursos, software, seguridad y alcance real.</a:t>
            </a:r>
            <a:endParaRPr lang="en-US" sz="12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Mentoría 2 - De la idea a un producto mínimo viable</dc:title>
  <dc:subject>Mentoría 2 - Solución propuesta y recursos definidos</dc:subject>
  <dc:creator>GeoGreen Escolar Osorno</dc:creator>
  <cp:lastModifiedBy>GeoGreen Escolar Osorno</cp:lastModifiedBy>
  <cp:revision>1</cp:revision>
  <dcterms:created xsi:type="dcterms:W3CDTF">2026-07-29T07:13:08Z</dcterms:created>
  <dcterms:modified xsi:type="dcterms:W3CDTF">2026-07-29T07:13:08Z</dcterms:modified>
</cp:coreProperties>
</file>