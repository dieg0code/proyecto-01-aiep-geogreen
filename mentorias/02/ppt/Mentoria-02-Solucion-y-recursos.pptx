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1.png"/><Relationship Id="rId4" Type="http://schemas.openxmlformats.org/officeDocument/2006/relationships/image" Target="../media/image-11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mentorias\02\ppt\source\assets\images\portada-estudiantes-mvp-hardware-software-geogree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031D3B">
              <a:alpha val="78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14432" y="182880"/>
            <a:ext cx="1627632" cy="1005840"/>
          </a:xfrm>
          <a:prstGeom prst="roundRect">
            <a:avLst>
              <a:gd name="adj" fmla="val 3636"/>
            </a:avLst>
          </a:prstGeom>
          <a:solidFill>
            <a:srgbClr val="031D3B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567" y="237744"/>
            <a:ext cx="1235361" cy="896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6583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3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1060" dirty="0"/>
          </a:p>
        </p:txBody>
      </p:sp>
      <p:sp>
        <p:nvSpPr>
          <p:cNvPr id="10" name="Text 6"/>
          <p:cNvSpPr/>
          <p:nvPr/>
        </p:nvSpPr>
        <p:spPr>
          <a:xfrm>
            <a:off x="713232" y="1078992"/>
            <a:ext cx="44805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idea a un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mínimo viable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731520" y="27889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propuesta y recursos definidos</a:t>
            </a:r>
            <a:endParaRPr lang="en-US" sz="1620" dirty="0"/>
          </a:p>
        </p:txBody>
      </p:sp>
      <p:sp>
        <p:nvSpPr>
          <p:cNvPr id="12" name="Shape 8"/>
          <p:cNvSpPr/>
          <p:nvPr/>
        </p:nvSpPr>
        <p:spPr>
          <a:xfrm>
            <a:off x="713232" y="3675888"/>
            <a:ext cx="4005072" cy="969264"/>
          </a:xfrm>
          <a:prstGeom prst="roundRect">
            <a:avLst>
              <a:gd name="adj" fmla="val 47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9264" y="39044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 →  DECIDIR  →  RESPONDER  →  MOSTRAR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4242816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minutos · trabajo por equipos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731520" y="6099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SEPTIEMBRE · 2026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señal se convierte en una decisión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dispositivo observa el mundo. El software hace que el dato pueda viajar, acumularse y servir.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1755648"/>
            <a:ext cx="470916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5240" dist="50800" dir="2700000">
              <a:srgbClr val="8A96A3">
                <a:alpha val="15000"/>
              </a:srgbClr>
            </a:outerShdw>
          </a:effectLst>
        </p:spPr>
      </p:sp>
      <p:pic>
        <p:nvPicPr>
          <p:cNvPr id="12" name="Image 1" descr="C:\Users\Diego Obando\dev\proyecto-01-aiep-geogreen\talleres\03\media\fotos\prototipo-oled-geogreen-landscape.png">    </p:cNvPr>
          <p:cNvPicPr>
            <a:picLocks noChangeAspect="1"/>
          </p:cNvPicPr>
          <p:nvPr/>
        </p:nvPicPr>
        <p:blipFill>
          <a:blip r:embed="rId2"/>
          <a:srcRect l="0" r="0" t="2825" b="2825"/>
          <a:stretch/>
        </p:blipFill>
        <p:spPr>
          <a:xfrm>
            <a:off x="786384" y="1883664"/>
            <a:ext cx="4453128" cy="33649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6384" y="4736592"/>
            <a:ext cx="4453128" cy="512064"/>
          </a:xfrm>
          <a:prstGeom prst="rect">
            <a:avLst/>
          </a:prstGeom>
          <a:solidFill>
            <a:srgbClr val="031D3B">
              <a:alpha val="92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7552" y="488289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· observa y responde aquí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932688" y="546811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· regla · luz · sonido · pantalla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5394960" y="3319272"/>
            <a:ext cx="512064" cy="80467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34456" y="1755648"/>
            <a:ext cx="5596128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5240" dist="50800" dir="2700000">
              <a:srgbClr val="8A96A3">
                <a:alpha val="15000"/>
              </a:srgbClr>
            </a:outerShdw>
          </a:effectLst>
        </p:spPr>
      </p:sp>
      <p:pic>
        <p:nvPicPr>
          <p:cNvPr id="18" name="Image 2" descr="C:\Users\Diego Obando\dev\proyecto-01-aiep-geogreen\mentorias\02\media\capturas\dashboard-geogreen-mapa-osorno.png">    </p:cNvPr>
          <p:cNvPicPr>
            <a:picLocks noChangeAspect="1"/>
          </p:cNvPicPr>
          <p:nvPr/>
        </p:nvPicPr>
        <p:blipFill>
          <a:blip r:embed="rId3"/>
          <a:srcRect l="5367" r="5367" t="0" b="0"/>
          <a:stretch/>
        </p:blipFill>
        <p:spPr>
          <a:xfrm>
            <a:off x="6062472" y="1883664"/>
            <a:ext cx="5340096" cy="33649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62472" y="4736592"/>
            <a:ext cx="5340096" cy="512064"/>
          </a:xfrm>
          <a:prstGeom prst="rect">
            <a:avLst/>
          </a:prstGeom>
          <a:solidFill>
            <a:srgbClr val="031D3B">
              <a:alpha val="92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36792" y="488289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· muestra y permite decidir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6309360" y="546811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· historial · comparación · alertas · mapa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 DEL PROYECTO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no comienzan desde cero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Traigan sus decisiones anteriores a la mesa: esta sesión las convierte en un plan construible.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" y="1792224"/>
            <a:ext cx="4736592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1975104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92224" y="1938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 1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792224" y="2176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validado</a:t>
            </a:r>
            <a:endParaRPr lang="en-US" sz="1620" dirty="0"/>
          </a:p>
        </p:txBody>
      </p:sp>
      <p:sp>
        <p:nvSpPr>
          <p:cNvPr id="16" name="Text 13"/>
          <p:cNvSpPr/>
          <p:nvPr/>
        </p:nvSpPr>
        <p:spPr>
          <a:xfrm>
            <a:off x="1792224" y="24871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y personas relacionadas.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694944" y="3090672"/>
            <a:ext cx="4736592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2688" y="3273552"/>
            <a:ext cx="658368" cy="65836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792224" y="3236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3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1792224" y="34564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tecnológica inicial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1792224" y="39136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Variable, sensor posible y primera lógica.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694944" y="4389120"/>
            <a:ext cx="4736592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2688" y="4572000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1832" y="4581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792224" y="45354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SESIONES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1792224" y="47731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</a:t>
            </a:r>
            <a:endParaRPr lang="en-US" sz="1620" dirty="0"/>
          </a:p>
        </p:txBody>
      </p:sp>
      <p:sp>
        <p:nvSpPr>
          <p:cNvPr id="28" name="Text 25"/>
          <p:cNvSpPr/>
          <p:nvPr/>
        </p:nvSpPr>
        <p:spPr>
          <a:xfrm>
            <a:off x="1792224" y="50840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Compromiso verificable del equipo.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5468112" y="3035808"/>
            <a:ext cx="676656" cy="106070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81344" y="1792224"/>
            <a:ext cx="5340096" cy="4553712"/>
          </a:xfrm>
          <a:prstGeom prst="roundRect">
            <a:avLst>
              <a:gd name="adj" fmla="val 1205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47104" y="2121408"/>
            <a:ext cx="4553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13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OBLIGATORIA</a:t>
            </a:r>
            <a:endParaRPr lang="en-US" sz="1040" dirty="0"/>
          </a:p>
        </p:txBody>
      </p:sp>
      <p:sp>
        <p:nvSpPr>
          <p:cNvPr id="32" name="Text 29"/>
          <p:cNvSpPr/>
          <p:nvPr/>
        </p:nvSpPr>
        <p:spPr>
          <a:xfrm>
            <a:off x="6547104" y="2542032"/>
            <a:ext cx="45537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mínimo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viable definido</a:t>
            </a:r>
            <a:endParaRPr lang="en-US" sz="2700" dirty="0"/>
          </a:p>
        </p:txBody>
      </p:sp>
      <p:sp>
        <p:nvSpPr>
          <p:cNvPr id="33" name="Shape 30"/>
          <p:cNvSpPr/>
          <p:nvPr/>
        </p:nvSpPr>
        <p:spPr>
          <a:xfrm>
            <a:off x="6620256" y="3767328"/>
            <a:ext cx="219456" cy="2194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67728" y="36941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+ umbral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979408" y="3767328"/>
            <a:ext cx="219456" cy="2194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26880" y="36941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o fuente de datos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620256" y="4407408"/>
            <a:ext cx="219456" cy="2194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67728" y="43342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+ capa de software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979408" y="4407408"/>
            <a:ext cx="219456" cy="2194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26880" y="43342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+ seguridad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620256" y="5047488"/>
            <a:ext cx="219456" cy="2194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67728" y="49743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 + fechas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979408" y="5047488"/>
            <a:ext cx="219456" cy="2194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0" y="49743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para Mentoría 3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601968" y="5687568"/>
            <a:ext cx="4498848" cy="420624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39712" y="57972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poder construirse, probarse y explicarse.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 LA MENTORÍA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 minutos para dejar una ruta de construcción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bloque toma una decisión que el siguiente necesita.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" y="1901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0′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128248" y="19019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60′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78992" y="2212848"/>
            <a:ext cx="10003536" cy="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344168" y="1929384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5331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58368" y="2761488"/>
            <a:ext cx="1938528" cy="2523744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761488"/>
            <a:ext cx="1938528" cy="146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09067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41248" y="35570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822960" y="39136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</a:t>
            </a:r>
            <a:endParaRPr lang="en-US" sz="1520" dirty="0"/>
          </a:p>
        </p:txBody>
      </p:sp>
      <p:sp>
        <p:nvSpPr>
          <p:cNvPr id="21" name="Text 18"/>
          <p:cNvSpPr/>
          <p:nvPr/>
        </p:nvSpPr>
        <p:spPr>
          <a:xfrm>
            <a:off x="841248" y="43434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→ MVP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22960" y="4892040"/>
            <a:ext cx="1609344" cy="310896"/>
          </a:xfrm>
          <a:prstGeom prst="roundRect">
            <a:avLst>
              <a:gd name="adj" fmla="val 11765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3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97433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· FUNCIÓN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3456432" y="1929384"/>
            <a:ext cx="566928" cy="56692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65576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2724912" y="2761488"/>
            <a:ext cx="2029968" cy="2523744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24912" y="2761488"/>
            <a:ext cx="2029968" cy="146304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89504" y="309067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2907792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2889504" y="39136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2907792" y="434340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+ sensor + umbral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2889504" y="4892040"/>
            <a:ext cx="1700784" cy="310896"/>
          </a:xfrm>
          <a:prstGeom prst="roundRect">
            <a:avLst>
              <a:gd name="adj" fmla="val 11765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>
                <a:alpha val="3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80944" y="497433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8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· REGLA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6007608" y="1929384"/>
            <a:ext cx="566928" cy="566928"/>
          </a:xfrm>
          <a:prstGeom prst="ellipse">
            <a:avLst/>
          </a:prstGeom>
          <a:solidFill>
            <a:srgbClr val="08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1675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4882896" y="2761488"/>
            <a:ext cx="2816352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82896" y="2761488"/>
            <a:ext cx="2816352" cy="146304"/>
          </a:xfrm>
          <a:prstGeom prst="rect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47488" y="30906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5065776" y="355701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endParaRPr lang="en-US" sz="930" dirty="0"/>
          </a:p>
        </p:txBody>
      </p:sp>
      <p:sp>
        <p:nvSpPr>
          <p:cNvPr id="40" name="Text 37"/>
          <p:cNvSpPr/>
          <p:nvPr/>
        </p:nvSpPr>
        <p:spPr>
          <a:xfrm>
            <a:off x="5047488" y="39136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ACOTAR</a:t>
            </a:r>
            <a:endParaRPr lang="en-US" sz="1520" dirty="0"/>
          </a:p>
        </p:txBody>
      </p:sp>
      <p:sp>
        <p:nvSpPr>
          <p:cNvPr id="41" name="Text 38"/>
          <p:cNvSpPr/>
          <p:nvPr/>
        </p:nvSpPr>
        <p:spPr>
          <a:xfrm>
            <a:off x="5065776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+ software + seguridad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5047488" y="4892040"/>
            <a:ext cx="2487168" cy="310896"/>
          </a:xfrm>
          <a:prstGeom prst="roundRect">
            <a:avLst>
              <a:gd name="adj" fmla="val 11765"/>
            </a:avLst>
          </a:prstGeom>
          <a:solidFill>
            <a:srgbClr val="082B5C">
              <a:alpha val="12000"/>
            </a:srgbClr>
          </a:solidFill>
          <a:ln w="12700">
            <a:solidFill>
              <a:srgbClr val="082B5C">
                <a:alpha val="3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38928" y="497433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80" kern="0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· ALCANCE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8567928" y="1929384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7707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7827264" y="2761488"/>
            <a:ext cx="2048256" cy="2523744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27264" y="2761488"/>
            <a:ext cx="2048256" cy="146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91856" y="3090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49" name="Text 46"/>
          <p:cNvSpPr/>
          <p:nvPr/>
        </p:nvSpPr>
        <p:spPr>
          <a:xfrm>
            <a:off x="8010144" y="355701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endParaRPr lang="en-US" sz="930" dirty="0"/>
          </a:p>
        </p:txBody>
      </p:sp>
      <p:sp>
        <p:nvSpPr>
          <p:cNvPr id="50" name="Text 47"/>
          <p:cNvSpPr/>
          <p:nvPr/>
        </p:nvSpPr>
        <p:spPr>
          <a:xfrm>
            <a:off x="7991856" y="3913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REPARTIR</a:t>
            </a:r>
            <a:endParaRPr lang="en-US" sz="1520" dirty="0"/>
          </a:p>
        </p:txBody>
      </p:sp>
      <p:sp>
        <p:nvSpPr>
          <p:cNvPr id="51" name="Text 48"/>
          <p:cNvSpPr/>
          <p:nvPr/>
        </p:nvSpPr>
        <p:spPr>
          <a:xfrm>
            <a:off x="8010144" y="43434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+ rama + evidencia</a:t>
            </a:r>
            <a:endParaRPr lang="en-US" sz="1080" dirty="0"/>
          </a:p>
        </p:txBody>
      </p:sp>
      <p:sp>
        <p:nvSpPr>
          <p:cNvPr id="52" name="Shape 49"/>
          <p:cNvSpPr/>
          <p:nvPr/>
        </p:nvSpPr>
        <p:spPr>
          <a:xfrm>
            <a:off x="7991856" y="4892040"/>
            <a:ext cx="1719072" cy="310896"/>
          </a:xfrm>
          <a:prstGeom prst="roundRect">
            <a:avLst>
              <a:gd name="adj" fmla="val 11765"/>
            </a:avLst>
          </a:prstGeom>
          <a:solidFill>
            <a:srgbClr val="2E8B57">
              <a:alpha val="12000"/>
            </a:srgbClr>
          </a:solidFill>
          <a:ln w="12700">
            <a:solidFill>
              <a:srgbClr val="2E8B57">
                <a:alpha val="3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83296" y="497433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80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· PLAN</a:t>
            </a:r>
            <a:endParaRPr lang="en-US" sz="920" dirty="0"/>
          </a:p>
        </p:txBody>
      </p:sp>
      <p:sp>
        <p:nvSpPr>
          <p:cNvPr id="54" name="Shape 51"/>
          <p:cNvSpPr/>
          <p:nvPr/>
        </p:nvSpPr>
        <p:spPr>
          <a:xfrm>
            <a:off x="10479024" y="1929384"/>
            <a:ext cx="566928" cy="56692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48816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120" dirty="0"/>
          </a:p>
        </p:txBody>
      </p:sp>
      <p:sp>
        <p:nvSpPr>
          <p:cNvPr id="56" name="Shape 53"/>
          <p:cNvSpPr/>
          <p:nvPr/>
        </p:nvSpPr>
        <p:spPr>
          <a:xfrm>
            <a:off x="10003536" y="2761488"/>
            <a:ext cx="1517904" cy="252374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003536" y="2761488"/>
            <a:ext cx="1517904" cy="1463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168128" y="30906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10186416" y="35570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11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endParaRPr lang="en-US" sz="860" dirty="0"/>
          </a:p>
        </p:txBody>
      </p:sp>
      <p:sp>
        <p:nvSpPr>
          <p:cNvPr id="60" name="Text 57"/>
          <p:cNvSpPr/>
          <p:nvPr/>
        </p:nvSpPr>
        <p:spPr>
          <a:xfrm>
            <a:off x="10168128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CERRAR</a:t>
            </a:r>
            <a:endParaRPr lang="en-US" sz="1250" dirty="0"/>
          </a:p>
        </p:txBody>
      </p:sp>
      <p:sp>
        <p:nvSpPr>
          <p:cNvPr id="61" name="Text 58"/>
          <p:cNvSpPr/>
          <p:nvPr/>
        </p:nvSpPr>
        <p:spPr>
          <a:xfrm>
            <a:off x="10186416" y="43434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 + próximo paso</a:t>
            </a:r>
            <a:endParaRPr lang="en-US" sz="960" dirty="0"/>
          </a:p>
        </p:txBody>
      </p:sp>
      <p:sp>
        <p:nvSpPr>
          <p:cNvPr id="62" name="Shape 59"/>
          <p:cNvSpPr/>
          <p:nvPr/>
        </p:nvSpPr>
        <p:spPr>
          <a:xfrm>
            <a:off x="10168128" y="489204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BF3DE"/>
          </a:solidFill>
          <a:ln w="12700">
            <a:solidFill>
              <a:srgbClr val="E0BC5A">
                <a:alpha val="3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259568" y="4974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· COMPROMISO</a:t>
            </a:r>
            <a:endParaRPr lang="en-US" sz="810" dirty="0"/>
          </a:p>
        </p:txBody>
      </p:sp>
      <p:sp>
        <p:nvSpPr>
          <p:cNvPr id="64" name="Shape 61"/>
          <p:cNvSpPr/>
          <p:nvPr/>
        </p:nvSpPr>
        <p:spPr>
          <a:xfrm>
            <a:off x="1243584" y="5559552"/>
            <a:ext cx="9710928" cy="621792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737360" y="5669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spc="90" kern="0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DECISIÓN ALIMENTA LA SIGUIENTE</a:t>
            </a:r>
            <a:endParaRPr lang="en-US" sz="1180" dirty="0"/>
          </a:p>
        </p:txBody>
      </p:sp>
      <p:sp>
        <p:nvSpPr>
          <p:cNvPr id="66" name="Text 63"/>
          <p:cNvSpPr/>
          <p:nvPr/>
        </p:nvSpPr>
        <p:spPr>
          <a:xfrm>
            <a:off x="4828032" y="565099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final: solución definida + semana útil + evidencia comprometida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22192" cy="6858000"/>
          </a:xfrm>
          <a:prstGeom prst="rect">
            <a:avLst/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6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475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10 MINUTOS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6656" y="9144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solución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describe por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 función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94944" y="2395728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dicen con qué.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explica para qué.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3246120"/>
            <a:ext cx="2724912" cy="804672"/>
          </a:xfrm>
          <a:prstGeom prst="roundRect">
            <a:avLst>
              <a:gd name="adj" fmla="val 454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4290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PIEZAS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1609344" y="3374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Arduino + sensor + alarma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 rot="5400000">
            <a:off x="1691640" y="4160520"/>
            <a:ext cx="658368" cy="420624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4681728"/>
            <a:ext cx="2724912" cy="1024128"/>
          </a:xfrm>
          <a:prstGeom prst="roundRect">
            <a:avLst>
              <a:gd name="adj" fmla="val 4464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8828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1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932688" y="51572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→ decidir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responder → mostrar</a:t>
            </a:r>
            <a:endParaRPr lang="en-US" sz="1380" dirty="0"/>
          </a:p>
        </p:txBody>
      </p:sp>
      <p:pic>
        <p:nvPicPr>
          <p:cNvPr id="17" name="Image 1" descr="C:\Users\Diego Obando\dev\proyecto-01-aiep-geogreen\talleres\03\media\generadas\sistema-geogreen-sensor-dato-respuesta.png">    </p:cNvPr>
          <p:cNvPicPr>
            <a:picLocks noChangeAspect="1"/>
          </p:cNvPicPr>
          <p:nvPr/>
        </p:nvPicPr>
        <p:blipFill>
          <a:blip r:embed="rId2"/>
          <a:srcRect l="0" r="0" t="13541" b="13541"/>
          <a:stretch/>
        </p:blipFill>
        <p:spPr>
          <a:xfrm>
            <a:off x="3968496" y="1965960"/>
            <a:ext cx="7754112" cy="31821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69080" y="1389888"/>
            <a:ext cx="1572768" cy="694944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78808" y="1499616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87952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681728" y="1499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</a:t>
            </a:r>
            <a:endParaRPr lang="en-US" sz="960" dirty="0"/>
          </a:p>
        </p:txBody>
      </p:sp>
      <p:sp>
        <p:nvSpPr>
          <p:cNvPr id="22" name="Text 18"/>
          <p:cNvSpPr/>
          <p:nvPr/>
        </p:nvSpPr>
        <p:spPr>
          <a:xfrm>
            <a:off x="4654296" y="17647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cambia?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5925312" y="1389888"/>
            <a:ext cx="1572768" cy="694944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35040" y="1499616"/>
            <a:ext cx="438912" cy="43891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44184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537960" y="1499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</a:t>
            </a:r>
            <a:endParaRPr lang="en-US" sz="960" dirty="0"/>
          </a:p>
        </p:txBody>
      </p:sp>
      <p:sp>
        <p:nvSpPr>
          <p:cNvPr id="27" name="Text 23"/>
          <p:cNvSpPr/>
          <p:nvPr/>
        </p:nvSpPr>
        <p:spPr>
          <a:xfrm>
            <a:off x="6510528" y="17647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regla?</a:t>
            </a:r>
            <a:endParaRPr lang="en-US" sz="880" dirty="0"/>
          </a:p>
        </p:txBody>
      </p:sp>
      <p:sp>
        <p:nvSpPr>
          <p:cNvPr id="28" name="Shape 24"/>
          <p:cNvSpPr/>
          <p:nvPr/>
        </p:nvSpPr>
        <p:spPr>
          <a:xfrm>
            <a:off x="7827264" y="1389888"/>
            <a:ext cx="1572768" cy="694944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936992" y="1499616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946136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439912" y="1499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</a:t>
            </a:r>
            <a:endParaRPr lang="en-US" sz="960" dirty="0"/>
          </a:p>
        </p:txBody>
      </p:sp>
      <p:sp>
        <p:nvSpPr>
          <p:cNvPr id="32" name="Text 28"/>
          <p:cNvSpPr/>
          <p:nvPr/>
        </p:nvSpPr>
        <p:spPr>
          <a:xfrm>
            <a:off x="8412480" y="17647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ocurre?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9765792" y="1389888"/>
            <a:ext cx="1572768" cy="694944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875520" y="1499616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884664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10378440" y="1499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MOSTRAR</a:t>
            </a:r>
            <a:endParaRPr lang="en-US" sz="960" dirty="0"/>
          </a:p>
        </p:txBody>
      </p:sp>
      <p:sp>
        <p:nvSpPr>
          <p:cNvPr id="37" name="Text 33"/>
          <p:cNvSpPr/>
          <p:nvPr/>
        </p:nvSpPr>
        <p:spPr>
          <a:xfrm>
            <a:off x="10351008" y="17647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actúa?</a:t>
            </a:r>
            <a:endParaRPr lang="en-US" sz="880" dirty="0"/>
          </a:p>
        </p:txBody>
      </p:sp>
      <p:sp>
        <p:nvSpPr>
          <p:cNvPr id="38" name="Shape 34"/>
          <p:cNvSpPr/>
          <p:nvPr/>
        </p:nvSpPr>
        <p:spPr>
          <a:xfrm>
            <a:off x="4352544" y="5486400"/>
            <a:ext cx="6821424" cy="713232"/>
          </a:xfrm>
          <a:prstGeom prst="roundRect">
            <a:avLst>
              <a:gd name="adj" fmla="val 6410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26864" y="56327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10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DESAFÍO · 30 SEGUNDOS</a:t>
            </a:r>
            <a:endParaRPr lang="en-US" sz="920" dirty="0"/>
          </a:p>
        </p:txBody>
      </p:sp>
      <p:sp>
        <p:nvSpPr>
          <p:cNvPr id="40" name="Text 36"/>
          <p:cNvSpPr/>
          <p:nvPr/>
        </p:nvSpPr>
        <p:spPr>
          <a:xfrm>
            <a:off x="6236208" y="558698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Describan su solución sin nombrar componentes.</a:t>
            </a:r>
            <a:endParaRPr lang="en-US" sz="1440" dirty="0"/>
          </a:p>
        </p:txBody>
      </p:sp>
      <p:sp>
        <p:nvSpPr>
          <p:cNvPr id="41" name="Text 37"/>
          <p:cNvSpPr/>
          <p:nvPr/>
        </p:nvSpPr>
        <p:spPr>
          <a:xfrm>
            <a:off x="6236208" y="5870448"/>
            <a:ext cx="4553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solo aparecen piezas, todavía falta el propósito.</a:t>
            </a:r>
            <a:endParaRPr lang="en-US" sz="980" dirty="0"/>
          </a:p>
        </p:txBody>
      </p:sp>
      <p:sp>
        <p:nvSpPr>
          <p:cNvPr id="42" name="Text 38"/>
          <p:cNvSpPr/>
          <p:nvPr/>
        </p:nvSpPr>
        <p:spPr>
          <a:xfrm>
            <a:off x="65836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43" name="Text 39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MÍNIMO VIABLE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versión más pequeña que ya sirve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necesita estar terminada: necesita medir, decidir, responder y poder mostrarse.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" y="1783080"/>
            <a:ext cx="46268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901952"/>
            <a:ext cx="585216" cy="5852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82496" y="191109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MIDE ALGO REAL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1682496" y="222199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cambia y puede repetirse.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694944" y="2788920"/>
            <a:ext cx="46268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2907792"/>
            <a:ext cx="585216" cy="58521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5256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82496" y="291693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 CON SU REGLA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1682496" y="322783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umbral tiene un origen explicable.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94944" y="3794760"/>
            <a:ext cx="46268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3913632"/>
            <a:ext cx="585216" cy="58521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682496" y="39227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1682496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se ve, se oye o produce una acción.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694944" y="4800600"/>
            <a:ext cx="46268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6112" y="4919472"/>
            <a:ext cx="585216" cy="5852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256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682496" y="49286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MUESTRA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1682496" y="523951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persona entiende qué está pasando.</a:t>
            </a:r>
            <a:endParaRPr lang="en-US" sz="1140" dirty="0"/>
          </a:p>
        </p:txBody>
      </p:sp>
      <p:sp>
        <p:nvSpPr>
          <p:cNvPr id="31" name="Shape 28"/>
          <p:cNvSpPr/>
          <p:nvPr/>
        </p:nvSpPr>
        <p:spPr>
          <a:xfrm>
            <a:off x="5577840" y="1783080"/>
            <a:ext cx="5943600" cy="455371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pic>
        <p:nvPicPr>
          <p:cNvPr id="32" name="Image 1" descr="C:\Users\Diego Obando\dev\proyecto-01-aiep-geogreen\mentorias\02\media\capturas\dashboard-geogreen-detalle-contenedor.png">    </p:cNvPr>
          <p:cNvPicPr>
            <a:picLocks noChangeAspect="1"/>
          </p:cNvPicPr>
          <p:nvPr/>
        </p:nvPicPr>
        <p:blipFill>
          <a:blip r:embed="rId2"/>
          <a:srcRect l="18" r="18" t="0" b="0"/>
          <a:stretch/>
        </p:blipFill>
        <p:spPr>
          <a:xfrm>
            <a:off x="5705856" y="1911096"/>
            <a:ext cx="5687568" cy="32004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705856" y="4462272"/>
            <a:ext cx="5687568" cy="649224"/>
          </a:xfrm>
          <a:prstGeom prst="rect">
            <a:avLst/>
          </a:prstGeom>
          <a:solidFill>
            <a:srgbClr val="031D3B">
              <a:alpha val="94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89904" y="462686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lectura se vuelve información cuando alguien puede comprenderla y actuar.</a:t>
            </a:r>
            <a:endParaRPr lang="en-US" sz="1420" dirty="0"/>
          </a:p>
        </p:txBody>
      </p:sp>
      <p:sp>
        <p:nvSpPr>
          <p:cNvPr id="35" name="Text 31"/>
          <p:cNvSpPr/>
          <p:nvPr/>
        </p:nvSpPr>
        <p:spPr>
          <a:xfrm>
            <a:off x="5989320" y="54132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315200" y="5367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7754112" y="541324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9125712" y="5367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9528048" y="5285232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646920" y="542239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DE VALOR</a:t>
            </a:r>
            <a:endParaRPr lang="en-US" sz="1040" dirty="0"/>
          </a:p>
        </p:txBody>
      </p:sp>
      <p:sp>
        <p:nvSpPr>
          <p:cNvPr id="41" name="Text 37"/>
          <p:cNvSpPr/>
          <p:nvPr/>
        </p:nvSpPr>
        <p:spPr>
          <a:xfrm>
            <a:off x="6053328" y="590702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que encienda. Debe quedar claro qué observa, qué significa y para quién sirve.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384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spc="12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 DE TRABAJO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58368" y="731520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velocidades para avanzar de verdad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76656" y="1307592"/>
            <a:ext cx="9070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Aceleren donde el agente multiplica el trabajo. Frenen donde una equivocación puede dañar el montaje.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658368" y="1847088"/>
            <a:ext cx="5175504" cy="2871216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2139696"/>
            <a:ext cx="804672" cy="804672"/>
          </a:xfrm>
          <a:prstGeom prst="ellipse">
            <a:avLst/>
          </a:prstGeom>
          <a:solidFill>
            <a:srgbClr val="082B5C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214884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&gt;&gt;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938528" y="215798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ACELERAR CON EL AGENTE</a:t>
            </a:r>
            <a:endParaRPr lang="en-US" sz="1740" dirty="0"/>
          </a:p>
        </p:txBody>
      </p:sp>
      <p:sp>
        <p:nvSpPr>
          <p:cNvPr id="13" name="Shape 10"/>
          <p:cNvSpPr/>
          <p:nvPr/>
        </p:nvSpPr>
        <p:spPr>
          <a:xfrm>
            <a:off x="932688" y="2944368"/>
            <a:ext cx="1755648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05409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2907792" y="2944368"/>
            <a:ext cx="1755648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0" y="305409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932688" y="3529584"/>
            <a:ext cx="1755648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" y="36393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PROGRAMAR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2907792" y="3529584"/>
            <a:ext cx="1755648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17520" y="36393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932688" y="418795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entrega velocidad.</a:t>
            </a:r>
            <a:endParaRPr lang="en-US" sz="1310" dirty="0"/>
          </a:p>
          <a:p>
            <a:pPr algn="ctr" indent="0" marL="0">
              <a:buNone/>
            </a:pPr>
            <a:r>
              <a:rPr lang="en-US" sz="131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equipo entrega criterio.</a:t>
            </a:r>
            <a:endParaRPr lang="en-US" sz="1310" dirty="0"/>
          </a:p>
        </p:txBody>
      </p:sp>
      <p:sp>
        <p:nvSpPr>
          <p:cNvPr id="22" name="Shape 19"/>
          <p:cNvSpPr/>
          <p:nvPr/>
        </p:nvSpPr>
        <p:spPr>
          <a:xfrm>
            <a:off x="5980176" y="1847088"/>
            <a:ext cx="5541264" cy="287121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91072" y="2139696"/>
            <a:ext cx="804672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214884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296912" y="2157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FRENAR CON EL MONTAJE</a:t>
            </a:r>
            <a:endParaRPr lang="en-US" sz="1740" dirty="0"/>
          </a:p>
        </p:txBody>
      </p:sp>
      <p:sp>
        <p:nvSpPr>
          <p:cNvPr id="26" name="Shape 23"/>
          <p:cNvSpPr/>
          <p:nvPr/>
        </p:nvSpPr>
        <p:spPr>
          <a:xfrm>
            <a:off x="6309360" y="2944368"/>
            <a:ext cx="1810512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19088" y="305409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VOLTAJE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339328" y="2944368"/>
            <a:ext cx="1810512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49056" y="305409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POLARIDAD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6309360" y="3529584"/>
            <a:ext cx="1810512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19088" y="36393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CABLES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8339328" y="3529584"/>
            <a:ext cx="1810512" cy="402336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49056" y="36393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6419088" y="418795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explicar conexiones.</a:t>
            </a:r>
            <a:endParaRPr lang="en-US" sz="1310" dirty="0"/>
          </a:p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puede ver sus cables.</a:t>
            </a:r>
            <a:endParaRPr lang="en-US" sz="1310" dirty="0"/>
          </a:p>
        </p:txBody>
      </p:sp>
      <p:sp>
        <p:nvSpPr>
          <p:cNvPr id="35" name="Text 32"/>
          <p:cNvSpPr/>
          <p:nvPr/>
        </p:nvSpPr>
        <p:spPr>
          <a:xfrm>
            <a:off x="694944" y="50109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MÉTODO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481328" y="5550408"/>
            <a:ext cx="8778240" cy="0"/>
          </a:xfrm>
          <a:prstGeom prst="line">
            <a:avLst/>
          </a:prstGeom>
          <a:noFill/>
          <a:ln w="12700">
            <a:solidFill>
              <a:srgbClr val="D8E7F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353312" y="5285232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62456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0" y="53949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090" dirty="0"/>
          </a:p>
        </p:txBody>
      </p:sp>
      <p:sp>
        <p:nvSpPr>
          <p:cNvPr id="40" name="Shape 37"/>
          <p:cNvSpPr/>
          <p:nvPr/>
        </p:nvSpPr>
        <p:spPr>
          <a:xfrm>
            <a:off x="3858768" y="5285232"/>
            <a:ext cx="530352" cy="53035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67912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17136" y="53949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TAREA PEQUEÑA</a:t>
            </a:r>
            <a:endParaRPr lang="en-US" sz="1090" dirty="0"/>
          </a:p>
        </p:txBody>
      </p:sp>
      <p:sp>
        <p:nvSpPr>
          <p:cNvPr id="43" name="Shape 40"/>
          <p:cNvSpPr/>
          <p:nvPr/>
        </p:nvSpPr>
        <p:spPr>
          <a:xfrm>
            <a:off x="6364224" y="5285232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73368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022592" y="53949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</a:t>
            </a:r>
            <a:endParaRPr lang="en-US" sz="1090" dirty="0"/>
          </a:p>
        </p:txBody>
      </p:sp>
      <p:sp>
        <p:nvSpPr>
          <p:cNvPr id="46" name="Shape 43"/>
          <p:cNvSpPr/>
          <p:nvPr/>
        </p:nvSpPr>
        <p:spPr>
          <a:xfrm>
            <a:off x="8869680" y="5285232"/>
            <a:ext cx="530352" cy="5303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78824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9528048" y="539496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</a:t>
            </a:r>
            <a:endParaRPr lang="en-US" sz="1090" dirty="0"/>
          </a:p>
        </p:txBody>
      </p:sp>
      <p:sp>
        <p:nvSpPr>
          <p:cNvPr id="49" name="Shape 46"/>
          <p:cNvSpPr/>
          <p:nvPr/>
        </p:nvSpPr>
        <p:spPr>
          <a:xfrm>
            <a:off x="1353312" y="5925312"/>
            <a:ext cx="949147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682496" y="6025896"/>
            <a:ext cx="8833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un agente no es hacer trampa. Entregar algo que no pueden explicar, sí.</a:t>
            </a:r>
            <a:endParaRPr lang="en-US" sz="1230" dirty="0"/>
          </a:p>
        </p:txBody>
      </p:sp>
      <p:sp>
        <p:nvSpPr>
          <p:cNvPr id="51" name="Text 48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52" name="Text 49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493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3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15 MINUTOS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694944" y="914400"/>
            <a:ext cx="4800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medimos,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qué y cuándo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activa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713232" y="2907792"/>
            <a:ext cx="413308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18211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empieza a funcionar cuando puede observar algo real y decidir con una regla propia.</a:t>
            </a:r>
            <a:endParaRPr lang="en-US" sz="1720" dirty="0"/>
          </a:p>
        </p:txBody>
      </p:sp>
      <p:sp>
        <p:nvSpPr>
          <p:cNvPr id="10" name="Shape 7"/>
          <p:cNvSpPr/>
          <p:nvPr/>
        </p:nvSpPr>
        <p:spPr>
          <a:xfrm>
            <a:off x="5596128" y="1243584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C:\Users\Diego Obando\dev\proyecto-01-aiep-geogreen\banco-ideas\assets\hc-sr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1380744"/>
            <a:ext cx="1234440" cy="1234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96128" y="2779776"/>
            <a:ext cx="1572768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0" y="286207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DISTANCIA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7434072" y="1243584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C:\Users\Diego Obando\dev\proyecto-01-aiep-geogreen\banco-ideas\assets\ky-0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236" y="1380744"/>
            <a:ext cx="1234440" cy="12344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34072" y="2779776"/>
            <a:ext cx="1572768" cy="310896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07224" y="286207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AMBIENTE</a:t>
            </a:r>
            <a:endParaRPr lang="en-US" sz="940" dirty="0"/>
          </a:p>
        </p:txBody>
      </p:sp>
      <p:sp>
        <p:nvSpPr>
          <p:cNvPr id="18" name="Shape 13"/>
          <p:cNvSpPr/>
          <p:nvPr/>
        </p:nvSpPr>
        <p:spPr>
          <a:xfrm>
            <a:off x="9272016" y="1243584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C:\Users\Diego Obando\dev\proyecto-01-aiep-geogreen\banco-ideas\assets\ky-01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0" y="1380744"/>
            <a:ext cx="1234440" cy="12344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272016" y="2779776"/>
            <a:ext cx="1572768" cy="3108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345168" y="286207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LUZ</a:t>
            </a:r>
            <a:endParaRPr lang="en-US" sz="940" dirty="0"/>
          </a:p>
        </p:txBody>
      </p:sp>
      <p:sp>
        <p:nvSpPr>
          <p:cNvPr id="22" name="Shape 16"/>
          <p:cNvSpPr/>
          <p:nvPr/>
        </p:nvSpPr>
        <p:spPr>
          <a:xfrm>
            <a:off x="5596128" y="3374136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4" descr="C:\Users\Diego Obando\dev\proyecto-01-aiep-geogreen\banco-ideas\assets\soil-moistur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701796"/>
            <a:ext cx="1280160" cy="8534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596128" y="4910328"/>
            <a:ext cx="1572768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669280" y="49926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HUMEDAD</a:t>
            </a:r>
            <a:endParaRPr lang="en-US" sz="940" dirty="0"/>
          </a:p>
        </p:txBody>
      </p:sp>
      <p:sp>
        <p:nvSpPr>
          <p:cNvPr id="26" name="Shape 19"/>
          <p:cNvSpPr/>
          <p:nvPr/>
        </p:nvSpPr>
        <p:spPr>
          <a:xfrm>
            <a:off x="7434072" y="3374136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1D4E89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5" descr="C:\Users\Diego Obando\dev\proyecto-01-aiep-geogreen\banco-ideas\assets\water-level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3762756"/>
            <a:ext cx="1280160" cy="7315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434072" y="4910328"/>
            <a:ext cx="1572768" cy="310896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507224" y="49926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</a:t>
            </a:r>
            <a:endParaRPr lang="en-US" sz="940" dirty="0"/>
          </a:p>
        </p:txBody>
      </p:sp>
      <p:sp>
        <p:nvSpPr>
          <p:cNvPr id="30" name="Shape 22"/>
          <p:cNvSpPr/>
          <p:nvPr/>
        </p:nvSpPr>
        <p:spPr>
          <a:xfrm>
            <a:off x="9272016" y="3374136"/>
            <a:ext cx="1572768" cy="1847088"/>
          </a:xfrm>
          <a:prstGeom prst="roundRect">
            <a:avLst>
              <a:gd name="adj" fmla="val 29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8000"/>
              </a:srgbClr>
            </a:outerShdw>
          </a:effectLst>
        </p:spPr>
      </p:sp>
      <p:pic>
        <p:nvPicPr>
          <p:cNvPr id="31" name="Image 6" descr="C:\Users\Diego Obando\dev\proyecto-01-aiep-geogreen\banco-ideas\assets\ky-02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1180" y="3511296"/>
            <a:ext cx="1234440" cy="12344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272016" y="4910328"/>
            <a:ext cx="1572768" cy="3108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9345168" y="49926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940" dirty="0"/>
          </a:p>
        </p:txBody>
      </p:sp>
      <p:sp>
        <p:nvSpPr>
          <p:cNvPr id="34" name="Text 25"/>
          <p:cNvSpPr/>
          <p:nvPr/>
        </p:nvSpPr>
        <p:spPr>
          <a:xfrm>
            <a:off x="932688" y="49926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2240280" y="4882896"/>
            <a:ext cx="1828800" cy="50292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133088" y="49926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5449824" y="4882896"/>
            <a:ext cx="1828800" cy="502920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342632" y="49926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8659368" y="4882896"/>
            <a:ext cx="1828800" cy="5029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10405872" y="49926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UMBRAL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1188720" y="5751576"/>
            <a:ext cx="9802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entendemos qué cambia. Después elegimos con qué medirlo.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43" name="Text 34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OBSERVABLE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propósito al dato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intención inspira. Una variable permite medir, comparar y decidir.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28800"/>
            <a:ext cx="2971800" cy="2697480"/>
          </a:xfrm>
          <a:prstGeom prst="roundRect">
            <a:avLst>
              <a:gd name="adj" fmla="val 271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12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987552" y="257860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“Queremos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cuidar el agua”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05840" y="376732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 valioso.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produce un dato.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3858768" y="1828800"/>
            <a:ext cx="1874520" cy="2697480"/>
          </a:xfrm>
          <a:prstGeom prst="chevron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23944" y="228600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spc="8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4023360" y="289864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CAMBIA?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3986784" y="3803904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problema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o empeora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07024" y="1828800"/>
            <a:ext cx="5532120" cy="2697480"/>
          </a:xfrm>
          <a:prstGeom prst="roundRect">
            <a:avLst>
              <a:gd name="adj" fmla="val 2712"/>
            </a:avLst>
          </a:prstGeom>
          <a:solidFill>
            <a:srgbClr val="DDF4F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211226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11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OBSERVABLE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6217920" y="2578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 de agua</a:t>
            </a:r>
            <a:endParaRPr lang="en-US" sz="2400" dirty="0"/>
          </a:p>
        </p:txBody>
      </p:sp>
      <p:pic>
        <p:nvPicPr>
          <p:cNvPr id="22" name="Image 1" descr="C:\Users\Diego Obando\dev\proyecto-01-aiep-geogreen\banco-ideas\assets\water-lev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2286000"/>
            <a:ext cx="1984248" cy="11338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217920" y="3264408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55664" y="34290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  o  %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8577072" y="337413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70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 UNIDAD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8577072" y="36393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· se registra · permite decidir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217920" y="4123944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pueden nombrar la unidad o los dos estados, todavía tienen un deseo.</a:t>
            </a:r>
            <a:endParaRPr lang="en-US" sz="1120" dirty="0"/>
          </a:p>
        </p:txBody>
      </p:sp>
      <p:sp>
        <p:nvSpPr>
          <p:cNvPr id="28" name="Shape 24"/>
          <p:cNvSpPr/>
          <p:nvPr/>
        </p:nvSpPr>
        <p:spPr>
          <a:xfrm>
            <a:off x="731520" y="4919472"/>
            <a:ext cx="32186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32688" y="511149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65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 SALUDABLE</a:t>
            </a:r>
            <a:endParaRPr lang="en-US" sz="870" dirty="0"/>
          </a:p>
        </p:txBody>
      </p:sp>
      <p:sp>
        <p:nvSpPr>
          <p:cNvPr id="30" name="Shape 26"/>
          <p:cNvSpPr/>
          <p:nvPr/>
        </p:nvSpPr>
        <p:spPr>
          <a:xfrm>
            <a:off x="2267712" y="5074920"/>
            <a:ext cx="457200" cy="32004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32688" y="5440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Humedad del aire</a:t>
            </a:r>
            <a:endParaRPr lang="en-US" sz="1220" dirty="0"/>
          </a:p>
        </p:txBody>
      </p:sp>
      <p:sp>
        <p:nvSpPr>
          <p:cNvPr id="32" name="Text 28"/>
          <p:cNvSpPr/>
          <p:nvPr/>
        </p:nvSpPr>
        <p:spPr>
          <a:xfrm>
            <a:off x="3154680" y="5330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4517136" y="4919472"/>
            <a:ext cx="32186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18304" y="511149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6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PATIO MÁS LIMPIO</a:t>
            </a:r>
            <a:endParaRPr lang="en-US" sz="870" dirty="0"/>
          </a:p>
        </p:txBody>
      </p:sp>
      <p:sp>
        <p:nvSpPr>
          <p:cNvPr id="35" name="Shape 31"/>
          <p:cNvSpPr/>
          <p:nvPr/>
        </p:nvSpPr>
        <p:spPr>
          <a:xfrm>
            <a:off x="6053328" y="5074920"/>
            <a:ext cx="457200" cy="32004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18304" y="5440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Cantidad de residuos</a:t>
            </a:r>
            <a:endParaRPr lang="en-US" sz="1220" dirty="0"/>
          </a:p>
        </p:txBody>
      </p:sp>
      <p:sp>
        <p:nvSpPr>
          <p:cNvPr id="37" name="Text 33"/>
          <p:cNvSpPr/>
          <p:nvPr/>
        </p:nvSpPr>
        <p:spPr>
          <a:xfrm>
            <a:off x="6940296" y="5330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unid.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8302752" y="4919472"/>
            <a:ext cx="32186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503920" y="511149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65" kern="0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TAPA CERRADA</a:t>
            </a:r>
            <a:endParaRPr lang="en-US" sz="870" dirty="0"/>
          </a:p>
        </p:txBody>
      </p:sp>
      <p:sp>
        <p:nvSpPr>
          <p:cNvPr id="40" name="Shape 36"/>
          <p:cNvSpPr/>
          <p:nvPr/>
        </p:nvSpPr>
        <p:spPr>
          <a:xfrm>
            <a:off x="9838944" y="5074920"/>
            <a:ext cx="457200" cy="320040"/>
          </a:xfrm>
          <a:prstGeom prst="chevron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503920" y="5440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 la tapa</a:t>
            </a:r>
            <a:endParaRPr lang="en-US" sz="1220" dirty="0"/>
          </a:p>
        </p:txBody>
      </p:sp>
      <p:sp>
        <p:nvSpPr>
          <p:cNvPr id="42" name="Text 38"/>
          <p:cNvSpPr/>
          <p:nvPr/>
        </p:nvSpPr>
        <p:spPr>
          <a:xfrm>
            <a:off x="10725912" y="5330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/ C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4389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INTELIGENTE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944" y="80467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variable bien probada vale más</a:t>
            </a:r>
            <a:endParaRPr lang="en-US" sz="2850" dirty="0"/>
          </a:p>
          <a:p>
            <a:pPr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cuatro a medias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13232" y="17739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foco hace que el MVP sea construible, explicable y demostrable.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59536" y="2103120"/>
            <a:ext cx="3657600" cy="365760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984248"/>
            <a:ext cx="363931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7300" dirty="0"/>
          </a:p>
        </p:txBody>
      </p:sp>
      <p:sp>
        <p:nvSpPr>
          <p:cNvPr id="11" name="Text 8"/>
          <p:cNvSpPr/>
          <p:nvPr/>
        </p:nvSpPr>
        <p:spPr>
          <a:xfrm>
            <a:off x="1353312" y="450799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spc="80" kern="0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 PRINCIPAL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207008" y="495604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12848" y="495604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18688" y="495604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17720" y="3136392"/>
            <a:ext cx="932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5600" dirty="0"/>
          </a:p>
        </p:txBody>
      </p:sp>
      <p:sp>
        <p:nvSpPr>
          <p:cNvPr id="16" name="Shape 13"/>
          <p:cNvSpPr/>
          <p:nvPr/>
        </p:nvSpPr>
        <p:spPr>
          <a:xfrm>
            <a:off x="5715000" y="2212848"/>
            <a:ext cx="1444752" cy="1444752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24144" y="210312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97880" y="32004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LUZ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53528" y="2212848"/>
            <a:ext cx="1444752" cy="1444752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62672" y="210312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36408" y="32004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HUMEDAD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15000" y="3968496"/>
            <a:ext cx="1444752" cy="1444752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24144" y="385876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897880" y="49560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SONIDO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53528" y="3968496"/>
            <a:ext cx="1444752" cy="1444752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62672" y="385876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836408" y="495604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0" y="2084832"/>
            <a:ext cx="3749040" cy="349300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5486400" y="2084832"/>
            <a:ext cx="3749040" cy="349300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41264" y="57058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spc="70" kern="0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MEDIDAS A MEDIAS</a:t>
            </a:r>
            <a:endParaRPr lang="en-US" sz="1320" dirty="0"/>
          </a:p>
        </p:txBody>
      </p:sp>
      <p:sp>
        <p:nvSpPr>
          <p:cNvPr id="31" name="Shape 28"/>
          <p:cNvSpPr/>
          <p:nvPr/>
        </p:nvSpPr>
        <p:spPr>
          <a:xfrm>
            <a:off x="9528048" y="2121408"/>
            <a:ext cx="1975104" cy="376732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30384" y="245059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9793224" y="332841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SEGUNDA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 SOLO SI…</a:t>
            </a:r>
            <a:endParaRPr lang="en-US" sz="1280" dirty="0"/>
          </a:p>
        </p:txBody>
      </p:sp>
      <p:sp>
        <p:nvSpPr>
          <p:cNvPr id="34" name="Text 31"/>
          <p:cNvSpPr/>
          <p:nvPr/>
        </p:nvSpPr>
        <p:spPr>
          <a:xfrm>
            <a:off x="9811512" y="4160520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tomar una decisión que la primera no permite.</a:t>
            </a:r>
            <a:endParaRPr lang="en-US" sz="1110" dirty="0"/>
          </a:p>
        </p:txBody>
      </p:sp>
      <p:sp>
        <p:nvSpPr>
          <p:cNvPr id="35" name="Shape 32"/>
          <p:cNvSpPr/>
          <p:nvPr/>
        </p:nvSpPr>
        <p:spPr>
          <a:xfrm>
            <a:off x="9784080" y="5102352"/>
            <a:ext cx="1463040" cy="438912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902952" y="523951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spc="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NO, QUEDA FUERA</a:t>
            </a:r>
            <a:endParaRPr lang="en-US" sz="810" dirty="0"/>
          </a:p>
        </p:txBody>
      </p:sp>
      <p:sp>
        <p:nvSpPr>
          <p:cNvPr id="37" name="Text 34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DECISIÓN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sensor se elige después de la variable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ejemplo GeoGreen: una necesidad se convierte en un dato y recién entonces en una pieza.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81328" y="2414016"/>
            <a:ext cx="9125712" cy="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572768" y="2039112"/>
            <a:ext cx="749808" cy="74980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81912" y="20482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" y="28529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4672" y="5266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necesita cambiar?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4892040" y="2039112"/>
            <a:ext cx="749808" cy="74980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01184" y="20482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069080" y="28529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123944" y="5266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 lo representa?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8211312" y="2039112"/>
            <a:ext cx="749808" cy="7498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0456" y="20482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88352" y="28529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443216" y="5266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pieza produce ese dato?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749808" y="3273552"/>
            <a:ext cx="2395728" cy="1737360"/>
          </a:xfrm>
          <a:prstGeom prst="roundRect">
            <a:avLst>
              <a:gd name="adj" fmla="val 315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0704" y="3703320"/>
            <a:ext cx="658368" cy="841248"/>
          </a:xfrm>
          <a:prstGeom prst="rect">
            <a:avLst/>
          </a:prstGeom>
          <a:solidFill>
            <a:srgbClr val="5F6B7A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215384"/>
            <a:ext cx="658368" cy="329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56232" y="36667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5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DESBORDE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1847088" y="39959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hay margen</a:t>
            </a:r>
            <a:endParaRPr lang="en-US" sz="1230" dirty="0"/>
          </a:p>
          <a:p>
            <a:pPr indent="0" marL="0">
              <a:buNone/>
            </a:pPr>
            <a:r>
              <a:rPr lang="en-US" sz="123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retirar.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4069080" y="3273552"/>
            <a:ext cx="2395728" cy="1737360"/>
          </a:xfrm>
          <a:prstGeom prst="roundRect">
            <a:avLst>
              <a:gd name="adj" fmla="val 3158"/>
            </a:avLst>
          </a:prstGeom>
          <a:solidFill>
            <a:srgbClr val="DDF4F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70832" y="360273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DISTANCIA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754880" y="3995928"/>
            <a:ext cx="1024128" cy="384048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61688" y="45628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 DE LLENADO</a:t>
            </a:r>
            <a:endParaRPr lang="en-US" sz="1240" dirty="0"/>
          </a:p>
        </p:txBody>
      </p:sp>
      <p:sp>
        <p:nvSpPr>
          <p:cNvPr id="33" name="Shape 30"/>
          <p:cNvSpPr/>
          <p:nvPr/>
        </p:nvSpPr>
        <p:spPr>
          <a:xfrm>
            <a:off x="7388352" y="3273552"/>
            <a:ext cx="3401568" cy="1737360"/>
          </a:xfrm>
          <a:prstGeom prst="roundRect">
            <a:avLst>
              <a:gd name="adj" fmla="val 3158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34" name="Image 1" descr="C:\Users\Diego Obando\dev\proyecto-01-aiep-geogreen\banco-ideas\assets\hc-sr0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511296"/>
            <a:ext cx="1225296" cy="12252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125712" y="359359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HC-SR04</a:t>
            </a:r>
            <a:endParaRPr lang="en-US" sz="1650" dirty="0"/>
          </a:p>
        </p:txBody>
      </p:sp>
      <p:sp>
        <p:nvSpPr>
          <p:cNvPr id="36" name="Text 32"/>
          <p:cNvSpPr/>
          <p:nvPr/>
        </p:nvSpPr>
        <p:spPr>
          <a:xfrm>
            <a:off x="9125712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distancia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tocar el contenido.</a:t>
            </a:r>
            <a:endParaRPr lang="en-US" sz="1130" dirty="0"/>
          </a:p>
        </p:txBody>
      </p:sp>
      <p:sp>
        <p:nvSpPr>
          <p:cNvPr id="37" name="Shape 33"/>
          <p:cNvSpPr/>
          <p:nvPr/>
        </p:nvSpPr>
        <p:spPr>
          <a:xfrm>
            <a:off x="10954512" y="3273552"/>
            <a:ext cx="493776" cy="1737360"/>
          </a:xfrm>
          <a:prstGeom prst="roundRect">
            <a:avLst>
              <a:gd name="adj" fmla="val 925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1018520" y="3575304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EMPIECEN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</a:t>
            </a:r>
            <a:endParaRPr lang="en-US" sz="780" dirty="0"/>
          </a:p>
        </p:txBody>
      </p:sp>
      <p:sp>
        <p:nvSpPr>
          <p:cNvPr id="39" name="Shape 35"/>
          <p:cNvSpPr/>
          <p:nvPr/>
        </p:nvSpPr>
        <p:spPr>
          <a:xfrm>
            <a:off x="1261872" y="5687568"/>
            <a:ext cx="9656064" cy="502920"/>
          </a:xfrm>
          <a:prstGeom prst="roundRect">
            <a:avLst>
              <a:gd name="adj" fmla="val 7273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627632" y="5824728"/>
            <a:ext cx="8924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→ variable → sensor. Si invierten el orden, la pieza empieza a mandar sobre la idea.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SENSORES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Siete formas de observar el mundo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Elijan por lo que necesitan medir; el código del módulo viene después.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" y="1847088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12" name="Image 1" descr="C:\Users\Diego Obando\dev\proyecto-01-aiep-geogreen\banco-ideas\assets\hc-sr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56816"/>
            <a:ext cx="1207008" cy="12070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3255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DISTANCIA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1197864" y="35478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4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34440" y="360273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HC-SR04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2761488" y="1847088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17" name="Image 2" descr="C:\Users\Diego Obando\dev\proyecto-01-aiep-geogreen\banco-ideas\assets\ky-0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956816"/>
            <a:ext cx="1207008" cy="1207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71216" y="3255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AIRE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3264408" y="35478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>
                <a:alpha val="45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00984" y="360273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KY-015</a:t>
            </a:r>
            <a:endParaRPr lang="en-US" sz="780" dirty="0"/>
          </a:p>
        </p:txBody>
      </p:sp>
      <p:sp>
        <p:nvSpPr>
          <p:cNvPr id="21" name="Shape 16"/>
          <p:cNvSpPr/>
          <p:nvPr/>
        </p:nvSpPr>
        <p:spPr>
          <a:xfrm>
            <a:off x="4828032" y="1847088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22" name="Image 3" descr="C:\Users\Diego Obando\dev\proyecto-01-aiep-geogreen\banco-ideas\assets\ky-00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956816"/>
            <a:ext cx="1207008" cy="12070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3255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TEMPERATURA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330952" y="35478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E0BC5A">
              <a:alpha val="80000"/>
            </a:srgbClr>
          </a:solidFill>
          <a:ln w="12700">
            <a:solidFill>
              <a:srgbClr val="E0BC5A">
                <a:alpha val="45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367528" y="360273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KY-001</a:t>
            </a:r>
            <a:endParaRPr lang="en-US" sz="780" dirty="0"/>
          </a:p>
        </p:txBody>
      </p:sp>
      <p:sp>
        <p:nvSpPr>
          <p:cNvPr id="26" name="Shape 20"/>
          <p:cNvSpPr/>
          <p:nvPr/>
        </p:nvSpPr>
        <p:spPr>
          <a:xfrm>
            <a:off x="6894576" y="1847088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27" name="Image 4" descr="C:\Users\Diego Obando\dev\proyecto-01-aiep-geogreen\banco-ideas\assets\ky-01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956816"/>
            <a:ext cx="1207008" cy="12070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04304" y="3255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LUZ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397496" y="35478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2E8B57">
              <a:alpha val="12000"/>
            </a:srgbClr>
          </a:solidFill>
          <a:ln w="12700">
            <a:solidFill>
              <a:srgbClr val="2E8B57">
                <a:alpha val="4500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434072" y="360273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KY-018</a:t>
            </a:r>
            <a:endParaRPr lang="en-US" sz="780" dirty="0"/>
          </a:p>
        </p:txBody>
      </p:sp>
      <p:sp>
        <p:nvSpPr>
          <p:cNvPr id="31" name="Shape 24"/>
          <p:cNvSpPr/>
          <p:nvPr/>
        </p:nvSpPr>
        <p:spPr>
          <a:xfrm>
            <a:off x="8961120" y="1847088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1D4E89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32" name="Image 5" descr="C:\Users\Diego Obando\dev\proyecto-01-aiep-geogreen\banco-ideas\assets\soil-moistur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2048256"/>
            <a:ext cx="1536192" cy="10241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0848" y="3255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TIERRA</a:t>
            </a:r>
            <a:endParaRPr lang="en-US" sz="1080" dirty="0"/>
          </a:p>
        </p:txBody>
      </p:sp>
      <p:sp>
        <p:nvSpPr>
          <p:cNvPr id="34" name="Shape 26"/>
          <p:cNvSpPr/>
          <p:nvPr/>
        </p:nvSpPr>
        <p:spPr>
          <a:xfrm>
            <a:off x="9464040" y="354787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1D4E89">
              <a:alpha val="12000"/>
            </a:srgbClr>
          </a:solidFill>
          <a:ln w="12700">
            <a:solidFill>
              <a:srgbClr val="1D4E89">
                <a:alpha val="45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500616" y="360273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D4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</a:t>
            </a:r>
            <a:endParaRPr lang="en-US" sz="780" dirty="0"/>
          </a:p>
        </p:txBody>
      </p:sp>
      <p:sp>
        <p:nvSpPr>
          <p:cNvPr id="36" name="Shape 28"/>
          <p:cNvSpPr/>
          <p:nvPr/>
        </p:nvSpPr>
        <p:spPr>
          <a:xfrm>
            <a:off x="2761488" y="4142232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37" name="Image 6" descr="C:\Users\Diego Obando\dev\proyecto-01-aiep-geogreen\banco-ideas\assets\water-leve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2" y="4416552"/>
            <a:ext cx="1536192" cy="8778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871216" y="5550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 DE AGUA</a:t>
            </a:r>
            <a:endParaRPr lang="en-US" sz="880" dirty="0"/>
          </a:p>
        </p:txBody>
      </p:sp>
      <p:sp>
        <p:nvSpPr>
          <p:cNvPr id="39" name="Shape 30"/>
          <p:cNvSpPr/>
          <p:nvPr/>
        </p:nvSpPr>
        <p:spPr>
          <a:xfrm>
            <a:off x="3264408" y="5843016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>
                <a:alpha val="4500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300984" y="589788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780" dirty="0"/>
          </a:p>
        </p:txBody>
      </p:sp>
      <p:sp>
        <p:nvSpPr>
          <p:cNvPr id="41" name="Shape 32"/>
          <p:cNvSpPr/>
          <p:nvPr/>
        </p:nvSpPr>
        <p:spPr>
          <a:xfrm>
            <a:off x="6894576" y="4142232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  <a:effectLst>
            <a:outerShdw sx="100000" sy="100000" kx="0" ky="0" algn="bl" rotWithShape="0" blurRad="15240" dist="50800" dir="2700000">
              <a:srgbClr val="7A8794">
                <a:alpha val="12000"/>
              </a:srgbClr>
            </a:outerShdw>
          </a:effectLst>
        </p:spPr>
      </p:sp>
      <p:pic>
        <p:nvPicPr>
          <p:cNvPr id="42" name="Image 7" descr="C:\Users\Diego Obando\dev\proyecto-01-aiep-geogreen\banco-ideas\assets\ky-021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2" y="4251960"/>
            <a:ext cx="1207008" cy="12070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04304" y="55504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ABIERTO / CERRADO</a:t>
            </a:r>
            <a:endParaRPr lang="en-US" sz="880" dirty="0"/>
          </a:p>
        </p:txBody>
      </p:sp>
      <p:sp>
        <p:nvSpPr>
          <p:cNvPr id="44" name="Shape 34"/>
          <p:cNvSpPr/>
          <p:nvPr/>
        </p:nvSpPr>
        <p:spPr>
          <a:xfrm>
            <a:off x="7397496" y="5843016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45000"/>
              </a:srgbClr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7434072" y="589788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KY-021</a:t>
            </a:r>
            <a:endParaRPr lang="en-US" sz="780" dirty="0"/>
          </a:p>
        </p:txBody>
      </p:sp>
      <p:sp>
        <p:nvSpPr>
          <p:cNvPr id="46" name="Shape 36"/>
          <p:cNvSpPr/>
          <p:nvPr/>
        </p:nvSpPr>
        <p:spPr>
          <a:xfrm>
            <a:off x="4828032" y="4142232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082B5C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5138928" y="448056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: 1</a:t>
            </a:r>
            <a:endParaRPr lang="en-US" sz="2800" dirty="0"/>
          </a:p>
        </p:txBody>
      </p:sp>
      <p:sp>
        <p:nvSpPr>
          <p:cNvPr id="48" name="Text 38"/>
          <p:cNvSpPr/>
          <p:nvPr/>
        </p:nvSpPr>
        <p:spPr>
          <a:xfrm>
            <a:off x="5020056" y="51755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VARIABLE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SENSOR PRINCIPAL</a:t>
            </a:r>
            <a:endParaRPr lang="en-US" sz="1130" dirty="0"/>
          </a:p>
        </p:txBody>
      </p:sp>
      <p:sp>
        <p:nvSpPr>
          <p:cNvPr id="49" name="Text 39"/>
          <p:cNvSpPr/>
          <p:nvPr/>
        </p:nvSpPr>
        <p:spPr>
          <a:xfrm>
            <a:off x="5084064" y="58247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MÍNIMA</a:t>
            </a:r>
            <a:endParaRPr lang="en-US" sz="820" dirty="0"/>
          </a:p>
        </p:txBody>
      </p:sp>
      <p:sp>
        <p:nvSpPr>
          <p:cNvPr id="50" name="Shape 40"/>
          <p:cNvSpPr/>
          <p:nvPr/>
        </p:nvSpPr>
        <p:spPr>
          <a:xfrm>
            <a:off x="713232" y="4142232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950976" y="4517136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¿NO ESTÁ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AQUÍ?</a:t>
            </a:r>
            <a:endParaRPr lang="en-US" sz="1800" dirty="0"/>
          </a:p>
        </p:txBody>
      </p:sp>
      <p:sp>
        <p:nvSpPr>
          <p:cNvPr id="52" name="Text 42"/>
          <p:cNvSpPr/>
          <p:nvPr/>
        </p:nvSpPr>
        <p:spPr>
          <a:xfrm>
            <a:off x="923544" y="533095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kit tiene más opciones. La exigencia es justificar la elección.</a:t>
            </a:r>
            <a:endParaRPr lang="en-US" sz="970" dirty="0"/>
          </a:p>
        </p:txBody>
      </p:sp>
      <p:sp>
        <p:nvSpPr>
          <p:cNvPr id="53" name="Shape 43"/>
          <p:cNvSpPr/>
          <p:nvPr/>
        </p:nvSpPr>
        <p:spPr>
          <a:xfrm>
            <a:off x="8961120" y="4142232"/>
            <a:ext cx="1828800" cy="1993392"/>
          </a:xfrm>
          <a:prstGeom prst="roundRect">
            <a:avLst>
              <a:gd name="adj" fmla="val 250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9208008" y="4489704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DECISIVA</a:t>
            </a:r>
            <a:endParaRPr lang="en-US" sz="1420" dirty="0"/>
          </a:p>
        </p:txBody>
      </p:sp>
      <p:sp>
        <p:nvSpPr>
          <p:cNvPr id="55" name="Text 45"/>
          <p:cNvSpPr/>
          <p:nvPr/>
        </p:nvSpPr>
        <p:spPr>
          <a:xfrm>
            <a:off x="9180576" y="517550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nuestra regla cumple este sensor?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no basta: el sistema debe hacer algo perceptible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convierte el dato en una acción que otra persona puede notar.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74520"/>
            <a:ext cx="3182112" cy="389534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874520"/>
            <a:ext cx="164592" cy="38953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3" name="Image 1" descr="C:\Users\Diego Obando\dev\proyecto-01-aiep-geogreen\banco-ideas\assets\ky-01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84832"/>
            <a:ext cx="1682496" cy="16824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389534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2615184" y="3886200"/>
            <a:ext cx="932688" cy="292608"/>
          </a:xfrm>
          <a:prstGeom prst="roundRect">
            <a:avLst>
              <a:gd name="adj" fmla="val 9375"/>
            </a:avLst>
          </a:prstGeom>
          <a:solidFill>
            <a:srgbClr val="2E8B57">
              <a:alpha val="12000"/>
            </a:srgbClr>
          </a:solidFill>
          <a:ln w="12700">
            <a:solidFill>
              <a:srgbClr val="2E8B57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88336" y="3968496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VE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1115568" y="43891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Luz de colores · KY-011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1115568" y="4791456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 un estado a distancia: normal, atención o crítico.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4251960" y="1874520"/>
            <a:ext cx="3182112" cy="389534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51960" y="1874520"/>
            <a:ext cx="164592" cy="3895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21" name="Image 2" descr="C:\Users\Diego Obando\dev\proyecto-01-aiep-geogreen\banco-ideas\assets\ky-0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084832"/>
            <a:ext cx="1682496" cy="16824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54296" y="389534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OÍR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6153912" y="3886200"/>
            <a:ext cx="932688" cy="292608"/>
          </a:xfrm>
          <a:prstGeom prst="roundRect">
            <a:avLst>
              <a:gd name="adj" fmla="val 9375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5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27064" y="3968496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OYE</a:t>
            </a:r>
            <a:endParaRPr lang="en-US" sz="780" dirty="0"/>
          </a:p>
        </p:txBody>
      </p:sp>
      <p:sp>
        <p:nvSpPr>
          <p:cNvPr id="25" name="Text 20"/>
          <p:cNvSpPr/>
          <p:nvPr/>
        </p:nvSpPr>
        <p:spPr>
          <a:xfrm>
            <a:off x="4654296" y="43891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Zumbador · KY-012</a:t>
            </a:r>
            <a:endParaRPr lang="en-US" sz="1220" dirty="0"/>
          </a:p>
        </p:txBody>
      </p:sp>
      <p:sp>
        <p:nvSpPr>
          <p:cNvPr id="26" name="Text 21"/>
          <p:cNvSpPr/>
          <p:nvPr/>
        </p:nvSpPr>
        <p:spPr>
          <a:xfrm>
            <a:off x="4654296" y="4791456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 la atención cuando ocurre una condición urgente.</a:t>
            </a:r>
            <a:endParaRPr lang="en-US" sz="1130" dirty="0"/>
          </a:p>
        </p:txBody>
      </p:sp>
      <p:sp>
        <p:nvSpPr>
          <p:cNvPr id="27" name="Shape 22"/>
          <p:cNvSpPr/>
          <p:nvPr/>
        </p:nvSpPr>
        <p:spPr>
          <a:xfrm>
            <a:off x="7790688" y="1874520"/>
            <a:ext cx="3182112" cy="389534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790688" y="1874520"/>
            <a:ext cx="164592" cy="3895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29" name="Image 3" descr="C:\Users\Diego Obando\dev\proyecto-01-aiep-geogreen\banco-ideas\assets\ky-01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2084832"/>
            <a:ext cx="1682496" cy="16824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193024" y="389534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ACTUAR</a:t>
            </a:r>
            <a:endParaRPr lang="en-US" sz="2100" dirty="0"/>
          </a:p>
        </p:txBody>
      </p:sp>
      <p:sp>
        <p:nvSpPr>
          <p:cNvPr id="31" name="Shape 25"/>
          <p:cNvSpPr/>
          <p:nvPr/>
        </p:nvSpPr>
        <p:spPr>
          <a:xfrm>
            <a:off x="9692640" y="3886200"/>
            <a:ext cx="932688" cy="292608"/>
          </a:xfrm>
          <a:prstGeom prst="roundRect">
            <a:avLst>
              <a:gd name="adj" fmla="val 9375"/>
            </a:avLst>
          </a:prstGeom>
          <a:solidFill>
            <a:srgbClr val="E0BC5A">
              <a:alpha val="85000"/>
            </a:srgbClr>
          </a:solidFill>
          <a:ln w="12700">
            <a:solidFill>
              <a:srgbClr val="E0BC5A">
                <a:alpha val="5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765792" y="3968496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ACTIVA</a:t>
            </a:r>
            <a:endParaRPr lang="en-US" sz="780" dirty="0"/>
          </a:p>
        </p:txBody>
      </p:sp>
      <p:sp>
        <p:nvSpPr>
          <p:cNvPr id="33" name="Text 27"/>
          <p:cNvSpPr/>
          <p:nvPr/>
        </p:nvSpPr>
        <p:spPr>
          <a:xfrm>
            <a:off x="8193024" y="43891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Relé · KY-019</a:t>
            </a:r>
            <a:endParaRPr lang="en-US" sz="1220" dirty="0"/>
          </a:p>
        </p:txBody>
      </p:sp>
      <p:sp>
        <p:nvSpPr>
          <p:cNvPr id="34" name="Text 28"/>
          <p:cNvSpPr/>
          <p:nvPr/>
        </p:nvSpPr>
        <p:spPr>
          <a:xfrm>
            <a:off x="8193024" y="4791456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activar otro dispositivo con supervisión docente.</a:t>
            </a:r>
            <a:endParaRPr lang="en-US" sz="1130" dirty="0"/>
          </a:p>
        </p:txBody>
      </p:sp>
      <p:sp>
        <p:nvSpPr>
          <p:cNvPr id="35" name="Text 29"/>
          <p:cNvSpPr/>
          <p:nvPr/>
        </p:nvSpPr>
        <p:spPr>
          <a:xfrm>
            <a:off x="8193024" y="54041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 con revisión antes de energizar.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353312" y="5961888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salida sirve cuando la persona correcta la percibe y sabe qué hacer.</a:t>
            </a:r>
            <a:endParaRPr lang="en-US" sz="15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TECNOLOGÍA NUEVA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dominar un componente desconocido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reduce la incertidumbre. Después se toca el hardware.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28800"/>
            <a:ext cx="10753344" cy="1783080"/>
          </a:xfrm>
          <a:prstGeom prst="roundRect">
            <a:avLst>
              <a:gd name="adj" fmla="val 3077"/>
            </a:avLst>
          </a:prstGeom>
          <a:solidFill>
            <a:srgbClr val="E9EE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CONECTAR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07792" y="2176272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16936" y="2185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30752" y="218541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IDENTIFICAR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30752" y="2578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 exacta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5212080" y="2267712"/>
            <a:ext cx="329184" cy="41148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50992" y="2176272"/>
            <a:ext cx="658368" cy="65836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0136" y="2185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73952" y="218541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REDUCIR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73952" y="2578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 · voltaje · cables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955280" y="2267712"/>
            <a:ext cx="329184" cy="411480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94192" y="2176272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03336" y="2185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17152" y="218541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217152" y="2578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+ placa + objetivo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987552" y="2505456"/>
            <a:ext cx="1481328" cy="640080"/>
          </a:xfrm>
          <a:prstGeom prst="roundRect">
            <a:avLst>
              <a:gd name="adj" fmla="val 7143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9576" y="26609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DATOS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 SUFICIENTES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5468112" y="3657600"/>
            <a:ext cx="1097280" cy="603504"/>
          </a:xfrm>
          <a:prstGeom prst="downArrow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" y="4160520"/>
            <a:ext cx="10753344" cy="1691640"/>
          </a:xfrm>
          <a:prstGeom prst="roundRect">
            <a:avLst>
              <a:gd name="adj" fmla="val 3243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5840" y="4453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COMPONENTE REAL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703320" y="4443984"/>
            <a:ext cx="713232" cy="71323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12464" y="4453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99432" y="444398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599432" y="48463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solo → lectura visible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6748272" y="4572000"/>
            <a:ext cx="384048" cy="475488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15200" y="4443984"/>
            <a:ext cx="713232" cy="713232"/>
          </a:xfrm>
          <a:prstGeom prst="ellipse">
            <a:avLst/>
          </a:prstGeom>
          <a:solidFill>
            <a:srgbClr val="1D4E8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24344" y="4453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11312" y="444398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CONTRASTAR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211312" y="48463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mundo → cambia el dato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1024128" y="32644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 CON INFORMACIÓN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796528" y="555955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LENTO CON ELECTRICIDAD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444752" y="6071616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método se repite con sensores, pantallas, software y herramientas nuevas.</a:t>
            </a:r>
            <a:endParaRPr lang="en-US" sz="12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MÍNIMA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del proyecto completo: hagan aparecer un número que reaccione</a:t>
            </a:r>
            <a:endParaRPr lang="en-US" sz="248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+ placa + lectura. Nada más.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" y="1874520"/>
            <a:ext cx="3035808" cy="3749040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pic>
        <p:nvPicPr>
          <p:cNvPr id="12" name="Image 1" descr="C:\Users\Diego Obando\dev\proyecto-01-aiep-geogreen\banco-ideas\assets\hc-sr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267712"/>
            <a:ext cx="1938528" cy="19385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43616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HC-SR04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133856" y="479145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el sensor conectado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3858768" y="3127248"/>
            <a:ext cx="914400" cy="694944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37760" y="1874520"/>
            <a:ext cx="2999232" cy="3749040"/>
          </a:xfrm>
          <a:prstGeom prst="roundRect">
            <a:avLst>
              <a:gd name="adj" fmla="val 1829"/>
            </a:avLst>
          </a:prstGeom>
          <a:solidFill>
            <a:srgbClr val="031D3B"/>
          </a:solidFill>
          <a:ln w="12700">
            <a:solidFill>
              <a:srgbClr val="031D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874520"/>
            <a:ext cx="2999232" cy="438912"/>
          </a:xfrm>
          <a:prstGeom prst="rect">
            <a:avLst/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93792" y="201168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DEL SENSOR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257800" y="27157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532120" y="26700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cm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6510528" y="274320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mano lejos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257800" y="34564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532120" y="34107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cm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6510528" y="348386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mano al medio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257800" y="41970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532120" y="415137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cm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6510528" y="422452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mano cerca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257800" y="49560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DATO CAMBIA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EL MUNDO REAL</a:t>
            </a:r>
            <a:endParaRPr lang="en-US" sz="1180" dirty="0"/>
          </a:p>
        </p:txBody>
      </p:sp>
      <p:sp>
        <p:nvSpPr>
          <p:cNvPr id="29" name="Shape 25"/>
          <p:cNvSpPr/>
          <p:nvPr/>
        </p:nvSpPr>
        <p:spPr>
          <a:xfrm>
            <a:off x="8083296" y="3127248"/>
            <a:ext cx="914400" cy="694944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162288" y="1874520"/>
            <a:ext cx="2304288" cy="3749040"/>
          </a:xfrm>
          <a:prstGeom prst="roundRect">
            <a:avLst>
              <a:gd name="adj" fmla="val 2381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02368" y="237744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4700" dirty="0"/>
          </a:p>
        </p:txBody>
      </p:sp>
      <p:sp>
        <p:nvSpPr>
          <p:cNvPr id="32" name="Text 28"/>
          <p:cNvSpPr/>
          <p:nvPr/>
        </p:nvSpPr>
        <p:spPr>
          <a:xfrm>
            <a:off x="9436608" y="354787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 PUEDEN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ENCIMA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9454896" y="44988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Recién ahora agregan luces, alarmas, panel o carcasa.</a:t>
            </a:r>
            <a:endParaRPr lang="en-US" sz="1080" dirty="0"/>
          </a:p>
        </p:txBody>
      </p:sp>
      <p:sp>
        <p:nvSpPr>
          <p:cNvPr id="34" name="Text 30"/>
          <p:cNvSpPr/>
          <p:nvPr/>
        </p:nvSpPr>
        <p:spPr>
          <a:xfrm>
            <a:off x="1645920" y="594360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dato no reacciona, detenerse aquí es avanzar.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420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NO FUNCIONA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944" y="80467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puertas antes de culpar al código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13232" y="14447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pasan a la siguiente cuando la anterior está comprobada.</a:t>
            </a:r>
            <a:endParaRPr lang="en-US" sz="1430" dirty="0"/>
          </a:p>
        </p:txBody>
      </p:sp>
      <p:sp>
        <p:nvSpPr>
          <p:cNvPr id="9" name="Shape 6"/>
          <p:cNvSpPr/>
          <p:nvPr/>
        </p:nvSpPr>
        <p:spPr>
          <a:xfrm>
            <a:off x="713232" y="2121408"/>
            <a:ext cx="2926080" cy="3529584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7360" y="2423160"/>
            <a:ext cx="877824" cy="8778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46504" y="243230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349300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ENERGÍA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60704" y="4069080"/>
            <a:ext cx="182880" cy="1828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40507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placa enciende?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060704" y="4526280"/>
            <a:ext cx="182880" cy="1828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4507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voltaje corresponde?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060704" y="5093208"/>
            <a:ext cx="2231136" cy="347472"/>
          </a:xfrm>
          <a:prstGeom prst="roundRect">
            <a:avLst>
              <a:gd name="adj" fmla="val 10526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7864" y="519379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ALIMENTACIÓN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3730752" y="3547872"/>
            <a:ext cx="329184" cy="53035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94176" y="41970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4160520" y="2121408"/>
            <a:ext cx="2926080" cy="3529584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84648" y="2423160"/>
            <a:ext cx="877824" cy="8778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93792" y="243230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44568" y="349300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CABLES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4507992" y="4069080"/>
            <a:ext cx="182880" cy="1828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18888" y="40507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¿Cada cable está bien?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4507992" y="4526280"/>
            <a:ext cx="182880" cy="1828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18888" y="4507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polaridad y tierra común?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4507992" y="5093208"/>
            <a:ext cx="2231136" cy="347472"/>
          </a:xfrm>
          <a:prstGeom prst="roundRect">
            <a:avLst>
              <a:gd name="adj" fmla="val 10526"/>
            </a:avLst>
          </a:prstGeom>
          <a:solidFill>
            <a:srgbClr val="E0BC5A">
              <a:alpha val="88000"/>
            </a:srgbClr>
          </a:solidFill>
          <a:ln w="12700">
            <a:solidFill>
              <a:srgbClr val="E0BC5A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45152" y="519379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45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MONTAJE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178040" y="3547872"/>
            <a:ext cx="329184" cy="53035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41464" y="41970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7607808" y="2121408"/>
            <a:ext cx="2926080" cy="3529584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31936" y="2423160"/>
            <a:ext cx="877824" cy="877824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41080" y="2432304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991856" y="349300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</a:t>
            </a:r>
            <a:endParaRPr lang="en-US" sz="1900" dirty="0"/>
          </a:p>
        </p:txBody>
      </p:sp>
      <p:sp>
        <p:nvSpPr>
          <p:cNvPr id="37" name="Shape 34"/>
          <p:cNvSpPr/>
          <p:nvPr/>
        </p:nvSpPr>
        <p:spPr>
          <a:xfrm>
            <a:off x="7955280" y="4069080"/>
            <a:ext cx="182880" cy="18288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66176" y="40507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pin coincide?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7955280" y="4526280"/>
            <a:ext cx="182880" cy="18288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66176" y="450799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lectura usa el módulo real?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7955280" y="5093208"/>
            <a:ext cx="2231136" cy="347472"/>
          </a:xfrm>
          <a:prstGeom prst="roundRect">
            <a:avLst>
              <a:gd name="adj" fmla="val 10526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>
                <a:alpha val="5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092440" y="5193792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4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LÓGICA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1243584" y="5888736"/>
            <a:ext cx="9692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609344" y="6016752"/>
            <a:ext cx="89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energizar: etiqueta real + voltaje + polaridad + revisión del montaje.</a:t>
            </a:r>
            <a:endParaRPr lang="en-US" sz="1310" dirty="0"/>
          </a:p>
        </p:txBody>
      </p:sp>
      <p:sp>
        <p:nvSpPr>
          <p:cNvPr id="45" name="Text 42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DE DECISIÓN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8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umbral es la frontera que activa una respuesta</a:t>
            </a:r>
            <a:endParaRPr lang="en-US" sz="258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describe solamente el dato: define cuándo alguien necesita enterarse.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0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786384" y="2487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 de llenado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2960" y="39227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71632" y="39227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60704" y="3218688"/>
            <a:ext cx="3931920" cy="676656"/>
          </a:xfrm>
          <a:prstGeom prst="roundRect">
            <a:avLst>
              <a:gd name="adj" fmla="val 675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92624" y="3218688"/>
            <a:ext cx="3611880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04504" y="3218688"/>
            <a:ext cx="2532888" cy="676656"/>
          </a:xfrm>
          <a:prstGeom prst="roundRect">
            <a:avLst>
              <a:gd name="adj" fmla="val 675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67712" y="34381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998464" y="34381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098280" y="343814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992624" y="2505456"/>
            <a:ext cx="0" cy="1773936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64024" y="2432304"/>
            <a:ext cx="457200" cy="502920"/>
          </a:xfrm>
          <a:prstGeom prst="down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81144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40 %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604504" y="2505456"/>
            <a:ext cx="0" cy="1773936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75904" y="2432304"/>
            <a:ext cx="457200" cy="502920"/>
          </a:xfrm>
          <a:prstGeom prst="downArrow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80 %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42416" y="4690872"/>
            <a:ext cx="10094976" cy="1024128"/>
          </a:xfrm>
          <a:prstGeom prst="roundRect">
            <a:avLst>
              <a:gd name="adj" fmla="val 4464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71600" y="496519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624328" y="486460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frontera que cambia la decisión del sistema.</a:t>
            </a:r>
            <a:endParaRPr lang="en-US" sz="1620" dirty="0"/>
          </a:p>
        </p:txBody>
      </p:sp>
      <p:sp>
        <p:nvSpPr>
          <p:cNvPr id="30" name="Text 27"/>
          <p:cNvSpPr/>
          <p:nvPr/>
        </p:nvSpPr>
        <p:spPr>
          <a:xfrm>
            <a:off x="6574536" y="4828032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no es solo “¿cuánto marca?”.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“¿qué hacemos desde aquí?”.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1536192" y="5971032"/>
            <a:ext cx="9125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número sin una acción asociada todavía no es una regla.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VERIFICABLE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caminos para justificar un umbral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fuente del número debe poder mostrarse, explicarse o comprobarse.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55464" y="2414016"/>
            <a:ext cx="2468880" cy="2468880"/>
          </a:xfrm>
          <a:prstGeom prst="ellipse">
            <a:avLst/>
          </a:prstGeom>
          <a:solidFill>
            <a:srgbClr val="08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2157984"/>
            <a:ext cx="245059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UMBRAL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5239512" y="384962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+ origen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" y="1828800"/>
            <a:ext cx="365760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" y="2084832"/>
            <a:ext cx="640080" cy="6400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20939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764792" y="21031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MEDICIÓN PREVIA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764792" y="25237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normal ↔ problemático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1764792" y="3026664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D62027">
              <a:alpha val="12000"/>
            </a:srgbClr>
          </a:solidFill>
          <a:ln w="12700">
            <a:solidFill>
              <a:srgbClr val="D62027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83664" y="311810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 ↔ casi lleno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7818120" y="1828800"/>
            <a:ext cx="365760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74152" y="2084832"/>
            <a:ext cx="640080" cy="640080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83296" y="20939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869680" y="21031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869680" y="25237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Deducir desde una relación conocida</a:t>
            </a:r>
            <a:endParaRPr lang="en-US" sz="1070" dirty="0"/>
          </a:p>
        </p:txBody>
      </p:sp>
      <p:sp>
        <p:nvSpPr>
          <p:cNvPr id="26" name="Shape 23"/>
          <p:cNvSpPr/>
          <p:nvPr/>
        </p:nvSpPr>
        <p:spPr>
          <a:xfrm>
            <a:off x="8869680" y="3026664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35B7C6">
              <a:alpha val="12000"/>
            </a:srgbClr>
          </a:solidFill>
          <a:ln w="12700">
            <a:solidFill>
              <a:srgbClr val="35B7C6">
                <a:alpha val="4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88552" y="311810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(altura − distancia) / altura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713232" y="4114800"/>
            <a:ext cx="365760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9264" y="4370832"/>
            <a:ext cx="640080" cy="64008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8408" y="43799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764792" y="43891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PUBLICADO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1764792" y="48097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y citar una fuente identificable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1764792" y="5312664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E0BC5A">
              <a:alpha val="88000"/>
            </a:srgbClr>
          </a:solidFill>
          <a:ln w="12700">
            <a:solidFill>
              <a:srgbClr val="E0BC5A">
                <a:alpha val="4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883664" y="540410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saludable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7818120" y="4114800"/>
            <a:ext cx="365760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74152" y="4370832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83296" y="43799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869680" y="43891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ACUERDO PROVISIONAL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869680" y="48097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Partir, probar y corregir</a:t>
            </a:r>
            <a:endParaRPr lang="en-US" sz="1070" dirty="0"/>
          </a:p>
        </p:txBody>
      </p:sp>
      <p:sp>
        <p:nvSpPr>
          <p:cNvPr id="40" name="Shape 37"/>
          <p:cNvSpPr/>
          <p:nvPr/>
        </p:nvSpPr>
        <p:spPr>
          <a:xfrm>
            <a:off x="8869680" y="5312664"/>
            <a:ext cx="2267712" cy="310896"/>
          </a:xfrm>
          <a:prstGeom prst="roundRect">
            <a:avLst>
              <a:gd name="adj" fmla="val 11765"/>
            </a:avLst>
          </a:prstGeom>
          <a:solidFill>
            <a:srgbClr val="2E8B57">
              <a:alpha val="12000"/>
            </a:srgbClr>
          </a:solidFill>
          <a:ln w="12700">
            <a:solidFill>
              <a:srgbClr val="2E8B57">
                <a:alpha val="4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988552" y="5404104"/>
            <a:ext cx="2029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70 % → prueba → ajuste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4370832" y="2670048"/>
            <a:ext cx="502920" cy="50292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>
            <a:off x="7324344" y="2670048"/>
            <a:ext cx="502920" cy="502920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70832" y="4498848"/>
            <a:ext cx="502920" cy="5029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H="1">
            <a:off x="7324344" y="4498848"/>
            <a:ext cx="502920" cy="50292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43984" y="5321808"/>
            <a:ext cx="3310128" cy="566928"/>
          </a:xfrm>
          <a:prstGeom prst="roundRect">
            <a:avLst>
              <a:gd name="adj" fmla="val 806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18304" y="541324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“SONABA BIEN”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4718304" y="5641848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08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quinta fuente</a:t>
            </a:r>
            <a:endParaRPr lang="en-US" sz="9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384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GEOGREEN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944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alertar al 80 % y no al 100 %?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13232" y="1371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la persona necesita tiempo para reaccionar.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1248" y="2002536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4712" y="2816352"/>
            <a:ext cx="2313432" cy="2532888"/>
          </a:xfrm>
          <a:prstGeom prst="rect">
            <a:avLst/>
          </a:prstGeom>
          <a:solidFill>
            <a:srgbClr val="E9EEF4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24712" y="3319272"/>
            <a:ext cx="2313432" cy="20299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1832" y="3319272"/>
            <a:ext cx="27432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99032" y="384962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80 %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1554480" y="459028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77640" y="3218688"/>
            <a:ext cx="960120" cy="7132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38928" y="2121408"/>
            <a:ext cx="2542032" cy="3474720"/>
          </a:xfrm>
          <a:prstGeom prst="roundRect">
            <a:avLst>
              <a:gd name="adj" fmla="val 2158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32120" y="2560320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 DE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REACCIÓN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5596128" y="33832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recibir aviso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6071616" y="3639312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5596128" y="411480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llegar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6071616" y="4370832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596128" y="484632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7882128" y="3218688"/>
            <a:ext cx="960120" cy="713232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34272" y="2121408"/>
            <a:ext cx="2322576" cy="3474720"/>
          </a:xfrm>
          <a:prstGeom prst="roundRect">
            <a:avLst>
              <a:gd name="adj" fmla="val 2362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36024" y="274320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DESBORDE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74352" y="3657600"/>
            <a:ext cx="1051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4600" dirty="0"/>
          </a:p>
        </p:txBody>
      </p:sp>
      <p:sp>
        <p:nvSpPr>
          <p:cNvPr id="27" name="Text 24"/>
          <p:cNvSpPr/>
          <p:nvPr/>
        </p:nvSpPr>
        <p:spPr>
          <a:xfrm>
            <a:off x="9400032" y="479145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alerta todavía permite actuar.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1353312" y="5925312"/>
            <a:ext cx="9509760" cy="438912"/>
          </a:xfrm>
          <a:prstGeom prst="roundRect">
            <a:avLst>
              <a:gd name="adj" fmla="val 8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82496" y="6053328"/>
            <a:ext cx="8851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umbral se elige por la necesidad humana, no por el sensor.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REGLA ESTABLE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valor vive en la frontera, el sistema no debe parpadear</a:t>
            </a:r>
            <a:endParaRPr lang="en-US" sz="247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mediciones reales tienen ruido. La lógica necesita margen.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" y="1847088"/>
            <a:ext cx="5230368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1214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TOLERANCIA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127248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80 % para entrar y salir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170432" y="4901184"/>
            <a:ext cx="427939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70432" y="2743200"/>
            <a:ext cx="0" cy="2157984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70432" y="3474720"/>
            <a:ext cx="427939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3649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 flipV="1">
            <a:off x="1207008" y="3621024"/>
            <a:ext cx="594360" cy="64008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801368" y="3429000"/>
            <a:ext cx="548640" cy="192024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50008" y="3429000"/>
            <a:ext cx="548640" cy="173736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2898648" y="3383280"/>
            <a:ext cx="548640" cy="219456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47288" y="3383280"/>
            <a:ext cx="548640" cy="201168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3995928" y="3328416"/>
            <a:ext cx="548640" cy="256032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44568" y="3328416"/>
            <a:ext cx="502920" cy="237744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5047488" y="3291840"/>
            <a:ext cx="411480" cy="27432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25296" y="515721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salida cambia a cada instante.</a:t>
            </a:r>
            <a:endParaRPr lang="en-US" sz="1230" dirty="0"/>
          </a:p>
        </p:txBody>
      </p:sp>
      <p:sp>
        <p:nvSpPr>
          <p:cNvPr id="27" name="Text 24"/>
          <p:cNvSpPr/>
          <p:nvPr/>
        </p:nvSpPr>
        <p:spPr>
          <a:xfrm>
            <a:off x="1261872" y="54681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poco de ruido cruza la misma frontera una y otra vez.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54496" y="1847088"/>
            <a:ext cx="5230368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47104" y="21214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TOLERANCIA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686800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80 % para entrar · 75 % para salir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729984" y="4901184"/>
            <a:ext cx="427939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29984" y="2743200"/>
            <a:ext cx="0" cy="2157984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29984" y="3474720"/>
            <a:ext cx="427939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72784" y="33649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6729984" y="3995928"/>
            <a:ext cx="4279392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72784" y="38862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920" dirty="0"/>
          </a:p>
        </p:txBody>
      </p:sp>
      <p:sp>
        <p:nvSpPr>
          <p:cNvPr id="37" name="Shape 34"/>
          <p:cNvSpPr/>
          <p:nvPr/>
        </p:nvSpPr>
        <p:spPr>
          <a:xfrm>
            <a:off x="6729984" y="3474720"/>
            <a:ext cx="4279392" cy="521208"/>
          </a:xfrm>
          <a:prstGeom prst="rect">
            <a:avLst/>
          </a:prstGeom>
          <a:solidFill>
            <a:srgbClr val="E0BC5A">
              <a:alpha val="25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6766560" y="3675888"/>
            <a:ext cx="640080" cy="640080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7406640" y="3346704"/>
            <a:ext cx="640080" cy="329184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46720" y="3346704"/>
            <a:ext cx="640080" cy="201168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8686800" y="3236976"/>
            <a:ext cx="640080" cy="310896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326880" y="3236976"/>
            <a:ext cx="640080" cy="210312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9966960" y="3145536"/>
            <a:ext cx="640080" cy="301752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607040" y="3145536"/>
            <a:ext cx="411480" cy="146304"/>
          </a:xfrm>
          <a:prstGeom prst="line">
            <a:avLst/>
          </a:prstGeom>
          <a:noFill/>
          <a:ln w="12700">
            <a:solidFill>
              <a:srgbClr val="082B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84848" y="515721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permanece estable.</a:t>
            </a:r>
            <a:endParaRPr lang="en-US" sz="1230" dirty="0"/>
          </a:p>
        </p:txBody>
      </p:sp>
      <p:sp>
        <p:nvSpPr>
          <p:cNvPr id="46" name="Text 43"/>
          <p:cNvSpPr/>
          <p:nvPr/>
        </p:nvSpPr>
        <p:spPr>
          <a:xfrm>
            <a:off x="6821424" y="546811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banda de tolerancia evita falsas alarmas.</a:t>
            </a:r>
            <a:endParaRPr lang="en-US" sz="980" dirty="0"/>
          </a:p>
        </p:txBody>
      </p:sp>
      <p:sp>
        <p:nvSpPr>
          <p:cNvPr id="47" name="Text 44"/>
          <p:cNvSpPr/>
          <p:nvPr/>
        </p:nvSpPr>
        <p:spPr>
          <a:xfrm>
            <a:off x="1298448" y="6007608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lectura rara se filtra. Una frontera inestable necesita una banda de tolerancia.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420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DEL BLOQUE 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94944" y="7955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Escriban la regla completa de su MVP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13232" y="14173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frases. Una cadena completa de decisiones.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749808" y="1965960"/>
            <a:ext cx="1068019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1965960"/>
            <a:ext cx="2084832" cy="96012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2148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MEDIMOS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69264" y="25328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+ unidad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82112" y="2587752"/>
            <a:ext cx="2606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98464" y="2221992"/>
            <a:ext cx="640080" cy="457200"/>
          </a:xfrm>
          <a:prstGeom prst="chevron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139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812280" y="250545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o fuente de datos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24544" y="2587752"/>
            <a:ext cx="208483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45952" y="23225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9808" y="3246120"/>
            <a:ext cx="1068019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3246120"/>
            <a:ext cx="2084832" cy="9601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34290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ACTIVA CUANDO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969264" y="381304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1D3B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 + origen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182112" y="3867912"/>
            <a:ext cx="2606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98464" y="3502152"/>
            <a:ext cx="640080" cy="45720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34198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ENTONCES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812280" y="378561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perceptible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24544" y="3867912"/>
            <a:ext cx="208483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45952" y="36027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49808" y="4526280"/>
            <a:ext cx="1068019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" y="4526280"/>
            <a:ext cx="2084832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470916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MUESTRA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969264" y="509320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aparece la información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182112" y="5148072"/>
            <a:ext cx="2606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98464" y="4782312"/>
            <a:ext cx="640080" cy="45720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12280" y="47000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QUE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812280" y="506577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+ acción posible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924544" y="5148072"/>
            <a:ext cx="208483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045952" y="48828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335024" y="5897880"/>
            <a:ext cx="9509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82496" y="6016752"/>
            <a:ext cx="8796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→ decisión → respuesta → persona</a:t>
            </a:r>
            <a:endParaRPr lang="en-US" sz="1340" dirty="0"/>
          </a:p>
        </p:txBody>
      </p:sp>
      <p:sp>
        <p:nvSpPr>
          <p:cNvPr id="41" name="Text 38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COMPROBACIÓN DEL BLOQUE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Lean su regla en voz alta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16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necesita aclaraciones para entenderse, todavía no está lista.</a:t>
            </a:r>
            <a:endParaRPr lang="en-US" sz="145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16" y="201168"/>
            <a:ext cx="1285784" cy="932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2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1856232"/>
            <a:ext cx="4626864" cy="3566160"/>
          </a:xfrm>
          <a:prstGeom prst="roundRect">
            <a:avLst>
              <a:gd name="adj" fmla="val 1538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2219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PASADA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8992" y="2679192"/>
            <a:ext cx="38587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“Medimos…</a:t>
            </a:r>
            <a:endParaRPr lang="en-US" sz="2150" dirty="0"/>
          </a:p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con…</a:t>
            </a:r>
            <a:endParaRPr lang="en-US" sz="2150" dirty="0"/>
          </a:p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activa cuando…</a:t>
            </a:r>
            <a:endParaRPr lang="en-US" sz="2150" dirty="0"/>
          </a:p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entonces…”</a:t>
            </a:r>
            <a:endParaRPr lang="en-US" sz="2150" dirty="0"/>
          </a:p>
        </p:txBody>
      </p:sp>
      <p:sp>
        <p:nvSpPr>
          <p:cNvPr id="14" name="Shape 11"/>
          <p:cNvSpPr/>
          <p:nvPr/>
        </p:nvSpPr>
        <p:spPr>
          <a:xfrm>
            <a:off x="1060704" y="4498848"/>
            <a:ext cx="3913632" cy="502920"/>
          </a:xfrm>
          <a:prstGeom prst="roundRect">
            <a:avLst>
              <a:gd name="adj" fmla="val 7273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464515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¿OTRO EQUIPO LA ENTIENDE?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5696712" y="1856232"/>
            <a:ext cx="57424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97880" y="1975104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002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8028432" y="20208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se mide?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5696712" y="2770632"/>
            <a:ext cx="57424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7880" y="2889504"/>
            <a:ext cx="475488" cy="475488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07024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37960" y="2916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ORIGEN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8028432" y="29352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 dónde salió el umbral?</a:t>
            </a:r>
            <a:endParaRPr lang="en-US" sz="1070" dirty="0"/>
          </a:p>
        </p:txBody>
      </p:sp>
      <p:sp>
        <p:nvSpPr>
          <p:cNvPr id="26" name="Shape 23"/>
          <p:cNvSpPr/>
          <p:nvPr/>
        </p:nvSpPr>
        <p:spPr>
          <a:xfrm>
            <a:off x="5696712" y="3685032"/>
            <a:ext cx="57424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97880" y="3803904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07024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537960" y="38313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FRONTERA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8028432" y="38496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pasa justo en el límite?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5696712" y="4599432"/>
            <a:ext cx="574243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97880" y="4718304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07024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37960" y="4745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DESTINATARIO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8028432" y="4764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se entera y qué hace?</a:t>
            </a:r>
            <a:endParaRPr lang="en-US" sz="1070" dirty="0"/>
          </a:p>
        </p:txBody>
      </p:sp>
      <p:sp>
        <p:nvSpPr>
          <p:cNvPr id="36" name="Shape 33"/>
          <p:cNvSpPr/>
          <p:nvPr/>
        </p:nvSpPr>
        <p:spPr>
          <a:xfrm>
            <a:off x="5696712" y="5605272"/>
            <a:ext cx="5742432" cy="566928"/>
          </a:xfrm>
          <a:prstGeom prst="roundRect">
            <a:avLst>
              <a:gd name="adj" fmla="val 8065"/>
            </a:avLst>
          </a:prstGeom>
          <a:solidFill>
            <a:srgbClr val="E5F3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61888" y="5779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DEL BLOQUE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7498080" y="573328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 + sensor + umbral + regla escrita</a:t>
            </a:r>
            <a:endParaRPr lang="en-US" sz="1260" dirty="0"/>
          </a:p>
        </p:txBody>
      </p:sp>
      <p:sp>
        <p:nvSpPr>
          <p:cNvPr id="39" name="Text 36"/>
          <p:cNvSpPr/>
          <p:nvPr/>
        </p:nvSpPr>
        <p:spPr>
          <a:xfrm>
            <a:off x="1325880" y="594360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Siguiente: recursos, software, seguridad y alcance real.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Mentoría 2 - De la idea a un producto mínimo viable</dc:title>
  <dc:subject>Mentoría 2 - Solución propuesta y recursos definidos</dc:subject>
  <dc:creator>GeoGreen Escolar Osorno</dc:creator>
  <cp:lastModifiedBy>GeoGreen Escolar Osorno</cp:lastModifiedBy>
  <cp:revision>1</cp:revision>
  <dcterms:created xsi:type="dcterms:W3CDTF">2026-07-29T07:36:29Z</dcterms:created>
  <dcterms:modified xsi:type="dcterms:W3CDTF">2026-07-29T07:36:29Z</dcterms:modified>
</cp:coreProperties>
</file>