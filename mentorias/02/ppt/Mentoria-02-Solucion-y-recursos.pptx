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mentorias\02\ppt\source\assets\images\portada-estudiantes-mvp-hardware-software-geogreen.png">    </p:cNvPr>
          <p:cNvPicPr>
            <a:picLocks noChangeAspect="1"/>
          </p:cNvPicPr>
          <p:nvPr/>
        </p:nvPicPr>
        <p:blipFill>
          <a:blip r:embed="rId1"/>
          <a:srcRect l="0" r="0"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577840" cy="6858000"/>
          </a:xfrm>
          <a:prstGeom prst="rect">
            <a:avLst/>
          </a:prstGeom>
          <a:solidFill>
            <a:srgbClr val="031D3B">
              <a:alpha val="78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182880"/>
            <a:ext cx="1627632" cy="1005840"/>
          </a:xfrm>
          <a:prstGeom prst="roundRect">
            <a:avLst>
              <a:gd name="adj" fmla="val 3636"/>
            </a:avLst>
          </a:prstGeom>
          <a:solidFill>
            <a:srgbClr val="031D3B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0567" y="237744"/>
            <a:ext cx="1235361" cy="8961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13232" y="658368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1060" dirty="0"/>
          </a:p>
        </p:txBody>
      </p:sp>
      <p:sp>
        <p:nvSpPr>
          <p:cNvPr id="10" name="Text 6"/>
          <p:cNvSpPr/>
          <p:nvPr/>
        </p:nvSpPr>
        <p:spPr>
          <a:xfrm>
            <a:off x="713232" y="1078992"/>
            <a:ext cx="44805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la idea a un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 viable</a:t>
            </a:r>
            <a:endParaRPr lang="en-US" sz="3150" dirty="0"/>
          </a:p>
        </p:txBody>
      </p:sp>
      <p:sp>
        <p:nvSpPr>
          <p:cNvPr id="11" name="Text 7"/>
          <p:cNvSpPr/>
          <p:nvPr/>
        </p:nvSpPr>
        <p:spPr>
          <a:xfrm>
            <a:off x="731520" y="27889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Solución propuesta y recursos definidos</a:t>
            </a:r>
            <a:endParaRPr lang="en-US" sz="1620" dirty="0"/>
          </a:p>
        </p:txBody>
      </p:sp>
      <p:sp>
        <p:nvSpPr>
          <p:cNvPr id="12" name="Shape 8"/>
          <p:cNvSpPr/>
          <p:nvPr/>
        </p:nvSpPr>
        <p:spPr>
          <a:xfrm>
            <a:off x="713232" y="3675888"/>
            <a:ext cx="4005072" cy="969264"/>
          </a:xfrm>
          <a:prstGeom prst="roundRect">
            <a:avLst>
              <a:gd name="adj" fmla="val 471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69264" y="3904488"/>
            <a:ext cx="3511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  →  DECIDIR  →  RESPONDER  →  MOSTRAR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05840" y="4242816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minutos · trabajo por equipos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731520" y="6099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3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SEPTIEMBRE · 2026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CENTRAL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señal se convierte en una decisión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dispositivo observa el mundo. El software hace que el dato pueda viajar, acumularse y servir.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1755648"/>
            <a:ext cx="4709160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2" name="Image 1" descr="C:\Users\Diego Obando\dev\proyecto-01-aiep-geogreen\talleres\03\media\fotos\prototipo-oled-geogreen-landscape.png">    </p:cNvPr>
          <p:cNvPicPr>
            <a:picLocks noChangeAspect="1"/>
          </p:cNvPicPr>
          <p:nvPr/>
        </p:nvPicPr>
        <p:blipFill>
          <a:blip r:embed="rId2"/>
          <a:srcRect l="0" r="0" t="2825" b="2825"/>
          <a:stretch/>
        </p:blipFill>
        <p:spPr>
          <a:xfrm>
            <a:off x="786384" y="1883664"/>
            <a:ext cx="4453128" cy="336499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86384" y="4736592"/>
            <a:ext cx="4453128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7552" y="4882896"/>
            <a:ext cx="4041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HARDWARE · observa y responde aquí</a:t>
            </a:r>
            <a:endParaRPr lang="en-US" sz="1440" dirty="0"/>
          </a:p>
        </p:txBody>
      </p:sp>
      <p:sp>
        <p:nvSpPr>
          <p:cNvPr id="15" name="Text 11"/>
          <p:cNvSpPr/>
          <p:nvPr/>
        </p:nvSpPr>
        <p:spPr>
          <a:xfrm>
            <a:off x="932688" y="5468112"/>
            <a:ext cx="4169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· regla · luz · sonido · pantalla</a:t>
            </a:r>
            <a:endParaRPr lang="en-US" sz="1220" dirty="0"/>
          </a:p>
        </p:txBody>
      </p:sp>
      <p:sp>
        <p:nvSpPr>
          <p:cNvPr id="16" name="Shape 12"/>
          <p:cNvSpPr/>
          <p:nvPr/>
        </p:nvSpPr>
        <p:spPr>
          <a:xfrm>
            <a:off x="5394960" y="3319272"/>
            <a:ext cx="512064" cy="80467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934456" y="1755648"/>
            <a:ext cx="5596128" cy="4315968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  <a:effectLst>
            <a:outerShdw sx="100000" sy="100000" kx="0" ky="0" algn="bl" rotWithShape="0" blurRad="15240" dist="50800" dir="2700000">
              <a:srgbClr val="8A96A3">
                <a:alpha val="15000"/>
              </a:srgbClr>
            </a:outerShdw>
          </a:effectLst>
        </p:spPr>
      </p:sp>
      <p:pic>
        <p:nvPicPr>
          <p:cNvPr id="18" name="Image 2" descr="C:\Users\Diego Obando\dev\proyecto-01-aiep-geogreen\mentorias\02\media\capturas\dashboard-geogreen-mapa-osorno.png">    </p:cNvPr>
          <p:cNvPicPr>
            <a:picLocks noChangeAspect="1"/>
          </p:cNvPicPr>
          <p:nvPr/>
        </p:nvPicPr>
        <p:blipFill>
          <a:blip r:embed="rId3"/>
          <a:srcRect l="5367" r="5367" t="0" b="0"/>
          <a:stretch/>
        </p:blipFill>
        <p:spPr>
          <a:xfrm>
            <a:off x="6062472" y="1883664"/>
            <a:ext cx="5340096" cy="336499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062472" y="4736592"/>
            <a:ext cx="5340096" cy="512064"/>
          </a:xfrm>
          <a:prstGeom prst="rect">
            <a:avLst/>
          </a:prstGeom>
          <a:solidFill>
            <a:srgbClr val="031D3B">
              <a:alpha val="92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6336792" y="4882896"/>
            <a:ext cx="4791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· muestra y permite decidir</a:t>
            </a:r>
            <a:endParaRPr lang="en-US" sz="1440" dirty="0"/>
          </a:p>
        </p:txBody>
      </p:sp>
      <p:sp>
        <p:nvSpPr>
          <p:cNvPr id="21" name="Text 16"/>
          <p:cNvSpPr/>
          <p:nvPr/>
        </p:nvSpPr>
        <p:spPr>
          <a:xfrm>
            <a:off x="6309360" y="5468112"/>
            <a:ext cx="4828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· historial · comparación · alertas · mapa</a:t>
            </a:r>
            <a:endParaRPr lang="en-US" sz="12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CONTINUIDAD DEL PROYECTO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Hoy no comienzan desde cero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Traigan sus decisiones anteriores a la mesa: esta sesión las convierte en un plan construible.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92224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1975104"/>
            <a:ext cx="658368" cy="65836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1832" y="1984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792224" y="193852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MENTORÍA 1</a:t>
            </a:r>
            <a:endParaRPr lang="en-US" sz="960" dirty="0"/>
          </a:p>
        </p:txBody>
      </p:sp>
      <p:sp>
        <p:nvSpPr>
          <p:cNvPr id="15" name="Text 12"/>
          <p:cNvSpPr/>
          <p:nvPr/>
        </p:nvSpPr>
        <p:spPr>
          <a:xfrm>
            <a:off x="1792224" y="217627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 validado</a:t>
            </a:r>
            <a:endParaRPr lang="en-US" sz="1620" dirty="0"/>
          </a:p>
        </p:txBody>
      </p:sp>
      <p:sp>
        <p:nvSpPr>
          <p:cNvPr id="16" name="Text 13"/>
          <p:cNvSpPr/>
          <p:nvPr/>
        </p:nvSpPr>
        <p:spPr>
          <a:xfrm>
            <a:off x="1792224" y="248716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 y personas relacionadas.</a:t>
            </a:r>
            <a:endParaRPr lang="en-US" sz="1160" dirty="0"/>
          </a:p>
        </p:txBody>
      </p:sp>
      <p:sp>
        <p:nvSpPr>
          <p:cNvPr id="17" name="Shape 14"/>
          <p:cNvSpPr/>
          <p:nvPr/>
        </p:nvSpPr>
        <p:spPr>
          <a:xfrm>
            <a:off x="694944" y="3090672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" y="3273552"/>
            <a:ext cx="658368" cy="65836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1832" y="32826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792224" y="32369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TALLER 3</a:t>
            </a:r>
            <a:endParaRPr lang="en-US" sz="960" dirty="0"/>
          </a:p>
        </p:txBody>
      </p:sp>
      <p:sp>
        <p:nvSpPr>
          <p:cNvPr id="21" name="Text 18"/>
          <p:cNvSpPr/>
          <p:nvPr/>
        </p:nvSpPr>
        <p:spPr>
          <a:xfrm>
            <a:off x="1792224" y="3456432"/>
            <a:ext cx="2487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tecnológica inicial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1792224" y="391363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Variable, sensor posible y primera lógica.</a:t>
            </a:r>
            <a:endParaRPr lang="en-US" sz="1160" dirty="0"/>
          </a:p>
        </p:txBody>
      </p:sp>
      <p:sp>
        <p:nvSpPr>
          <p:cNvPr id="23" name="Shape 20"/>
          <p:cNvSpPr/>
          <p:nvPr/>
        </p:nvSpPr>
        <p:spPr>
          <a:xfrm>
            <a:off x="694944" y="4389120"/>
            <a:ext cx="4736592" cy="1042416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2688" y="4572000"/>
            <a:ext cx="658368" cy="65836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1832" y="45811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792224" y="453542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SESIONES</a:t>
            </a:r>
            <a:endParaRPr lang="en-US" sz="960" dirty="0"/>
          </a:p>
        </p:txBody>
      </p:sp>
      <p:sp>
        <p:nvSpPr>
          <p:cNvPr id="27" name="Text 24"/>
          <p:cNvSpPr/>
          <p:nvPr/>
        </p:nvSpPr>
        <p:spPr>
          <a:xfrm>
            <a:off x="1792224" y="4773168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 paso</a:t>
            </a:r>
            <a:endParaRPr lang="en-US" sz="1620" dirty="0"/>
          </a:p>
        </p:txBody>
      </p:sp>
      <p:sp>
        <p:nvSpPr>
          <p:cNvPr id="28" name="Text 25"/>
          <p:cNvSpPr/>
          <p:nvPr/>
        </p:nvSpPr>
        <p:spPr>
          <a:xfrm>
            <a:off x="1792224" y="508406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Compromiso verificable del equipo.</a:t>
            </a:r>
            <a:endParaRPr lang="en-US" sz="1160" dirty="0"/>
          </a:p>
        </p:txBody>
      </p:sp>
      <p:sp>
        <p:nvSpPr>
          <p:cNvPr id="29" name="Shape 26"/>
          <p:cNvSpPr/>
          <p:nvPr/>
        </p:nvSpPr>
        <p:spPr>
          <a:xfrm>
            <a:off x="5468112" y="3035808"/>
            <a:ext cx="676656" cy="106070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81344" y="1792224"/>
            <a:ext cx="5340096" cy="4553712"/>
          </a:xfrm>
          <a:prstGeom prst="roundRect">
            <a:avLst>
              <a:gd name="adj" fmla="val 1205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47104" y="2121408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13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OBLIGATORIA</a:t>
            </a:r>
            <a:endParaRPr lang="en-US" sz="1040" dirty="0"/>
          </a:p>
        </p:txBody>
      </p:sp>
      <p:sp>
        <p:nvSpPr>
          <p:cNvPr id="32" name="Text 29"/>
          <p:cNvSpPr/>
          <p:nvPr/>
        </p:nvSpPr>
        <p:spPr>
          <a:xfrm>
            <a:off x="6547104" y="2542032"/>
            <a:ext cx="45537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Producto mínimo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viable definido</a:t>
            </a:r>
            <a:endParaRPr lang="en-US" sz="2700" dirty="0"/>
          </a:p>
        </p:txBody>
      </p:sp>
      <p:sp>
        <p:nvSpPr>
          <p:cNvPr id="33" name="Shape 30"/>
          <p:cNvSpPr/>
          <p:nvPr/>
        </p:nvSpPr>
        <p:spPr>
          <a:xfrm>
            <a:off x="6620256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67728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umbral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979408" y="376732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326880" y="369417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o fuente de datos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620256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967728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+ capa de software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979408" y="440740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326880" y="433425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+ seguridad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620256" y="5047488"/>
            <a:ext cx="219456" cy="21945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967728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Responsables + fechas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979408" y="5047488"/>
            <a:ext cx="219456" cy="21945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0" y="4974336"/>
            <a:ext cx="1865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para Mentoría 3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601968" y="5687568"/>
            <a:ext cx="4498848" cy="420624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839712" y="579729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Debe poder construirse, probarse y explicarse.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RECORRIDO DE LA MENTORÍA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 minutos para dejar una ruta de construcción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bloque toma una decisión que el siguiente necesita.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7512" y="190195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0′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11128248" y="19019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78992" y="2212848"/>
            <a:ext cx="10003536" cy="0"/>
          </a:xfrm>
          <a:prstGeom prst="line">
            <a:avLst/>
          </a:prstGeom>
          <a:noFill/>
          <a:ln w="12700">
            <a:solidFill>
              <a:srgbClr val="082B5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344168" y="1929384"/>
            <a:ext cx="566928" cy="56692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5331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658368" y="2761488"/>
            <a:ext cx="1938528" cy="2523744"/>
          </a:xfrm>
          <a:prstGeom prst="roundRect">
            <a:avLst>
              <a:gd name="adj" fmla="val 2358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" y="2761488"/>
            <a:ext cx="1938528" cy="1463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090672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41248" y="3557016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822960" y="391363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DEFINIR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841248" y="434340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 → MVP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822960" y="4892040"/>
            <a:ext cx="1609344" cy="310896"/>
          </a:xfrm>
          <a:prstGeom prst="roundRect">
            <a:avLst>
              <a:gd name="adj" fmla="val 11765"/>
            </a:avLst>
          </a:prstGeom>
          <a:solidFill>
            <a:srgbClr val="D62027">
              <a:alpha val="12000"/>
            </a:srgbClr>
          </a:solidFill>
          <a:ln w="12700">
            <a:solidFill>
              <a:srgbClr val="D62027">
                <a:alpha val="3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974336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FUNCIÓN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3456432" y="1929384"/>
            <a:ext cx="566928" cy="566928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65576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120" dirty="0"/>
          </a:p>
        </p:txBody>
      </p:sp>
      <p:sp>
        <p:nvSpPr>
          <p:cNvPr id="26" name="Shape 23"/>
          <p:cNvSpPr/>
          <p:nvPr/>
        </p:nvSpPr>
        <p:spPr>
          <a:xfrm>
            <a:off x="2724912" y="2761488"/>
            <a:ext cx="2029968" cy="2523744"/>
          </a:xfrm>
          <a:prstGeom prst="roundRect">
            <a:avLst>
              <a:gd name="adj" fmla="val 2252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24912" y="2761488"/>
            <a:ext cx="2029968" cy="146304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889504" y="3090672"/>
            <a:ext cx="1700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2907792" y="3557016"/>
            <a:ext cx="1664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30" name="Text 27"/>
          <p:cNvSpPr/>
          <p:nvPr/>
        </p:nvSpPr>
        <p:spPr>
          <a:xfrm>
            <a:off x="2889504" y="391363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MEDIR</a:t>
            </a:r>
            <a:endParaRPr lang="en-US" sz="1520" dirty="0"/>
          </a:p>
        </p:txBody>
      </p:sp>
      <p:sp>
        <p:nvSpPr>
          <p:cNvPr id="31" name="Text 28"/>
          <p:cNvSpPr/>
          <p:nvPr/>
        </p:nvSpPr>
        <p:spPr>
          <a:xfrm>
            <a:off x="2907792" y="434340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Variable + sensor + umbral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2889504" y="4892040"/>
            <a:ext cx="1700784" cy="310896"/>
          </a:xfrm>
          <a:prstGeom prst="roundRect">
            <a:avLst>
              <a:gd name="adj" fmla="val 11765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>
                <a:alpha val="35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80944" y="4974336"/>
            <a:ext cx="15179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REGLA</a:t>
            </a:r>
            <a:endParaRPr lang="en-US" sz="920" dirty="0"/>
          </a:p>
        </p:txBody>
      </p:sp>
      <p:sp>
        <p:nvSpPr>
          <p:cNvPr id="34" name="Shape 31"/>
          <p:cNvSpPr/>
          <p:nvPr/>
        </p:nvSpPr>
        <p:spPr>
          <a:xfrm>
            <a:off x="6007608" y="1929384"/>
            <a:ext cx="566928" cy="566928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1675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120" dirty="0"/>
          </a:p>
        </p:txBody>
      </p:sp>
      <p:sp>
        <p:nvSpPr>
          <p:cNvPr id="36" name="Shape 33"/>
          <p:cNvSpPr/>
          <p:nvPr/>
        </p:nvSpPr>
        <p:spPr>
          <a:xfrm>
            <a:off x="4882896" y="2761488"/>
            <a:ext cx="2816352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882896" y="2761488"/>
            <a:ext cx="2816352" cy="146304"/>
          </a:xfrm>
          <a:prstGeom prst="rect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47488" y="309067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5065776" y="3557016"/>
            <a:ext cx="2450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40" name="Text 37"/>
          <p:cNvSpPr/>
          <p:nvPr/>
        </p:nvSpPr>
        <p:spPr>
          <a:xfrm>
            <a:off x="5047488" y="3913632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ACOTAR</a:t>
            </a:r>
            <a:endParaRPr lang="en-US" sz="1520" dirty="0"/>
          </a:p>
        </p:txBody>
      </p:sp>
      <p:sp>
        <p:nvSpPr>
          <p:cNvPr id="41" name="Text 38"/>
          <p:cNvSpPr/>
          <p:nvPr/>
        </p:nvSpPr>
        <p:spPr>
          <a:xfrm>
            <a:off x="5065776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Recursos + software + seguridad</a:t>
            </a:r>
            <a:endParaRPr lang="en-US" sz="1080" dirty="0"/>
          </a:p>
        </p:txBody>
      </p:sp>
      <p:sp>
        <p:nvSpPr>
          <p:cNvPr id="42" name="Shape 39"/>
          <p:cNvSpPr/>
          <p:nvPr/>
        </p:nvSpPr>
        <p:spPr>
          <a:xfrm>
            <a:off x="5047488" y="4892040"/>
            <a:ext cx="2487168" cy="310896"/>
          </a:xfrm>
          <a:prstGeom prst="roundRect">
            <a:avLst>
              <a:gd name="adj" fmla="val 11765"/>
            </a:avLst>
          </a:prstGeom>
          <a:solidFill>
            <a:srgbClr val="082B5C">
              <a:alpha val="12000"/>
            </a:srgbClr>
          </a:solidFill>
          <a:ln w="12700">
            <a:solidFill>
              <a:srgbClr val="082B5C">
                <a:alpha val="3500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138928" y="497433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ALCANCE</a:t>
            </a:r>
            <a:endParaRPr lang="en-US" sz="920" dirty="0"/>
          </a:p>
        </p:txBody>
      </p:sp>
      <p:sp>
        <p:nvSpPr>
          <p:cNvPr id="44" name="Shape 41"/>
          <p:cNvSpPr/>
          <p:nvPr/>
        </p:nvSpPr>
        <p:spPr>
          <a:xfrm>
            <a:off x="8567928" y="1929384"/>
            <a:ext cx="566928" cy="566928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577072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120" dirty="0"/>
          </a:p>
        </p:txBody>
      </p:sp>
      <p:sp>
        <p:nvSpPr>
          <p:cNvPr id="46" name="Shape 43"/>
          <p:cNvSpPr/>
          <p:nvPr/>
        </p:nvSpPr>
        <p:spPr>
          <a:xfrm>
            <a:off x="7827264" y="2761488"/>
            <a:ext cx="2048256" cy="2523744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827264" y="2761488"/>
            <a:ext cx="2048256" cy="146304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991856" y="3090672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600" dirty="0"/>
          </a:p>
        </p:txBody>
      </p:sp>
      <p:sp>
        <p:nvSpPr>
          <p:cNvPr id="49" name="Text 46"/>
          <p:cNvSpPr/>
          <p:nvPr/>
        </p:nvSpPr>
        <p:spPr>
          <a:xfrm>
            <a:off x="8010144" y="3557016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7991856" y="391363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REPARTIR</a:t>
            </a:r>
            <a:endParaRPr lang="en-US" sz="1520" dirty="0"/>
          </a:p>
        </p:txBody>
      </p:sp>
      <p:sp>
        <p:nvSpPr>
          <p:cNvPr id="51" name="Text 48"/>
          <p:cNvSpPr/>
          <p:nvPr/>
        </p:nvSpPr>
        <p:spPr>
          <a:xfrm>
            <a:off x="8010144" y="43434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Tareas + rama + evidencia</a:t>
            </a:r>
            <a:endParaRPr lang="en-US" sz="1080" dirty="0"/>
          </a:p>
        </p:txBody>
      </p:sp>
      <p:sp>
        <p:nvSpPr>
          <p:cNvPr id="52" name="Shape 49"/>
          <p:cNvSpPr/>
          <p:nvPr/>
        </p:nvSpPr>
        <p:spPr>
          <a:xfrm>
            <a:off x="7991856" y="4892040"/>
            <a:ext cx="1719072" cy="310896"/>
          </a:xfrm>
          <a:prstGeom prst="roundRect">
            <a:avLst>
              <a:gd name="adj" fmla="val 11765"/>
            </a:avLst>
          </a:prstGeom>
          <a:solidFill>
            <a:srgbClr val="2E8B57">
              <a:alpha val="12000"/>
            </a:srgbClr>
          </a:solidFill>
          <a:ln w="12700">
            <a:solidFill>
              <a:srgbClr val="2E8B57">
                <a:alpha val="3500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083296" y="4974336"/>
            <a:ext cx="1536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80" kern="0" dirty="0">
                <a:solidFill>
                  <a:srgbClr val="2E8B5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PLAN</a:t>
            </a:r>
            <a:endParaRPr lang="en-US" sz="920" dirty="0"/>
          </a:p>
        </p:txBody>
      </p:sp>
      <p:sp>
        <p:nvSpPr>
          <p:cNvPr id="54" name="Shape 51"/>
          <p:cNvSpPr/>
          <p:nvPr/>
        </p:nvSpPr>
        <p:spPr>
          <a:xfrm>
            <a:off x="10479024" y="1929384"/>
            <a:ext cx="566928" cy="56692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10488168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120" dirty="0"/>
          </a:p>
        </p:txBody>
      </p:sp>
      <p:sp>
        <p:nvSpPr>
          <p:cNvPr id="56" name="Shape 53"/>
          <p:cNvSpPr/>
          <p:nvPr/>
        </p:nvSpPr>
        <p:spPr>
          <a:xfrm>
            <a:off x="10003536" y="2761488"/>
            <a:ext cx="1517904" cy="2523744"/>
          </a:xfrm>
          <a:prstGeom prst="roundRect">
            <a:avLst>
              <a:gd name="adj" fmla="val 3012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003536" y="2761488"/>
            <a:ext cx="1517904" cy="1463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0168128" y="30906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59" name="Text 56"/>
          <p:cNvSpPr/>
          <p:nvPr/>
        </p:nvSpPr>
        <p:spPr>
          <a:xfrm>
            <a:off x="10186416" y="355701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spc="110" kern="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MINUTOS</a:t>
            </a:r>
            <a:endParaRPr lang="en-US" sz="860" dirty="0"/>
          </a:p>
        </p:txBody>
      </p:sp>
      <p:sp>
        <p:nvSpPr>
          <p:cNvPr id="60" name="Text 57"/>
          <p:cNvSpPr/>
          <p:nvPr/>
        </p:nvSpPr>
        <p:spPr>
          <a:xfrm>
            <a:off x="10168128" y="39136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CERRAR</a:t>
            </a:r>
            <a:endParaRPr lang="en-US" sz="1250" dirty="0"/>
          </a:p>
        </p:txBody>
      </p:sp>
      <p:sp>
        <p:nvSpPr>
          <p:cNvPr id="61" name="Text 58"/>
          <p:cNvSpPr/>
          <p:nvPr/>
        </p:nvSpPr>
        <p:spPr>
          <a:xfrm>
            <a:off x="10186416" y="434340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Ficha + próximo paso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10168128" y="4892040"/>
            <a:ext cx="1188720" cy="310896"/>
          </a:xfrm>
          <a:prstGeom prst="roundRect">
            <a:avLst>
              <a:gd name="adj" fmla="val 11765"/>
            </a:avLst>
          </a:prstGeom>
          <a:solidFill>
            <a:srgbClr val="FBF3DE"/>
          </a:solidFill>
          <a:ln w="12700">
            <a:solidFill>
              <a:srgbClr val="E0BC5A">
                <a:alpha val="35000"/>
              </a:srgbClr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259568" y="49743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spc="45" kern="0" dirty="0">
                <a:solidFill>
                  <a:srgbClr val="082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 · COMPROMISO</a:t>
            </a:r>
            <a:endParaRPr lang="en-US" sz="810" dirty="0"/>
          </a:p>
        </p:txBody>
      </p:sp>
      <p:sp>
        <p:nvSpPr>
          <p:cNvPr id="64" name="Shape 61"/>
          <p:cNvSpPr/>
          <p:nvPr/>
        </p:nvSpPr>
        <p:spPr>
          <a:xfrm>
            <a:off x="1243584" y="5559552"/>
            <a:ext cx="9710928" cy="621792"/>
          </a:xfrm>
          <a:prstGeom prst="chevron">
            <a:avLst/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737360" y="5669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spc="90" kern="0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DECISIÓN ALIMENTA LA SIGUIENTE</a:t>
            </a:r>
            <a:endParaRPr lang="en-US" sz="1180" dirty="0"/>
          </a:p>
        </p:txBody>
      </p:sp>
      <p:sp>
        <p:nvSpPr>
          <p:cNvPr id="66" name="Text 63"/>
          <p:cNvSpPr/>
          <p:nvPr/>
        </p:nvSpPr>
        <p:spPr>
          <a:xfrm>
            <a:off x="4828032" y="5650992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final: solución definida + semana útil + evidencia comprometida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22192" cy="6858000"/>
          </a:xfrm>
          <a:prstGeom prst="rect">
            <a:avLst/>
          </a:prstGeom>
          <a:solidFill>
            <a:srgbClr val="031D3B"/>
          </a:solidFill>
          <a:ln w="12700">
            <a:solidFill>
              <a:srgbClr val="031D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4754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3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 · 10 MINUTOS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76656" y="91440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solución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describe por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 función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94944" y="2395728"/>
            <a:ext cx="2688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piezas dicen con qué.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función explica para qué.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58368" y="3246120"/>
            <a:ext cx="2724912" cy="804672"/>
          </a:xfrm>
          <a:prstGeom prst="roundRect">
            <a:avLst>
              <a:gd name="adj" fmla="val 4545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342900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PIEZAS</a:t>
            </a:r>
            <a:endParaRPr lang="en-US" sz="940" dirty="0"/>
          </a:p>
        </p:txBody>
      </p:sp>
      <p:sp>
        <p:nvSpPr>
          <p:cNvPr id="12" name="Text 9"/>
          <p:cNvSpPr/>
          <p:nvPr/>
        </p:nvSpPr>
        <p:spPr>
          <a:xfrm>
            <a:off x="1609344" y="337413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Arduino + sensor + alarma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 rot="5400000">
            <a:off x="1691640" y="4160520"/>
            <a:ext cx="658368" cy="420624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8368" y="4681728"/>
            <a:ext cx="2724912" cy="1024128"/>
          </a:xfrm>
          <a:prstGeom prst="roundRect">
            <a:avLst>
              <a:gd name="adj" fmla="val 4464"/>
            </a:avLst>
          </a:prstGeom>
          <a:solidFill>
            <a:srgbClr val="35B7C6">
              <a:alpha val="12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4882896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spc="12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FUNCIÓN</a:t>
            </a:r>
            <a:endParaRPr lang="en-US" sz="940" dirty="0"/>
          </a:p>
        </p:txBody>
      </p:sp>
      <p:sp>
        <p:nvSpPr>
          <p:cNvPr id="16" name="Text 13"/>
          <p:cNvSpPr/>
          <p:nvPr/>
        </p:nvSpPr>
        <p:spPr>
          <a:xfrm>
            <a:off x="932688" y="5157216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 → decidir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responder → mostrar</a:t>
            </a:r>
            <a:endParaRPr lang="en-US" sz="1380" dirty="0"/>
          </a:p>
        </p:txBody>
      </p:sp>
      <p:pic>
        <p:nvPicPr>
          <p:cNvPr id="17" name="Image 1" descr="C:\Users\Diego Obando\dev\proyecto-01-aiep-geogreen\talleres\03\media\generadas\sistema-geogreen-sensor-dato-respuesta.png">    </p:cNvPr>
          <p:cNvPicPr>
            <a:picLocks noChangeAspect="1"/>
          </p:cNvPicPr>
          <p:nvPr/>
        </p:nvPicPr>
        <p:blipFill>
          <a:blip r:embed="rId2"/>
          <a:srcRect l="0" r="0" t="13541" b="13541"/>
          <a:stretch/>
        </p:blipFill>
        <p:spPr>
          <a:xfrm>
            <a:off x="3968496" y="1965960"/>
            <a:ext cx="7754112" cy="318211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69080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178808" y="1499616"/>
            <a:ext cx="438912" cy="43891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187952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681728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OBSERVAR</a:t>
            </a:r>
            <a:endParaRPr lang="en-US" sz="960" dirty="0"/>
          </a:p>
        </p:txBody>
      </p:sp>
      <p:sp>
        <p:nvSpPr>
          <p:cNvPr id="22" name="Text 18"/>
          <p:cNvSpPr/>
          <p:nvPr/>
        </p:nvSpPr>
        <p:spPr>
          <a:xfrm>
            <a:off x="4654296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cambia?</a:t>
            </a:r>
            <a:endParaRPr lang="en-US" sz="880" dirty="0"/>
          </a:p>
        </p:txBody>
      </p:sp>
      <p:sp>
        <p:nvSpPr>
          <p:cNvPr id="23" name="Shape 19"/>
          <p:cNvSpPr/>
          <p:nvPr/>
        </p:nvSpPr>
        <p:spPr>
          <a:xfrm>
            <a:off x="5925312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035040" y="1499616"/>
            <a:ext cx="438912" cy="43891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044184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37960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960" dirty="0"/>
          </a:p>
        </p:txBody>
      </p:sp>
      <p:sp>
        <p:nvSpPr>
          <p:cNvPr id="27" name="Text 23"/>
          <p:cNvSpPr/>
          <p:nvPr/>
        </p:nvSpPr>
        <p:spPr>
          <a:xfrm>
            <a:off x="6510528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¿Con qué regla?</a:t>
            </a:r>
            <a:endParaRPr lang="en-US" sz="880" dirty="0"/>
          </a:p>
        </p:txBody>
      </p:sp>
      <p:sp>
        <p:nvSpPr>
          <p:cNvPr id="28" name="Shape 24"/>
          <p:cNvSpPr/>
          <p:nvPr/>
        </p:nvSpPr>
        <p:spPr>
          <a:xfrm>
            <a:off x="7827264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936992" y="1499616"/>
            <a:ext cx="438912" cy="43891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946136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8439912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RESPONDER</a:t>
            </a:r>
            <a:endParaRPr lang="en-US" sz="960" dirty="0"/>
          </a:p>
        </p:txBody>
      </p:sp>
      <p:sp>
        <p:nvSpPr>
          <p:cNvPr id="32" name="Text 28"/>
          <p:cNvSpPr/>
          <p:nvPr/>
        </p:nvSpPr>
        <p:spPr>
          <a:xfrm>
            <a:off x="8412480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ocurre?</a:t>
            </a:r>
            <a:endParaRPr lang="en-US" sz="880" dirty="0"/>
          </a:p>
        </p:txBody>
      </p:sp>
      <p:sp>
        <p:nvSpPr>
          <p:cNvPr id="33" name="Shape 29"/>
          <p:cNvSpPr/>
          <p:nvPr/>
        </p:nvSpPr>
        <p:spPr>
          <a:xfrm>
            <a:off x="9765792" y="1389888"/>
            <a:ext cx="1572768" cy="694944"/>
          </a:xfrm>
          <a:prstGeom prst="roundRect">
            <a:avLst>
              <a:gd name="adj" fmla="val 5263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875520" y="1499616"/>
            <a:ext cx="438912" cy="43891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9884664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10378440" y="149961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MOSTRAR</a:t>
            </a:r>
            <a:endParaRPr lang="en-US" sz="960" dirty="0"/>
          </a:p>
        </p:txBody>
      </p:sp>
      <p:sp>
        <p:nvSpPr>
          <p:cNvPr id="37" name="Text 33"/>
          <p:cNvSpPr/>
          <p:nvPr/>
        </p:nvSpPr>
        <p:spPr>
          <a:xfrm>
            <a:off x="10351008" y="1764792"/>
            <a:ext cx="896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¿Quién actúa?</a:t>
            </a:r>
            <a:endParaRPr lang="en-US" sz="880" dirty="0"/>
          </a:p>
        </p:txBody>
      </p:sp>
      <p:sp>
        <p:nvSpPr>
          <p:cNvPr id="38" name="Shape 34"/>
          <p:cNvSpPr/>
          <p:nvPr/>
        </p:nvSpPr>
        <p:spPr>
          <a:xfrm>
            <a:off x="4352544" y="5486400"/>
            <a:ext cx="6821424" cy="713232"/>
          </a:xfrm>
          <a:prstGeom prst="roundRect">
            <a:avLst>
              <a:gd name="adj" fmla="val 6410"/>
            </a:avLst>
          </a:prstGeom>
          <a:solidFill>
            <a:srgbClr val="082B5C"/>
          </a:solidFill>
          <a:ln w="12700">
            <a:solidFill>
              <a:srgbClr val="082B5C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626864" y="5632704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0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DESAFÍO · 30 SEGUNDOS</a:t>
            </a:r>
            <a:endParaRPr lang="en-US" sz="920" dirty="0"/>
          </a:p>
        </p:txBody>
      </p:sp>
      <p:sp>
        <p:nvSpPr>
          <p:cNvPr id="40" name="Text 36"/>
          <p:cNvSpPr/>
          <p:nvPr/>
        </p:nvSpPr>
        <p:spPr>
          <a:xfrm>
            <a:off x="6236208" y="55869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Describan su solución sin nombrar componentes.</a:t>
            </a:r>
            <a:endParaRPr lang="en-US" sz="1440" dirty="0"/>
          </a:p>
        </p:txBody>
      </p:sp>
      <p:sp>
        <p:nvSpPr>
          <p:cNvPr id="41" name="Text 37"/>
          <p:cNvSpPr/>
          <p:nvPr/>
        </p:nvSpPr>
        <p:spPr>
          <a:xfrm>
            <a:off x="6236208" y="5870448"/>
            <a:ext cx="4553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solo aparecen piezas, todavía falta el propósito.</a:t>
            </a:r>
            <a:endParaRPr lang="en-US" sz="980" dirty="0"/>
          </a:p>
        </p:txBody>
      </p:sp>
      <p:sp>
        <p:nvSpPr>
          <p:cNvPr id="42" name="Text 38"/>
          <p:cNvSpPr/>
          <p:nvPr/>
        </p:nvSpPr>
        <p:spPr>
          <a:xfrm>
            <a:off x="658368" y="6510528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43" name="Text 3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29184"/>
            <a:ext cx="5577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5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MÍNIMO VIABLE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640080"/>
            <a:ext cx="9281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versión más pequeña que ya sirve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76656" y="1216152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necesita estar terminada: necesita medir, decidir, responder y poder mostrarse.</a:t>
            </a:r>
            <a:endParaRPr lang="en-US" sz="1450" dirty="0"/>
          </a:p>
        </p:txBody>
      </p:sp>
      <p:pic>
        <p:nvPicPr>
          <p:cNvPr id="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6B7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" y="178308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" y="1901952"/>
            <a:ext cx="585216" cy="585216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19110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682496" y="191109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MIDE ALGO REAL</a:t>
            </a:r>
            <a:endParaRPr lang="en-US" sz="1440" dirty="0"/>
          </a:p>
        </p:txBody>
      </p:sp>
      <p:sp>
        <p:nvSpPr>
          <p:cNvPr id="15" name="Text 12"/>
          <p:cNvSpPr/>
          <p:nvPr/>
        </p:nvSpPr>
        <p:spPr>
          <a:xfrm>
            <a:off x="1682496" y="222199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lectura cambia y puede repetirse.</a:t>
            </a:r>
            <a:endParaRPr lang="en-US" sz="1140" dirty="0"/>
          </a:p>
        </p:txBody>
      </p:sp>
      <p:sp>
        <p:nvSpPr>
          <p:cNvPr id="16" name="Shape 13"/>
          <p:cNvSpPr/>
          <p:nvPr/>
        </p:nvSpPr>
        <p:spPr>
          <a:xfrm>
            <a:off x="694944" y="278892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6112" y="2907792"/>
            <a:ext cx="585216" cy="585216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" y="2916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682496" y="291693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35B7C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DECIDE CON SU REGLA</a:t>
            </a:r>
            <a:endParaRPr lang="en-US" sz="1440" dirty="0"/>
          </a:p>
        </p:txBody>
      </p:sp>
      <p:sp>
        <p:nvSpPr>
          <p:cNvPr id="20" name="Text 17"/>
          <p:cNvSpPr/>
          <p:nvPr/>
        </p:nvSpPr>
        <p:spPr>
          <a:xfrm>
            <a:off x="1682496" y="322783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umbral tiene un origen explicable.</a:t>
            </a:r>
            <a:endParaRPr lang="en-US" sz="1140" dirty="0"/>
          </a:p>
        </p:txBody>
      </p:sp>
      <p:sp>
        <p:nvSpPr>
          <p:cNvPr id="21" name="Shape 18"/>
          <p:cNvSpPr/>
          <p:nvPr/>
        </p:nvSpPr>
        <p:spPr>
          <a:xfrm>
            <a:off x="694944" y="379476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6112" y="3913632"/>
            <a:ext cx="585216" cy="585216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5256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682496" y="392277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RESPONDE</a:t>
            </a:r>
            <a:endParaRPr lang="en-US" sz="1440" dirty="0"/>
          </a:p>
        </p:txBody>
      </p:sp>
      <p:sp>
        <p:nvSpPr>
          <p:cNvPr id="25" name="Text 22"/>
          <p:cNvSpPr/>
          <p:nvPr/>
        </p:nvSpPr>
        <p:spPr>
          <a:xfrm>
            <a:off x="1682496" y="423367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se ve, se oye o produce una acción.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694944" y="4800600"/>
            <a:ext cx="4626864" cy="82296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6112" y="4919472"/>
            <a:ext cx="585216" cy="585216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5256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682496" y="492861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 MUESTRA</a:t>
            </a:r>
            <a:endParaRPr lang="en-US" sz="1440" dirty="0"/>
          </a:p>
        </p:txBody>
      </p:sp>
      <p:sp>
        <p:nvSpPr>
          <p:cNvPr id="30" name="Text 27"/>
          <p:cNvSpPr/>
          <p:nvPr/>
        </p:nvSpPr>
        <p:spPr>
          <a:xfrm>
            <a:off x="1682496" y="5239512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Otra persona entiende qué está pasando.</a:t>
            </a:r>
            <a:endParaRPr lang="en-US" sz="1140" dirty="0"/>
          </a:p>
        </p:txBody>
      </p:sp>
      <p:sp>
        <p:nvSpPr>
          <p:cNvPr id="31" name="Shape 28"/>
          <p:cNvSpPr/>
          <p:nvPr/>
        </p:nvSpPr>
        <p:spPr>
          <a:xfrm>
            <a:off x="5577840" y="1783080"/>
            <a:ext cx="5943600" cy="4553712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pic>
        <p:nvPicPr>
          <p:cNvPr id="32" name="Image 1" descr="C:\Users\Diego Obando\dev\proyecto-01-aiep-geogreen\mentorias\02\media\capturas\dashboard-geogreen-detalle-contenedor.png">    </p:cNvPr>
          <p:cNvPicPr>
            <a:picLocks noChangeAspect="1"/>
          </p:cNvPicPr>
          <p:nvPr/>
        </p:nvPicPr>
        <p:blipFill>
          <a:blip r:embed="rId2"/>
          <a:srcRect l="18" r="18" t="0" b="0"/>
          <a:stretch/>
        </p:blipFill>
        <p:spPr>
          <a:xfrm>
            <a:off x="5705856" y="1911096"/>
            <a:ext cx="5687568" cy="3200400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5705856" y="4462272"/>
            <a:ext cx="5687568" cy="649224"/>
          </a:xfrm>
          <a:prstGeom prst="rect">
            <a:avLst/>
          </a:prstGeom>
          <a:solidFill>
            <a:srgbClr val="031D3B">
              <a:alpha val="94000"/>
            </a:srgbClr>
          </a:solidFill>
          <a:ln w="12700">
            <a:solidFill>
              <a:srgbClr val="031D3B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89904" y="4626864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lectura se vuelve información cuando alguien puede comprenderla y actuar.</a:t>
            </a:r>
            <a:endParaRPr lang="en-US" sz="1420" dirty="0"/>
          </a:p>
        </p:txBody>
      </p:sp>
      <p:sp>
        <p:nvSpPr>
          <p:cNvPr id="35" name="Text 31"/>
          <p:cNvSpPr/>
          <p:nvPr/>
        </p:nvSpPr>
        <p:spPr>
          <a:xfrm>
            <a:off x="5989320" y="5413248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HARDWARE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7315200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</a:t>
            </a:r>
            <a:endParaRPr lang="en-US" sz="1800" dirty="0"/>
          </a:p>
        </p:txBody>
      </p:sp>
      <p:sp>
        <p:nvSpPr>
          <p:cNvPr id="37" name="Text 33"/>
          <p:cNvSpPr/>
          <p:nvPr/>
        </p:nvSpPr>
        <p:spPr>
          <a:xfrm>
            <a:off x="7754112" y="5413248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10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9125712" y="5367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=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9528048" y="5285232"/>
            <a:ext cx="1554480" cy="475488"/>
          </a:xfrm>
          <a:prstGeom prst="roundRect">
            <a:avLst>
              <a:gd name="adj" fmla="val 7692"/>
            </a:avLst>
          </a:prstGeom>
          <a:solidFill>
            <a:srgbClr val="E5F3EA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646920" y="5422392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2E8B5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PROPUESTA DE VALOR</a:t>
            </a:r>
            <a:endParaRPr lang="en-US" sz="1040" dirty="0"/>
          </a:p>
        </p:txBody>
      </p:sp>
      <p:sp>
        <p:nvSpPr>
          <p:cNvPr id="41" name="Text 37"/>
          <p:cNvSpPr/>
          <p:nvPr/>
        </p:nvSpPr>
        <p:spPr>
          <a:xfrm>
            <a:off x="6053328" y="5907024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que encienda. Debe quedar claro qué observa, qué significa y para quién sirve.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1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" cy="1097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0"/>
            <a:ext cx="384048" cy="109728"/>
          </a:xfrm>
          <a:prstGeom prst="rect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25296" y="0"/>
            <a:ext cx="201168" cy="1097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pic>
        <p:nvPicPr>
          <p:cNvPr id="5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16" y="201168"/>
            <a:ext cx="1285784" cy="932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840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spc="125" kern="0" dirty="0">
                <a:solidFill>
                  <a:srgbClr val="35B7C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MÉTODO DE TRABAJO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658368" y="731520"/>
            <a:ext cx="9052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velocidades para avanzar de verdad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76656" y="1307592"/>
            <a:ext cx="9070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Aceleren donde el agente multiplica el trabajo. Frenen donde una equivocación puede dañar el montaje.</a:t>
            </a:r>
            <a:endParaRPr lang="en-US" sz="1420" dirty="0"/>
          </a:p>
        </p:txBody>
      </p:sp>
      <p:sp>
        <p:nvSpPr>
          <p:cNvPr id="9" name="Shape 6"/>
          <p:cNvSpPr/>
          <p:nvPr/>
        </p:nvSpPr>
        <p:spPr>
          <a:xfrm>
            <a:off x="658368" y="1847088"/>
            <a:ext cx="5175504" cy="2871216"/>
          </a:xfrm>
          <a:prstGeom prst="chevron">
            <a:avLst/>
          </a:prstGeom>
          <a:solidFill>
            <a:srgbClr val="35B7C6"/>
          </a:solidFill>
          <a:ln w="12700">
            <a:solidFill>
              <a:srgbClr val="35B7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2139696"/>
            <a:ext cx="804672" cy="804672"/>
          </a:xfrm>
          <a:prstGeom prst="ellipse">
            <a:avLst/>
          </a:prstGeom>
          <a:solidFill>
            <a:srgbClr val="082B5C"/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41832" y="214884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&gt;&gt;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938528" y="215798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ACELERAR CON EL AGENTE</a:t>
            </a:r>
            <a:endParaRPr lang="en-US" sz="1740" dirty="0"/>
          </a:p>
        </p:txBody>
      </p:sp>
      <p:sp>
        <p:nvSpPr>
          <p:cNvPr id="13" name="Shape 10"/>
          <p:cNvSpPr/>
          <p:nvPr/>
        </p:nvSpPr>
        <p:spPr>
          <a:xfrm>
            <a:off x="932688" y="2944368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054096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INVESTIGAR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2907792" y="2944368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0" y="3054096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COMPARAR</a:t>
            </a:r>
            <a:endParaRPr lang="en-US" sz="1020" dirty="0"/>
          </a:p>
        </p:txBody>
      </p:sp>
      <p:sp>
        <p:nvSpPr>
          <p:cNvPr id="17" name="Shape 14"/>
          <p:cNvSpPr/>
          <p:nvPr/>
        </p:nvSpPr>
        <p:spPr>
          <a:xfrm>
            <a:off x="932688" y="3529584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42416" y="363931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PROGRAMAR</a:t>
            </a:r>
            <a:endParaRPr lang="en-US" sz="1020" dirty="0"/>
          </a:p>
        </p:txBody>
      </p:sp>
      <p:sp>
        <p:nvSpPr>
          <p:cNvPr id="19" name="Shape 16"/>
          <p:cNvSpPr/>
          <p:nvPr/>
        </p:nvSpPr>
        <p:spPr>
          <a:xfrm>
            <a:off x="2907792" y="3529584"/>
            <a:ext cx="1755648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017520" y="3639312"/>
            <a:ext cx="1536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031D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DISEÑAR</a:t>
            </a:r>
            <a:endParaRPr lang="en-US" sz="1020" dirty="0"/>
          </a:p>
        </p:txBody>
      </p:sp>
      <p:sp>
        <p:nvSpPr>
          <p:cNvPr id="21" name="Text 18"/>
          <p:cNvSpPr/>
          <p:nvPr/>
        </p:nvSpPr>
        <p:spPr>
          <a:xfrm>
            <a:off x="932688" y="4187952"/>
            <a:ext cx="3767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entrega velocidad.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equipo entrega criterio.</a:t>
            </a:r>
            <a:endParaRPr lang="en-US" sz="1310" dirty="0"/>
          </a:p>
        </p:txBody>
      </p:sp>
      <p:sp>
        <p:nvSpPr>
          <p:cNvPr id="22" name="Shape 19"/>
          <p:cNvSpPr/>
          <p:nvPr/>
        </p:nvSpPr>
        <p:spPr>
          <a:xfrm>
            <a:off x="5980176" y="1847088"/>
            <a:ext cx="5541264" cy="287121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91072" y="2139696"/>
            <a:ext cx="804672" cy="8046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0216" y="2148840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620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!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7296912" y="215798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4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FRENAR CON EL MONTAJE</a:t>
            </a:r>
            <a:endParaRPr lang="en-US" sz="1740" dirty="0"/>
          </a:p>
        </p:txBody>
      </p:sp>
      <p:sp>
        <p:nvSpPr>
          <p:cNvPr id="26" name="Shape 23"/>
          <p:cNvSpPr/>
          <p:nvPr/>
        </p:nvSpPr>
        <p:spPr>
          <a:xfrm>
            <a:off x="6309360" y="2944368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19088" y="305409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VOLTAJE</a:t>
            </a:r>
            <a:endParaRPr lang="en-US" sz="1020" dirty="0"/>
          </a:p>
        </p:txBody>
      </p:sp>
      <p:sp>
        <p:nvSpPr>
          <p:cNvPr id="28" name="Shape 25"/>
          <p:cNvSpPr/>
          <p:nvPr/>
        </p:nvSpPr>
        <p:spPr>
          <a:xfrm>
            <a:off x="8339328" y="2944368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449056" y="305409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POLARIDAD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6309360" y="3529584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19088" y="3639312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CABLES</a:t>
            </a:r>
            <a:endParaRPr lang="en-US" sz="1020" dirty="0"/>
          </a:p>
        </p:txBody>
      </p:sp>
      <p:sp>
        <p:nvSpPr>
          <p:cNvPr id="32" name="Shape 29"/>
          <p:cNvSpPr/>
          <p:nvPr/>
        </p:nvSpPr>
        <p:spPr>
          <a:xfrm>
            <a:off x="8339328" y="3529584"/>
            <a:ext cx="1810512" cy="402336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49056" y="3639312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spc="70" kern="0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ENERGÍA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6419088" y="418795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agente puede explicar conexiones.</a:t>
            </a:r>
            <a:endParaRPr lang="en-US" sz="1310" dirty="0"/>
          </a:p>
          <a:p>
            <a:pPr algn="ctr" indent="0" marL="0">
              <a:buNone/>
            </a:pPr>
            <a:r>
              <a:rPr lang="en-US" sz="131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puede ver sus cables.</a:t>
            </a:r>
            <a:endParaRPr lang="en-US" sz="1310" dirty="0"/>
          </a:p>
        </p:txBody>
      </p:sp>
      <p:sp>
        <p:nvSpPr>
          <p:cNvPr id="35" name="Text 32"/>
          <p:cNvSpPr/>
          <p:nvPr/>
        </p:nvSpPr>
        <p:spPr>
          <a:xfrm>
            <a:off x="694944" y="5010912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SOLO MÉTODO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1481328" y="5550408"/>
            <a:ext cx="8778240" cy="0"/>
          </a:xfrm>
          <a:prstGeom prst="line">
            <a:avLst/>
          </a:prstGeom>
          <a:noFill/>
          <a:ln w="12700">
            <a:solidFill>
              <a:srgbClr val="D8E7F5">
                <a:alpha val="65000"/>
              </a:srgbClr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53312" y="5285232"/>
            <a:ext cx="530352" cy="53035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362456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011680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CONTEXTO</a:t>
            </a:r>
            <a:endParaRPr lang="en-US" sz="1090" dirty="0"/>
          </a:p>
        </p:txBody>
      </p:sp>
      <p:sp>
        <p:nvSpPr>
          <p:cNvPr id="40" name="Shape 37"/>
          <p:cNvSpPr/>
          <p:nvPr/>
        </p:nvSpPr>
        <p:spPr>
          <a:xfrm>
            <a:off x="3858768" y="5285232"/>
            <a:ext cx="530352" cy="530352"/>
          </a:xfrm>
          <a:prstGeom prst="ellipse">
            <a:avLst/>
          </a:prstGeom>
          <a:solidFill>
            <a:srgbClr val="35B7C6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867912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17136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TAREA PEQUEÑA</a:t>
            </a:r>
            <a:endParaRPr lang="en-US" sz="1090" dirty="0"/>
          </a:p>
        </p:txBody>
      </p:sp>
      <p:sp>
        <p:nvSpPr>
          <p:cNvPr id="43" name="Shape 40"/>
          <p:cNvSpPr/>
          <p:nvPr/>
        </p:nvSpPr>
        <p:spPr>
          <a:xfrm>
            <a:off x="6364224" y="5285232"/>
            <a:ext cx="530352" cy="530352"/>
          </a:xfrm>
          <a:prstGeom prst="ellipse">
            <a:avLst/>
          </a:prstGeom>
          <a:solidFill>
            <a:srgbClr val="E0BC5A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73368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1D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7022592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VERIFICAR</a:t>
            </a:r>
            <a:endParaRPr lang="en-US" sz="1090" dirty="0"/>
          </a:p>
        </p:txBody>
      </p:sp>
      <p:sp>
        <p:nvSpPr>
          <p:cNvPr id="46" name="Shape 43"/>
          <p:cNvSpPr/>
          <p:nvPr/>
        </p:nvSpPr>
        <p:spPr>
          <a:xfrm>
            <a:off x="8869680" y="5285232"/>
            <a:ext cx="530352" cy="530352"/>
          </a:xfrm>
          <a:prstGeom prst="ellipse">
            <a:avLst/>
          </a:prstGeom>
          <a:solidFill>
            <a:srgbClr val="2E8B57"/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878824" y="5294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9528048" y="5394960"/>
            <a:ext cx="1591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DECIDIR</a:t>
            </a:r>
            <a:endParaRPr lang="en-US" sz="1090" dirty="0"/>
          </a:p>
        </p:txBody>
      </p:sp>
      <p:sp>
        <p:nvSpPr>
          <p:cNvPr id="49" name="Shape 46"/>
          <p:cNvSpPr/>
          <p:nvPr/>
        </p:nvSpPr>
        <p:spPr>
          <a:xfrm>
            <a:off x="1353312" y="5925312"/>
            <a:ext cx="9491472" cy="420624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682496" y="6025896"/>
            <a:ext cx="8833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082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Usar un agente no es hacer trampa. Entregar algo que no pueden explicar, sí.</a:t>
            </a:r>
            <a:endParaRPr lang="en-US" sz="1230" dirty="0"/>
          </a:p>
        </p:txBody>
      </p:sp>
      <p:sp>
        <p:nvSpPr>
          <p:cNvPr id="51" name="Text 48"/>
          <p:cNvSpPr/>
          <p:nvPr/>
        </p:nvSpPr>
        <p:spPr>
          <a:xfrm>
            <a:off x="658368" y="651052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D8E7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· Mentoría 2</a:t>
            </a:r>
            <a:endParaRPr lang="en-US" sz="880" dirty="0"/>
          </a:p>
        </p:txBody>
      </p:sp>
      <p:sp>
        <p:nvSpPr>
          <p:cNvPr id="52" name="Text 49"/>
          <p:cNvSpPr/>
          <p:nvPr/>
        </p:nvSpPr>
        <p:spPr>
          <a:xfrm>
            <a:off x="10716768" y="642823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8E7F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Mentoría 2 - De la idea a un producto mínimo viable</dc:title>
  <dc:subject>Mentoría 2 - Solución propuesta y recursos definidos</dc:subject>
  <dc:creator>GeoGreen Escolar Osorno</dc:creator>
  <cp:lastModifiedBy>GeoGreen Escolar Osorno</cp:lastModifiedBy>
  <cp:revision>1</cp:revision>
  <dcterms:created xsi:type="dcterms:W3CDTF">2026-07-29T06:54:46Z</dcterms:created>
  <dcterms:modified xsi:type="dcterms:W3CDTF">2026-07-29T06:54:46Z</dcterms:modified>
</cp:coreProperties>
</file>