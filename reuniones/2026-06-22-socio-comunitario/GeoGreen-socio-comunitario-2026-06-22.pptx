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11.svg" ContentType="image/svg+xml"/>
  <Override PartName="/ppt/media/image2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5" r:id="rId4"/>
    <p:sldId id="257" r:id="rId5"/>
    <p:sldId id="286" r:id="rId6"/>
    <p:sldId id="287" r:id="rId14"/>
    <p:sldId id="288" r:id="rId15"/>
    <p:sldId id="289" r:id="rId13"/>
    <p:sldId id="290" r:id="rId12"/>
    <p:sldId id="291" r:id="rId11"/>
    <p:sldId id="292" r:id="rId10"/>
    <p:sldId id="293" r:id="rId9"/>
    <p:sldId id="294" r:id="rId8"/>
    <p:sldId id="295" r:id="rId7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A8B"/>
    <a:srgbClr val="AA0000"/>
    <a:srgbClr val="172844"/>
    <a:srgbClr val="4CB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5E976-EA3D-4450-A360-064ED2C42DC9}" v="1" dt="2026-06-15T17:25:14.6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>
      <p:cViewPr varScale="1">
        <p:scale>
          <a:sx n="74" d="100"/>
          <a:sy n="74" d="100"/>
        </p:scale>
        <p:origin x="3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Liliana Prado Vargas" userId="bbbe6eb3-fcda-458c-ac27-956984077431" providerId="ADAL" clId="{450DA33A-031D-4167-90FD-1818E0F39128}"/>
    <pc:docChg chg="delSld modSld">
      <pc:chgData name="Pamela Liliana Prado Vargas" userId="bbbe6eb3-fcda-458c-ac27-956984077431" providerId="ADAL" clId="{450DA33A-031D-4167-90FD-1818E0F39128}" dt="2026-06-15T17:25:20.216" v="12" actId="20577"/>
      <pc:docMkLst>
        <pc:docMk/>
      </pc:docMkLst>
      <pc:sldChg chg="del">
        <pc:chgData name="Pamela Liliana Prado Vargas" userId="bbbe6eb3-fcda-458c-ac27-956984077431" providerId="ADAL" clId="{450DA33A-031D-4167-90FD-1818E0F39128}" dt="2026-06-15T17:21:38.899" v="1" actId="47"/>
        <pc:sldMkLst>
          <pc:docMk/>
          <pc:sldMk cId="3992743698" sldId="310"/>
        </pc:sldMkLst>
      </pc:sldChg>
      <pc:sldChg chg="del">
        <pc:chgData name="Pamela Liliana Prado Vargas" userId="bbbe6eb3-fcda-458c-ac27-956984077431" providerId="ADAL" clId="{450DA33A-031D-4167-90FD-1818E0F39128}" dt="2026-06-15T17:25:00.723" v="2" actId="47"/>
        <pc:sldMkLst>
          <pc:docMk/>
          <pc:sldMk cId="3519404279" sldId="311"/>
        </pc:sldMkLst>
      </pc:sldChg>
      <pc:sldChg chg="addSp modSp mod">
        <pc:chgData name="Pamela Liliana Prado Vargas" userId="bbbe6eb3-fcda-458c-ac27-956984077431" providerId="ADAL" clId="{450DA33A-031D-4167-90FD-1818E0F39128}" dt="2026-06-15T17:25:20.216" v="12" actId="20577"/>
        <pc:sldMkLst>
          <pc:docMk/>
          <pc:sldMk cId="1690507080" sldId="312"/>
        </pc:sldMkLst>
        <pc:spChg chg="add mod">
          <ac:chgData name="Pamela Liliana Prado Vargas" userId="bbbe6eb3-fcda-458c-ac27-956984077431" providerId="ADAL" clId="{450DA33A-031D-4167-90FD-1818E0F39128}" dt="2026-06-15T17:25:20.216" v="12" actId="20577"/>
          <ac:spMkLst>
            <pc:docMk/>
            <pc:sldMk cId="1690507080" sldId="312"/>
            <ac:spMk id="2" creationId="{8112A13E-EB23-206F-239E-A45A083C6DF6}"/>
          </ac:spMkLst>
        </pc:spChg>
      </pc:sldChg>
      <pc:sldChg chg="del">
        <pc:chgData name="Pamela Liliana Prado Vargas" userId="bbbe6eb3-fcda-458c-ac27-956984077431" providerId="ADAL" clId="{450DA33A-031D-4167-90FD-1818E0F39128}" dt="2026-06-15T17:21:31.129" v="0" actId="47"/>
        <pc:sldMkLst>
          <pc:docMk/>
          <pc:sldMk cId="2242375040" sldId="33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D0A0C-D266-4A47-9C87-3056ADED8F3B}" type="datetimeFigureOut">
              <a:rPr lang="es-CL" smtClean="0"/>
              <a:t>15-06-2026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0D770-0040-453E-9841-0EC5739E1C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511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50D770-0040-453E-9841-0EC5739E1C4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14377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73246EA4-AEA7-9B6B-FF00-74AAB51F4E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1618279"/>
            <a:ext cx="4441427" cy="4433655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5057853-E527-FBFE-8AD5-C509FDC0C7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3166"/>
            <a:ext cx="8458200" cy="685800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>
              <a:defRPr sz="2000">
                <a:latin typeface="Ubuntu" panose="020B0504030602030204" pitchFamily="34" charset="0"/>
              </a:defRPr>
            </a:lvl2pPr>
            <a:lvl3pPr>
              <a:defRPr sz="2000">
                <a:latin typeface="Ubuntu" panose="020B0504030602030204" pitchFamily="34" charset="0"/>
              </a:defRPr>
            </a:lvl3pPr>
            <a:lvl4pPr>
              <a:defRPr sz="2000">
                <a:latin typeface="Ubuntu" panose="020B0504030602030204" pitchFamily="34" charset="0"/>
              </a:defRPr>
            </a:lvl4pPr>
            <a:lvl5pPr>
              <a:defRPr sz="2000">
                <a:latin typeface="Ubuntu" panose="020B0504030602030204" pitchFamily="34" charset="0"/>
              </a:defRPr>
            </a:lvl5pPr>
          </a:lstStyle>
          <a:p>
            <a:pPr lvl="0"/>
            <a:r>
              <a:rPr lang="es-ES" dirty="0"/>
              <a:t>TÍTULO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E4367A8-91BE-0DDD-BD55-9BD0D1DCAB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4D6B44-AB32-44DD-1C9C-42C2B6C4F9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9863" y="304800"/>
            <a:ext cx="2193259" cy="2189422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85EF43E-82A0-E6CB-B82B-060E7CF25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73" y="304801"/>
            <a:ext cx="2133511" cy="2133601"/>
          </a:xfrm>
          <a:custGeom>
            <a:avLst/>
            <a:gdLst>
              <a:gd name="csX0" fmla="*/ 1066755 w 2133511"/>
              <a:gd name="csY0" fmla="*/ 0 h 2133601"/>
              <a:gd name="csX1" fmla="*/ 1242398 w 2133511"/>
              <a:gd name="csY1" fmla="*/ 72855 h 2133601"/>
              <a:gd name="csX2" fmla="*/ 2060745 w 2133511"/>
              <a:gd name="csY2" fmla="*/ 891203 h 2133601"/>
              <a:gd name="csX3" fmla="*/ 2133511 w 2133511"/>
              <a:gd name="csY3" fmla="*/ 1066845 h 2133601"/>
              <a:gd name="csX4" fmla="*/ 2133511 w 2133511"/>
              <a:gd name="csY4" fmla="*/ 1885193 h 2133601"/>
              <a:gd name="csX5" fmla="*/ 1885103 w 2133511"/>
              <a:gd name="csY5" fmla="*/ 2133601 h 2133601"/>
              <a:gd name="csX6" fmla="*/ 248408 w 2133511"/>
              <a:gd name="csY6" fmla="*/ 2133601 h 2133601"/>
              <a:gd name="csX7" fmla="*/ 0 w 2133511"/>
              <a:gd name="csY7" fmla="*/ 1885193 h 2133601"/>
              <a:gd name="csX8" fmla="*/ 0 w 2133511"/>
              <a:gd name="csY8" fmla="*/ 1066845 h 2133601"/>
              <a:gd name="csX9" fmla="*/ 72766 w 2133511"/>
              <a:gd name="csY9" fmla="*/ 891203 h 2133601"/>
              <a:gd name="csX10" fmla="*/ 891113 w 2133511"/>
              <a:gd name="csY10" fmla="*/ 72855 h 2133601"/>
              <a:gd name="csX11" fmla="*/ 1066755 w 2133511"/>
              <a:gd name="csY11" fmla="*/ 0 h 2133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33511" h="2133601">
                <a:moveTo>
                  <a:pt x="1066755" y="0"/>
                </a:moveTo>
                <a:cubicBezTo>
                  <a:pt x="1130291" y="0"/>
                  <a:pt x="1193827" y="24285"/>
                  <a:pt x="1242398" y="72855"/>
                </a:cubicBezTo>
                <a:lnTo>
                  <a:pt x="2060745" y="891203"/>
                </a:lnTo>
                <a:cubicBezTo>
                  <a:pt x="2107344" y="937802"/>
                  <a:pt x="2133511" y="1000889"/>
                  <a:pt x="2133511" y="1066845"/>
                </a:cubicBezTo>
                <a:lnTo>
                  <a:pt x="2133511" y="1885193"/>
                </a:lnTo>
                <a:cubicBezTo>
                  <a:pt x="2133511" y="2022481"/>
                  <a:pt x="2022391" y="2133601"/>
                  <a:pt x="1885103" y="2133601"/>
                </a:cubicBezTo>
                <a:lnTo>
                  <a:pt x="248408" y="2133601"/>
                </a:lnTo>
                <a:cubicBezTo>
                  <a:pt x="111121" y="2133601"/>
                  <a:pt x="0" y="2022481"/>
                  <a:pt x="0" y="1885193"/>
                </a:cubicBezTo>
                <a:lnTo>
                  <a:pt x="0" y="1066845"/>
                </a:lnTo>
                <a:cubicBezTo>
                  <a:pt x="0" y="1000889"/>
                  <a:pt x="26167" y="937802"/>
                  <a:pt x="72766" y="891203"/>
                </a:cubicBezTo>
                <a:lnTo>
                  <a:pt x="891113" y="72855"/>
                </a:lnTo>
                <a:cubicBezTo>
                  <a:pt x="939684" y="24285"/>
                  <a:pt x="1003219" y="0"/>
                  <a:pt x="106675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DA524760-B4AE-B19C-29DF-D45C99C326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33774" y="304800"/>
            <a:ext cx="3124200" cy="2133600"/>
          </a:xfrm>
          <a:custGeom>
            <a:avLst/>
            <a:gdLst>
              <a:gd name="csX0" fmla="*/ 355607 w 3124200"/>
              <a:gd name="csY0" fmla="*/ 0 h 2133600"/>
              <a:gd name="csX1" fmla="*/ 2768593 w 3124200"/>
              <a:gd name="csY1" fmla="*/ 0 h 2133600"/>
              <a:gd name="csX2" fmla="*/ 3124200 w 3124200"/>
              <a:gd name="csY2" fmla="*/ 355607 h 2133600"/>
              <a:gd name="csX3" fmla="*/ 3124200 w 3124200"/>
              <a:gd name="csY3" fmla="*/ 1777994 h 2133600"/>
              <a:gd name="csX4" fmla="*/ 2840260 w 3124200"/>
              <a:gd name="csY4" fmla="*/ 2126376 h 2133600"/>
              <a:gd name="csX5" fmla="*/ 2768603 w 3124200"/>
              <a:gd name="csY5" fmla="*/ 2133600 h 2133600"/>
              <a:gd name="csX6" fmla="*/ 355597 w 3124200"/>
              <a:gd name="csY6" fmla="*/ 2133600 h 2133600"/>
              <a:gd name="csX7" fmla="*/ 283940 w 3124200"/>
              <a:gd name="csY7" fmla="*/ 2126376 h 2133600"/>
              <a:gd name="csX8" fmla="*/ 0 w 3124200"/>
              <a:gd name="csY8" fmla="*/ 1777994 h 2133600"/>
              <a:gd name="csX9" fmla="*/ 0 w 3124200"/>
              <a:gd name="csY9" fmla="*/ 355607 h 2133600"/>
              <a:gd name="csX10" fmla="*/ 355607 w 3124200"/>
              <a:gd name="csY10" fmla="*/ 0 h 213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24200" h="2133600">
                <a:moveTo>
                  <a:pt x="355607" y="0"/>
                </a:moveTo>
                <a:lnTo>
                  <a:pt x="2768593" y="0"/>
                </a:lnTo>
                <a:cubicBezTo>
                  <a:pt x="2964989" y="0"/>
                  <a:pt x="3124200" y="159211"/>
                  <a:pt x="3124200" y="355607"/>
                </a:cubicBezTo>
                <a:lnTo>
                  <a:pt x="3124200" y="1777994"/>
                </a:lnTo>
                <a:cubicBezTo>
                  <a:pt x="3124200" y="1949841"/>
                  <a:pt x="3002304" y="2093217"/>
                  <a:pt x="2840260" y="2126376"/>
                </a:cubicBezTo>
                <a:lnTo>
                  <a:pt x="2768603" y="2133600"/>
                </a:lnTo>
                <a:lnTo>
                  <a:pt x="355597" y="2133600"/>
                </a:lnTo>
                <a:lnTo>
                  <a:pt x="283940" y="2126376"/>
                </a:lnTo>
                <a:cubicBezTo>
                  <a:pt x="121896" y="2093217"/>
                  <a:pt x="0" y="1949841"/>
                  <a:pt x="0" y="1777994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34147912-A25C-9935-F0FB-F14121C41A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37775" y="315414"/>
            <a:ext cx="2128084" cy="218942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4D6B44-AB32-44DD-1C9C-42C2B6C4F9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9863" y="304800"/>
            <a:ext cx="2193259" cy="2189422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85EF43E-82A0-E6CB-B82B-060E7CF25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73" y="304801"/>
            <a:ext cx="2133511" cy="2133601"/>
          </a:xfrm>
          <a:custGeom>
            <a:avLst/>
            <a:gdLst>
              <a:gd name="csX0" fmla="*/ 1066755 w 2133511"/>
              <a:gd name="csY0" fmla="*/ 0 h 2133601"/>
              <a:gd name="csX1" fmla="*/ 1242398 w 2133511"/>
              <a:gd name="csY1" fmla="*/ 72855 h 2133601"/>
              <a:gd name="csX2" fmla="*/ 2060745 w 2133511"/>
              <a:gd name="csY2" fmla="*/ 891203 h 2133601"/>
              <a:gd name="csX3" fmla="*/ 2133511 w 2133511"/>
              <a:gd name="csY3" fmla="*/ 1066845 h 2133601"/>
              <a:gd name="csX4" fmla="*/ 2133511 w 2133511"/>
              <a:gd name="csY4" fmla="*/ 1885193 h 2133601"/>
              <a:gd name="csX5" fmla="*/ 1885103 w 2133511"/>
              <a:gd name="csY5" fmla="*/ 2133601 h 2133601"/>
              <a:gd name="csX6" fmla="*/ 248408 w 2133511"/>
              <a:gd name="csY6" fmla="*/ 2133601 h 2133601"/>
              <a:gd name="csX7" fmla="*/ 0 w 2133511"/>
              <a:gd name="csY7" fmla="*/ 1885193 h 2133601"/>
              <a:gd name="csX8" fmla="*/ 0 w 2133511"/>
              <a:gd name="csY8" fmla="*/ 1066845 h 2133601"/>
              <a:gd name="csX9" fmla="*/ 72766 w 2133511"/>
              <a:gd name="csY9" fmla="*/ 891203 h 2133601"/>
              <a:gd name="csX10" fmla="*/ 891113 w 2133511"/>
              <a:gd name="csY10" fmla="*/ 72855 h 2133601"/>
              <a:gd name="csX11" fmla="*/ 1066755 w 2133511"/>
              <a:gd name="csY11" fmla="*/ 0 h 2133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33511" h="2133601">
                <a:moveTo>
                  <a:pt x="1066755" y="0"/>
                </a:moveTo>
                <a:cubicBezTo>
                  <a:pt x="1130291" y="0"/>
                  <a:pt x="1193827" y="24285"/>
                  <a:pt x="1242398" y="72855"/>
                </a:cubicBezTo>
                <a:lnTo>
                  <a:pt x="2060745" y="891203"/>
                </a:lnTo>
                <a:cubicBezTo>
                  <a:pt x="2107344" y="937802"/>
                  <a:pt x="2133511" y="1000889"/>
                  <a:pt x="2133511" y="1066845"/>
                </a:cubicBezTo>
                <a:lnTo>
                  <a:pt x="2133511" y="1885193"/>
                </a:lnTo>
                <a:cubicBezTo>
                  <a:pt x="2133511" y="2022481"/>
                  <a:pt x="2022391" y="2133601"/>
                  <a:pt x="1885103" y="2133601"/>
                </a:cubicBezTo>
                <a:lnTo>
                  <a:pt x="248408" y="2133601"/>
                </a:lnTo>
                <a:cubicBezTo>
                  <a:pt x="111121" y="2133601"/>
                  <a:pt x="0" y="2022481"/>
                  <a:pt x="0" y="1885193"/>
                </a:cubicBezTo>
                <a:lnTo>
                  <a:pt x="0" y="1066845"/>
                </a:lnTo>
                <a:cubicBezTo>
                  <a:pt x="0" y="1000889"/>
                  <a:pt x="26167" y="937802"/>
                  <a:pt x="72766" y="891203"/>
                </a:cubicBezTo>
                <a:lnTo>
                  <a:pt x="891113" y="72855"/>
                </a:lnTo>
                <a:cubicBezTo>
                  <a:pt x="939684" y="24285"/>
                  <a:pt x="1003219" y="0"/>
                  <a:pt x="106675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DA524760-B4AE-B19C-29DF-D45C99C326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33774" y="304800"/>
            <a:ext cx="3124200" cy="2133600"/>
          </a:xfrm>
          <a:custGeom>
            <a:avLst/>
            <a:gdLst>
              <a:gd name="csX0" fmla="*/ 355607 w 3124200"/>
              <a:gd name="csY0" fmla="*/ 0 h 2133600"/>
              <a:gd name="csX1" fmla="*/ 2768593 w 3124200"/>
              <a:gd name="csY1" fmla="*/ 0 h 2133600"/>
              <a:gd name="csX2" fmla="*/ 3124200 w 3124200"/>
              <a:gd name="csY2" fmla="*/ 355607 h 2133600"/>
              <a:gd name="csX3" fmla="*/ 3124200 w 3124200"/>
              <a:gd name="csY3" fmla="*/ 1777994 h 2133600"/>
              <a:gd name="csX4" fmla="*/ 2840260 w 3124200"/>
              <a:gd name="csY4" fmla="*/ 2126376 h 2133600"/>
              <a:gd name="csX5" fmla="*/ 2768603 w 3124200"/>
              <a:gd name="csY5" fmla="*/ 2133600 h 2133600"/>
              <a:gd name="csX6" fmla="*/ 355597 w 3124200"/>
              <a:gd name="csY6" fmla="*/ 2133600 h 2133600"/>
              <a:gd name="csX7" fmla="*/ 283940 w 3124200"/>
              <a:gd name="csY7" fmla="*/ 2126376 h 2133600"/>
              <a:gd name="csX8" fmla="*/ 0 w 3124200"/>
              <a:gd name="csY8" fmla="*/ 1777994 h 2133600"/>
              <a:gd name="csX9" fmla="*/ 0 w 3124200"/>
              <a:gd name="csY9" fmla="*/ 355607 h 2133600"/>
              <a:gd name="csX10" fmla="*/ 355607 w 3124200"/>
              <a:gd name="csY10" fmla="*/ 0 h 213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24200" h="2133600">
                <a:moveTo>
                  <a:pt x="355607" y="0"/>
                </a:moveTo>
                <a:lnTo>
                  <a:pt x="2768593" y="0"/>
                </a:lnTo>
                <a:cubicBezTo>
                  <a:pt x="2964989" y="0"/>
                  <a:pt x="3124200" y="159211"/>
                  <a:pt x="3124200" y="355607"/>
                </a:cubicBezTo>
                <a:lnTo>
                  <a:pt x="3124200" y="1777994"/>
                </a:lnTo>
                <a:cubicBezTo>
                  <a:pt x="3124200" y="1949841"/>
                  <a:pt x="3002304" y="2093217"/>
                  <a:pt x="2840260" y="2126376"/>
                </a:cubicBezTo>
                <a:lnTo>
                  <a:pt x="2768603" y="2133600"/>
                </a:lnTo>
                <a:lnTo>
                  <a:pt x="355597" y="2133600"/>
                </a:lnTo>
                <a:lnTo>
                  <a:pt x="283940" y="2126376"/>
                </a:lnTo>
                <a:cubicBezTo>
                  <a:pt x="121896" y="2093217"/>
                  <a:pt x="0" y="1949841"/>
                  <a:pt x="0" y="1777994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34147912-A25C-9935-F0FB-F14121C41A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37775" y="315414"/>
            <a:ext cx="2128084" cy="218942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124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23C0FE88-FF76-B484-7DAE-0BD8EC753A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2959175"/>
            <a:ext cx="3276600" cy="337104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15C092E-2163-0449-D039-0D80F992E1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23C0FE88-FF76-B484-7DAE-0BD8EC753A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2959175"/>
            <a:ext cx="3276600" cy="337104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8434266-81BE-3331-6207-C51AD872C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3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172844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AA0000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EF40A6D-4F9B-9AE6-4382-7BA4EAA871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0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AA0000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032766F-8767-1598-AF62-1349EF4F81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3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3B6C87C8-304E-A284-20EE-BF236D2EA1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78048" y="3429000"/>
            <a:ext cx="4042553" cy="2866572"/>
          </a:xfrm>
          <a:custGeom>
            <a:avLst/>
            <a:gdLst>
              <a:gd name="csX0" fmla="*/ 1087477 w 4042553"/>
              <a:gd name="csY0" fmla="*/ 0 h 2866572"/>
              <a:gd name="csX1" fmla="*/ 4042553 w 4042553"/>
              <a:gd name="csY1" fmla="*/ 0 h 2866572"/>
              <a:gd name="csX2" fmla="*/ 4042553 w 4042553"/>
              <a:gd name="csY2" fmla="*/ 2866572 h 2866572"/>
              <a:gd name="csX3" fmla="*/ 314372 w 4042553"/>
              <a:gd name="csY3" fmla="*/ 2866572 h 2866572"/>
              <a:gd name="csX4" fmla="*/ 0 w 4042553"/>
              <a:gd name="csY4" fmla="*/ 2552200 h 2866572"/>
              <a:gd name="csX5" fmla="*/ 0 w 4042553"/>
              <a:gd name="csY5" fmla="*/ 1087477 h 2866572"/>
              <a:gd name="csX6" fmla="*/ 92048 w 4042553"/>
              <a:gd name="csY6" fmla="*/ 865153 h 2866572"/>
              <a:gd name="csX7" fmla="*/ 865153 w 4042553"/>
              <a:gd name="csY7" fmla="*/ 92048 h 2866572"/>
              <a:gd name="csX8" fmla="*/ 1087477 w 4042553"/>
              <a:gd name="csY8" fmla="*/ 0 h 286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42553" h="2866572">
                <a:moveTo>
                  <a:pt x="1087477" y="0"/>
                </a:moveTo>
                <a:lnTo>
                  <a:pt x="4042553" y="0"/>
                </a:lnTo>
                <a:lnTo>
                  <a:pt x="4042553" y="2866572"/>
                </a:lnTo>
                <a:lnTo>
                  <a:pt x="314372" y="2866572"/>
                </a:lnTo>
                <a:cubicBezTo>
                  <a:pt x="140839" y="2866572"/>
                  <a:pt x="0" y="2725733"/>
                  <a:pt x="0" y="2552200"/>
                </a:cubicBezTo>
                <a:lnTo>
                  <a:pt x="0" y="1087477"/>
                </a:lnTo>
                <a:cubicBezTo>
                  <a:pt x="0" y="1003979"/>
                  <a:pt x="33198" y="924003"/>
                  <a:pt x="92048" y="865153"/>
                </a:cubicBezTo>
                <a:lnTo>
                  <a:pt x="865153" y="92048"/>
                </a:lnTo>
                <a:cubicBezTo>
                  <a:pt x="924003" y="33198"/>
                  <a:pt x="1003979" y="0"/>
                  <a:pt x="1087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EB35CD3-8A53-FE5D-9F93-72B28283E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945" y="3124200"/>
            <a:ext cx="862205" cy="8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lank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3B6C87C8-304E-A284-20EE-BF236D2EA1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78048" y="3429000"/>
            <a:ext cx="4042553" cy="2866572"/>
          </a:xfrm>
          <a:custGeom>
            <a:avLst/>
            <a:gdLst>
              <a:gd name="csX0" fmla="*/ 1087477 w 4042553"/>
              <a:gd name="csY0" fmla="*/ 0 h 2866572"/>
              <a:gd name="csX1" fmla="*/ 4042553 w 4042553"/>
              <a:gd name="csY1" fmla="*/ 0 h 2866572"/>
              <a:gd name="csX2" fmla="*/ 4042553 w 4042553"/>
              <a:gd name="csY2" fmla="*/ 2866572 h 2866572"/>
              <a:gd name="csX3" fmla="*/ 314372 w 4042553"/>
              <a:gd name="csY3" fmla="*/ 2866572 h 2866572"/>
              <a:gd name="csX4" fmla="*/ 0 w 4042553"/>
              <a:gd name="csY4" fmla="*/ 2552200 h 2866572"/>
              <a:gd name="csX5" fmla="*/ 0 w 4042553"/>
              <a:gd name="csY5" fmla="*/ 1087477 h 2866572"/>
              <a:gd name="csX6" fmla="*/ 92048 w 4042553"/>
              <a:gd name="csY6" fmla="*/ 865153 h 2866572"/>
              <a:gd name="csX7" fmla="*/ 865153 w 4042553"/>
              <a:gd name="csY7" fmla="*/ 92048 h 2866572"/>
              <a:gd name="csX8" fmla="*/ 1087477 w 4042553"/>
              <a:gd name="csY8" fmla="*/ 0 h 286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42553" h="2866572">
                <a:moveTo>
                  <a:pt x="1087477" y="0"/>
                </a:moveTo>
                <a:lnTo>
                  <a:pt x="4042553" y="0"/>
                </a:lnTo>
                <a:lnTo>
                  <a:pt x="4042553" y="2866572"/>
                </a:lnTo>
                <a:lnTo>
                  <a:pt x="314372" y="2866572"/>
                </a:lnTo>
                <a:cubicBezTo>
                  <a:pt x="140839" y="2866572"/>
                  <a:pt x="0" y="2725733"/>
                  <a:pt x="0" y="2552200"/>
                </a:cubicBezTo>
                <a:lnTo>
                  <a:pt x="0" y="1087477"/>
                </a:lnTo>
                <a:cubicBezTo>
                  <a:pt x="0" y="1003979"/>
                  <a:pt x="33198" y="924003"/>
                  <a:pt x="92048" y="865153"/>
                </a:cubicBezTo>
                <a:lnTo>
                  <a:pt x="865153" y="92048"/>
                </a:lnTo>
                <a:cubicBezTo>
                  <a:pt x="924003" y="33198"/>
                  <a:pt x="1003979" y="0"/>
                  <a:pt x="1087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EB35CD3-8A53-FE5D-9F93-72B28283E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945" y="3124200"/>
            <a:ext cx="862205" cy="8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2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95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4316DF2-F7D8-6655-CBBE-AA57F4F6F5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14E52C1-29A7-E997-43E9-A2066FF88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42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26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1A098AB-C060-1325-B878-F05252BC55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6829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7C52F98-02D9-32FC-CD67-B7178A9955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53401" y="952500"/>
            <a:ext cx="3812623" cy="4953000"/>
          </a:xfrm>
          <a:custGeom>
            <a:avLst/>
            <a:gdLst>
              <a:gd name="csX0" fmla="*/ 1906302 w 3812623"/>
              <a:gd name="csY0" fmla="*/ 0 h 4953000"/>
              <a:gd name="csX1" fmla="*/ 2220159 w 3812623"/>
              <a:gd name="csY1" fmla="*/ 130001 h 4953000"/>
              <a:gd name="csX2" fmla="*/ 3682623 w 3812623"/>
              <a:gd name="csY2" fmla="*/ 1592445 h 4953000"/>
              <a:gd name="csX3" fmla="*/ 3812623 w 3812623"/>
              <a:gd name="csY3" fmla="*/ 1906312 h 4953000"/>
              <a:gd name="csX4" fmla="*/ 3812623 w 3812623"/>
              <a:gd name="csY4" fmla="*/ 4509132 h 4953000"/>
              <a:gd name="csX5" fmla="*/ 3368755 w 3812623"/>
              <a:gd name="csY5" fmla="*/ 4953000 h 4953000"/>
              <a:gd name="csX6" fmla="*/ 443868 w 3812623"/>
              <a:gd name="csY6" fmla="*/ 4953000 h 4953000"/>
              <a:gd name="csX7" fmla="*/ 0 w 3812623"/>
              <a:gd name="csY7" fmla="*/ 4509132 h 4953000"/>
              <a:gd name="csX8" fmla="*/ 0 w 3812623"/>
              <a:gd name="csY8" fmla="*/ 1906312 h 4953000"/>
              <a:gd name="csX9" fmla="*/ 130001 w 3812623"/>
              <a:gd name="csY9" fmla="*/ 1592445 h 4953000"/>
              <a:gd name="csX10" fmla="*/ 1592445 w 3812623"/>
              <a:gd name="csY10" fmla="*/ 130001 h 4953000"/>
              <a:gd name="csX11" fmla="*/ 1906302 w 3812623"/>
              <a:gd name="csY11" fmla="*/ 0 h 495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12623" h="4953000">
                <a:moveTo>
                  <a:pt x="1906302" y="0"/>
                </a:moveTo>
                <a:cubicBezTo>
                  <a:pt x="2019897" y="0"/>
                  <a:pt x="2133492" y="43334"/>
                  <a:pt x="2220159" y="130001"/>
                </a:cubicBezTo>
                <a:lnTo>
                  <a:pt x="3682623" y="1592445"/>
                </a:lnTo>
                <a:cubicBezTo>
                  <a:pt x="3765854" y="1675697"/>
                  <a:pt x="3812623" y="1788602"/>
                  <a:pt x="3812623" y="1906312"/>
                </a:cubicBezTo>
                <a:lnTo>
                  <a:pt x="3812623" y="4509132"/>
                </a:lnTo>
                <a:cubicBezTo>
                  <a:pt x="3812623" y="4754287"/>
                  <a:pt x="3613890" y="4953000"/>
                  <a:pt x="3368755" y="4953000"/>
                </a:cubicBezTo>
                <a:lnTo>
                  <a:pt x="443868" y="4953000"/>
                </a:lnTo>
                <a:cubicBezTo>
                  <a:pt x="198733" y="4953000"/>
                  <a:pt x="0" y="4754267"/>
                  <a:pt x="0" y="4509132"/>
                </a:cubicBezTo>
                <a:lnTo>
                  <a:pt x="0" y="1906312"/>
                </a:lnTo>
                <a:cubicBezTo>
                  <a:pt x="0" y="1788581"/>
                  <a:pt x="46769" y="1675676"/>
                  <a:pt x="130001" y="1592445"/>
                </a:cubicBezTo>
                <a:lnTo>
                  <a:pt x="1592445" y="130001"/>
                </a:lnTo>
                <a:cubicBezTo>
                  <a:pt x="1679112" y="43334"/>
                  <a:pt x="1792707" y="0"/>
                  <a:pt x="1906302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4122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7C52F98-02D9-32FC-CD67-B7178A9955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53401" y="952500"/>
            <a:ext cx="3812623" cy="4953000"/>
          </a:xfrm>
          <a:custGeom>
            <a:avLst/>
            <a:gdLst>
              <a:gd name="csX0" fmla="*/ 1906302 w 3812623"/>
              <a:gd name="csY0" fmla="*/ 0 h 4953000"/>
              <a:gd name="csX1" fmla="*/ 2220159 w 3812623"/>
              <a:gd name="csY1" fmla="*/ 130001 h 4953000"/>
              <a:gd name="csX2" fmla="*/ 3682623 w 3812623"/>
              <a:gd name="csY2" fmla="*/ 1592445 h 4953000"/>
              <a:gd name="csX3" fmla="*/ 3812623 w 3812623"/>
              <a:gd name="csY3" fmla="*/ 1906312 h 4953000"/>
              <a:gd name="csX4" fmla="*/ 3812623 w 3812623"/>
              <a:gd name="csY4" fmla="*/ 4509132 h 4953000"/>
              <a:gd name="csX5" fmla="*/ 3368755 w 3812623"/>
              <a:gd name="csY5" fmla="*/ 4953000 h 4953000"/>
              <a:gd name="csX6" fmla="*/ 443868 w 3812623"/>
              <a:gd name="csY6" fmla="*/ 4953000 h 4953000"/>
              <a:gd name="csX7" fmla="*/ 0 w 3812623"/>
              <a:gd name="csY7" fmla="*/ 4509132 h 4953000"/>
              <a:gd name="csX8" fmla="*/ 0 w 3812623"/>
              <a:gd name="csY8" fmla="*/ 1906312 h 4953000"/>
              <a:gd name="csX9" fmla="*/ 130001 w 3812623"/>
              <a:gd name="csY9" fmla="*/ 1592445 h 4953000"/>
              <a:gd name="csX10" fmla="*/ 1592445 w 3812623"/>
              <a:gd name="csY10" fmla="*/ 130001 h 4953000"/>
              <a:gd name="csX11" fmla="*/ 1906302 w 3812623"/>
              <a:gd name="csY11" fmla="*/ 0 h 495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12623" h="4953000">
                <a:moveTo>
                  <a:pt x="1906302" y="0"/>
                </a:moveTo>
                <a:cubicBezTo>
                  <a:pt x="2019897" y="0"/>
                  <a:pt x="2133492" y="43334"/>
                  <a:pt x="2220159" y="130001"/>
                </a:cubicBezTo>
                <a:lnTo>
                  <a:pt x="3682623" y="1592445"/>
                </a:lnTo>
                <a:cubicBezTo>
                  <a:pt x="3765854" y="1675697"/>
                  <a:pt x="3812623" y="1788602"/>
                  <a:pt x="3812623" y="1906312"/>
                </a:cubicBezTo>
                <a:lnTo>
                  <a:pt x="3812623" y="4509132"/>
                </a:lnTo>
                <a:cubicBezTo>
                  <a:pt x="3812623" y="4754287"/>
                  <a:pt x="3613890" y="4953000"/>
                  <a:pt x="3368755" y="4953000"/>
                </a:cubicBezTo>
                <a:lnTo>
                  <a:pt x="443868" y="4953000"/>
                </a:lnTo>
                <a:cubicBezTo>
                  <a:pt x="198733" y="4953000"/>
                  <a:pt x="0" y="4754267"/>
                  <a:pt x="0" y="4509132"/>
                </a:cubicBezTo>
                <a:lnTo>
                  <a:pt x="0" y="1906312"/>
                </a:lnTo>
                <a:cubicBezTo>
                  <a:pt x="0" y="1788581"/>
                  <a:pt x="46769" y="1675676"/>
                  <a:pt x="130001" y="1592445"/>
                </a:cubicBezTo>
                <a:lnTo>
                  <a:pt x="1592445" y="130001"/>
                </a:lnTo>
                <a:cubicBezTo>
                  <a:pt x="1679112" y="43334"/>
                  <a:pt x="1792707" y="0"/>
                  <a:pt x="1906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2491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4E681898-F15A-0AA3-FE59-2F74A642EE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  <p:sp>
        <p:nvSpPr>
          <p:cNvPr id="13" name="Marcador de medios 12">
            <a:extLst>
              <a:ext uri="{FF2B5EF4-FFF2-40B4-BE49-F238E27FC236}">
                <a16:creationId xmlns:a16="http://schemas.microsoft.com/office/drawing/2014/main" id="{B55E7289-AAB5-F135-3660-3C4D0A7DBCDA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62000" y="1371601"/>
            <a:ext cx="10820400" cy="5185159"/>
          </a:xfrm>
          <a:custGeom>
            <a:avLst/>
            <a:gdLst>
              <a:gd name="csX0" fmla="*/ 194340 w 10820400"/>
              <a:gd name="csY0" fmla="*/ 0 h 5185159"/>
              <a:gd name="csX1" fmla="*/ 10626060 w 10820400"/>
              <a:gd name="csY1" fmla="*/ 0 h 5185159"/>
              <a:gd name="csX2" fmla="*/ 10820400 w 10820400"/>
              <a:gd name="csY2" fmla="*/ 194340 h 5185159"/>
              <a:gd name="csX3" fmla="*/ 10820400 w 10820400"/>
              <a:gd name="csY3" fmla="*/ 4990819 h 5185159"/>
              <a:gd name="csX4" fmla="*/ 10626060 w 10820400"/>
              <a:gd name="csY4" fmla="*/ 5185159 h 5185159"/>
              <a:gd name="csX5" fmla="*/ 194340 w 10820400"/>
              <a:gd name="csY5" fmla="*/ 5185159 h 5185159"/>
              <a:gd name="csX6" fmla="*/ 0 w 10820400"/>
              <a:gd name="csY6" fmla="*/ 4990819 h 5185159"/>
              <a:gd name="csX7" fmla="*/ 0 w 10820400"/>
              <a:gd name="csY7" fmla="*/ 194340 h 5185159"/>
              <a:gd name="csX8" fmla="*/ 194340 w 10820400"/>
              <a:gd name="csY8" fmla="*/ 0 h 5185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820400" h="5185159">
                <a:moveTo>
                  <a:pt x="194340" y="0"/>
                </a:moveTo>
                <a:lnTo>
                  <a:pt x="10626060" y="0"/>
                </a:lnTo>
                <a:cubicBezTo>
                  <a:pt x="10733391" y="0"/>
                  <a:pt x="10820400" y="87009"/>
                  <a:pt x="10820400" y="194340"/>
                </a:cubicBezTo>
                <a:lnTo>
                  <a:pt x="10820400" y="4990819"/>
                </a:lnTo>
                <a:cubicBezTo>
                  <a:pt x="10820400" y="5098150"/>
                  <a:pt x="10733391" y="5185159"/>
                  <a:pt x="10626060" y="5185159"/>
                </a:cubicBezTo>
                <a:lnTo>
                  <a:pt x="194340" y="5185159"/>
                </a:lnTo>
                <a:cubicBezTo>
                  <a:pt x="87009" y="5185159"/>
                  <a:pt x="0" y="5098150"/>
                  <a:pt x="0" y="4990819"/>
                </a:cubicBezTo>
                <a:lnTo>
                  <a:pt x="0" y="194340"/>
                </a:lnTo>
                <a:cubicBezTo>
                  <a:pt x="0" y="87009"/>
                  <a:pt x="87009" y="0"/>
                  <a:pt x="194340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5346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1A098AB-C060-1325-B878-F05252BC55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6C44BA0-FD0D-97B2-2FE3-3A6A34B4BB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29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E1784D-DBA1-2ED6-76D1-ED1809447E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72844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8663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8B95CCC0-9713-8FC5-1369-C867D48C0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98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7AA0755-B82F-FB8C-D3DD-86DE114DA9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7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2AD3248-2901-DFC5-4443-617F97E960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59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14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3" r:id="rId4"/>
    <p:sldLayoutId id="2147483669" r:id="rId5"/>
    <p:sldLayoutId id="2147483664" r:id="rId6"/>
    <p:sldLayoutId id="2147483671" r:id="rId7"/>
    <p:sldLayoutId id="2147483670" r:id="rId8"/>
    <p:sldLayoutId id="2147483665" r:id="rId9"/>
    <p:sldLayoutId id="2147483680" r:id="rId10"/>
    <p:sldLayoutId id="2147483681" r:id="rId11"/>
    <p:sldLayoutId id="2147483685" r:id="rId12"/>
    <p:sldLayoutId id="2147483672" r:id="rId13"/>
    <p:sldLayoutId id="2147483673" r:id="rId14"/>
    <p:sldLayoutId id="2147483666" r:id="rId15"/>
    <p:sldLayoutId id="2147483683" r:id="rId16"/>
    <p:sldLayoutId id="2147483684" r:id="rId17"/>
    <p:sldLayoutId id="2147483682" r:id="rId18"/>
    <p:sldLayoutId id="2147483674" r:id="rId19"/>
    <p:sldLayoutId id="2147483667" r:id="rId20"/>
    <p:sldLayoutId id="2147483675" r:id="rId21"/>
    <p:sldLayoutId id="2147483676" r:id="rId22"/>
    <p:sldLayoutId id="2147483677" r:id="rId23"/>
    <p:sldLayoutId id="2147483679" r:id="rId2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7.jpeg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.svg"/><Relationship Id="rId6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svg"/><Relationship Id="rId3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20270" y="4678997"/>
            <a:ext cx="4037530" cy="9271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30"/>
              </a:spcBef>
            </a:pPr>
            <a:r>
              <a:rPr lang="es-MX" sz="2000" b="1">
                <a:solidFill>
                  <a:srgbClr val="FFFFFF"/>
                </a:solidFill>
                <a:latin typeface="Verdana"/>
                <a:cs typeface="Verdana"/>
              </a:rPr>
              <a:t>AIEP OSORNO</a:t>
            </a:r>
            <a:endParaRPr lang="es-MX" sz="20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ts val="2290"/>
              </a:lnSpc>
              <a:spcBef>
                <a:spcPts val="130"/>
              </a:spcBef>
            </a:pPr>
            <a:endParaRPr lang="es-MX" sz="20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ts val="2290"/>
              </a:lnSpc>
              <a:spcBef>
                <a:spcPts val="130"/>
              </a:spcBef>
            </a:pPr>
            <a:r>
              <a:rPr lang="es-MX" sz="2000" dirty="0">
                <a:solidFill>
                  <a:srgbClr val="FFFFFF"/>
                </a:solidFill>
                <a:latin typeface="Verdana"/>
                <a:cs typeface="Verdana"/>
              </a:rPr>
              <a:t>Junio 2026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F9CDB7-E409-27DF-6C06-C5855C5F350D}"/>
              </a:ext>
            </a:extLst>
          </p:cNvPr>
          <p:cNvSpPr txBox="1"/>
          <p:nvPr/>
        </p:nvSpPr>
        <p:spPr>
          <a:xfrm>
            <a:off x="1151491" y="2341136"/>
            <a:ext cx="49445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PROYECTO GEOGREEN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1EF7D8C0-4EE1-FEF7-6D7C-B6A4D146F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023" y="2309238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661528" y="1828800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277279" y="15972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27974" y="841100"/>
                </a:lnTo>
                <a:lnTo>
                  <a:pt x="95504" y="869022"/>
                </a:lnTo>
                <a:lnTo>
                  <a:pt x="2064229" y="869023"/>
                </a:lnTo>
                <a:lnTo>
                  <a:pt x="2082931" y="867178"/>
                </a:lnTo>
                <a:lnTo>
                  <a:pt x="2131728" y="841135"/>
                </a:lnTo>
                <a:lnTo>
                  <a:pt x="2366456" y="606830"/>
                </a:lnTo>
                <a:lnTo>
                  <a:pt x="2392580" y="558118"/>
                </a:lnTo>
                <a:lnTo>
                  <a:pt x="2394428" y="539440"/>
                </a:lnTo>
                <a:lnTo>
                  <a:pt x="2394428" y="95296"/>
                </a:lnTo>
                <a:lnTo>
                  <a:pt x="2386929" y="58192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5205" y="1952229"/>
            <a:ext cx="1936433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Misión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1929" y="1747428"/>
            <a:ext cx="4344271" cy="130997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35"/>
              </a:spcBef>
            </a:pPr>
            <a:r>
              <a:rPr lang="es-MX"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Formamos a lo largo de la vida para el trabajo y el emprendimiento, con educación de calidad, flexible, potenciada por la tecnología y la innovación, para dar oportunidades sin distinciones ni fronteras y contribuir al desarrollo sostenible de cada territorio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1930" y="3465103"/>
            <a:ext cx="4308336" cy="652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visión</a:t>
            </a:r>
            <a:r>
              <a:rPr sz="1400" spc="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AIEP</a:t>
            </a:r>
            <a:r>
              <a:rPr sz="1400" spc="-1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es</a:t>
            </a:r>
            <a:r>
              <a:rPr sz="1400" spc="-5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ser</a:t>
            </a:r>
            <a:r>
              <a:rPr sz="1400" spc="-7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líder</a:t>
            </a:r>
            <a:r>
              <a:rPr sz="1400" spc="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</a:t>
            </a:r>
            <a:r>
              <a:rPr sz="1400" spc="-6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formación</a:t>
            </a:r>
            <a:r>
              <a:rPr sz="1400" spc="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para</a:t>
            </a:r>
            <a:r>
              <a:rPr lang="es-MX" sz="1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</a:t>
            </a:r>
            <a:r>
              <a:rPr sz="1400" spc="-3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trabajo,</a:t>
            </a:r>
            <a:r>
              <a:rPr sz="1400" spc="-1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transformando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educación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para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</a:t>
            </a:r>
            <a:r>
              <a:rPr sz="1400" spc="-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futuro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1528" y="3261361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277279" y="15972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27974" y="841100"/>
                </a:lnTo>
                <a:lnTo>
                  <a:pt x="95504" y="869022"/>
                </a:lnTo>
                <a:lnTo>
                  <a:pt x="2064229" y="869022"/>
                </a:lnTo>
                <a:lnTo>
                  <a:pt x="2082931" y="867178"/>
                </a:lnTo>
                <a:lnTo>
                  <a:pt x="2131728" y="841135"/>
                </a:lnTo>
                <a:lnTo>
                  <a:pt x="2366456" y="606830"/>
                </a:lnTo>
                <a:lnTo>
                  <a:pt x="2392580" y="558118"/>
                </a:lnTo>
                <a:lnTo>
                  <a:pt x="2394428" y="539439"/>
                </a:lnTo>
                <a:lnTo>
                  <a:pt x="2394428" y="95296"/>
                </a:lnTo>
                <a:lnTo>
                  <a:pt x="2386929" y="58192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0F2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5529" y="3400029"/>
            <a:ext cx="18070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Visión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1528" y="4652011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311534" y="1843"/>
                </a:lnTo>
                <a:lnTo>
                  <a:pt x="262740" y="27845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7505" y="810799"/>
                </a:lnTo>
                <a:lnTo>
                  <a:pt x="27974" y="841100"/>
                </a:lnTo>
                <a:lnTo>
                  <a:pt x="58331" y="861530"/>
                </a:lnTo>
                <a:lnTo>
                  <a:pt x="95504" y="869022"/>
                </a:lnTo>
                <a:lnTo>
                  <a:pt x="2064229" y="869022"/>
                </a:lnTo>
                <a:lnTo>
                  <a:pt x="2117173" y="853032"/>
                </a:lnTo>
                <a:lnTo>
                  <a:pt x="2366456" y="606829"/>
                </a:lnTo>
                <a:lnTo>
                  <a:pt x="2392580" y="558117"/>
                </a:lnTo>
                <a:lnTo>
                  <a:pt x="2394428" y="539439"/>
                </a:lnTo>
                <a:lnTo>
                  <a:pt x="2394428" y="95296"/>
                </a:lnTo>
                <a:lnTo>
                  <a:pt x="2386929" y="58191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006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99813" y="4768423"/>
            <a:ext cx="1854386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Valores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1929" y="4845339"/>
            <a:ext cx="4761865" cy="43479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lang="es-CL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Calidad, Compromiso, Respeto, Transparencia y Colaboración </a:t>
            </a:r>
            <a:endParaRPr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DA7DAC75-731C-EABE-2FFD-A0ADA5038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3824" y="1755371"/>
            <a:ext cx="3925203" cy="3918334"/>
          </a:xfrm>
        </p:spPr>
        <p:txBody>
          <a:bodyPr/>
          <a:lstStyle/>
          <a:p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EE31D3-C563-3D5E-69CE-60A2241F29EB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4B9B50-57ED-62DC-AD9A-C60D61F91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926" y="1593130"/>
            <a:ext cx="4091710" cy="4156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FE9A-3929-4857-058A-7E4D8531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Marcador de posición de imagen 26">
            <a:extLst>
              <a:ext uri="{FF2B5EF4-FFF2-40B4-BE49-F238E27FC236}">
                <a16:creationId xmlns:a16="http://schemas.microsoft.com/office/drawing/2014/main" id="{25FF33D3-CB6D-7B32-3F2A-7F6F12E8238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" r="3350"/>
          <a:stretch>
            <a:fillRect/>
          </a:stretch>
        </p:blipFill>
        <p:spPr>
          <a:xfrm>
            <a:off x="0" y="-76200"/>
            <a:ext cx="12268200" cy="6934200"/>
          </a:xfrm>
          <a:custGeom>
            <a:avLst/>
            <a:gdLst>
              <a:gd name="csX0" fmla="*/ 0 w 12268200"/>
              <a:gd name="csY0" fmla="*/ 0 h 6934200"/>
              <a:gd name="csX1" fmla="*/ 12268200 w 12268200"/>
              <a:gd name="csY1" fmla="*/ 0 h 6934200"/>
              <a:gd name="csX2" fmla="*/ 12268200 w 12268200"/>
              <a:gd name="csY2" fmla="*/ 6934200 h 6934200"/>
              <a:gd name="csX3" fmla="*/ 0 w 12268200"/>
              <a:gd name="csY3" fmla="*/ 6934200 h 693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268200" h="6934200">
                <a:moveTo>
                  <a:pt x="0" y="0"/>
                </a:moveTo>
                <a:lnTo>
                  <a:pt x="12268200" y="0"/>
                </a:lnTo>
                <a:lnTo>
                  <a:pt x="12268200" y="6934200"/>
                </a:lnTo>
                <a:lnTo>
                  <a:pt x="0" y="6934200"/>
                </a:lnTo>
                <a:close/>
              </a:path>
            </a:pathLst>
          </a:cu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4421321E-33E4-4589-01BF-A090DBA54D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14300"/>
            <a:ext cx="12496800" cy="7010400"/>
          </a:xfrm>
          <a:prstGeom prst="rect">
            <a:avLst/>
          </a:prstGeom>
          <a:solidFill>
            <a:srgbClr val="102A8B">
              <a:alpha val="69000"/>
            </a:srgbClr>
          </a:solidFill>
          <a:ln w="992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s-MX" dirty="0"/>
              <a:t>z</a:t>
            </a:r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EBBE73-9987-37BC-2C7A-A537ABF98B1C}"/>
              </a:ext>
            </a:extLst>
          </p:cNvPr>
          <p:cNvSpPr txBox="1"/>
          <p:nvPr/>
        </p:nvSpPr>
        <p:spPr>
          <a:xfrm>
            <a:off x="685800" y="4343400"/>
            <a:ext cx="731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Vinculación</a:t>
            </a:r>
            <a:b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con el Medio AIEP</a:t>
            </a:r>
            <a:endParaRPr lang="es-CL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DDDFB00-FF34-6C7B-37AB-729D1C837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62000" y="1277600"/>
            <a:ext cx="8763000" cy="8763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A00049A-509D-E876-0157-1BDC59698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5219700"/>
            <a:ext cx="900770" cy="4394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3A71F06-0DA4-5181-C6E1-5DC6662A0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0" y="304800"/>
            <a:ext cx="2257425" cy="16383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479E978C-1258-E8EC-B2BF-AA630F9BC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7142" y="4495175"/>
            <a:ext cx="5524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8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228600" y="3048000"/>
            <a:ext cx="6629400" cy="268022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spcBef>
                <a:spcPts val="740"/>
              </a:spcBef>
              <a:tabLst>
                <a:tab pos="1508760" algn="l"/>
              </a:tabLst>
            </a:pPr>
            <a:r>
              <a:rPr lang="es-MX" sz="2800" dirty="0">
                <a:solidFill>
                  <a:srgbClr val="FFFFFF"/>
                </a:solidFill>
                <a:latin typeface="Ubuntu" panose="020B0504030602030204" pitchFamily="34" charset="0"/>
                <a:cs typeface="Microsoft Sans Serif"/>
              </a:rPr>
              <a:t>AIEP entiende la vinculación con el medio como una función transversal que promueve y contribuye a la interacción permanente con los actores públicos, privados y sociales a nivel local, regional y/o internacional.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47DB07B-F556-9E02-0A66-A72EEE1FC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7142" y="837575"/>
            <a:ext cx="552450" cy="5715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3D88CFC-FF64-1F8E-CA77-A198B91FC1BB}"/>
              </a:ext>
            </a:extLst>
          </p:cNvPr>
          <p:cNvSpPr txBox="1"/>
          <p:nvPr/>
        </p:nvSpPr>
        <p:spPr>
          <a:xfrm>
            <a:off x="685800" y="837575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Vinculación</a:t>
            </a:r>
            <a:b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con el Medio AIEP</a:t>
            </a:r>
            <a:endParaRPr lang="es-CL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DDA554D-CAFD-A717-8668-91EE4ADE7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494263"/>
            <a:ext cx="685800" cy="334537"/>
          </a:xfrm>
          <a:prstGeom prst="rect">
            <a:avLst/>
          </a:prstGeom>
        </p:spPr>
      </p:pic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E12A9B48-6DAB-0C07-3CE8-85DC36319D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9" r="16069"/>
          <a:stretch>
            <a:fillRect/>
          </a:stretch>
        </p:blipFill>
        <p:spPr>
          <a:xfrm>
            <a:off x="7010400" y="865296"/>
            <a:ext cx="5254964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A6E6BBB-B1D8-5488-0AFF-28ACB3B99044}"/>
              </a:ext>
            </a:extLst>
          </p:cNvPr>
          <p:cNvSpPr txBox="1"/>
          <p:nvPr/>
        </p:nvSpPr>
        <p:spPr>
          <a:xfrm>
            <a:off x="2992582" y="3299752"/>
            <a:ext cx="620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7992E0F0-BD59-14D0-6D99-1480AB8B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28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F25093-507E-4BE3-9D6B-1AFFCCA38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41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grpSp>
        <p:nvGrpSpPr>
          <p:cNvPr id="2057" name="Grupo 2056">
            <a:extLst>
              <a:ext uri="{FF2B5EF4-FFF2-40B4-BE49-F238E27FC236}">
                <a16:creationId xmlns:a16="http://schemas.microsoft.com/office/drawing/2014/main" id="{315201E5-FF74-0BE4-2AE7-58231363F00F}"/>
              </a:ext>
            </a:extLst>
          </p:cNvPr>
          <p:cNvGrpSpPr/>
          <p:nvPr/>
        </p:nvGrpSpPr>
        <p:grpSpPr>
          <a:xfrm>
            <a:off x="3253711" y="228600"/>
            <a:ext cx="6957406" cy="359518"/>
            <a:chOff x="1252537" y="96529"/>
            <a:chExt cx="6097620" cy="435621"/>
          </a:xfrm>
        </p:grpSpPr>
        <p:sp>
          <p:nvSpPr>
            <p:cNvPr id="2084" name="CuadroTexto 2083">
              <a:extLst>
                <a:ext uri="{FF2B5EF4-FFF2-40B4-BE49-F238E27FC236}">
                  <a16:creationId xmlns:a16="http://schemas.microsoft.com/office/drawing/2014/main" id="{34BD51C6-1B71-979E-4237-0F5161D2DDA1}"/>
                </a:ext>
              </a:extLst>
            </p:cNvPr>
            <p:cNvSpPr txBox="1"/>
            <p:nvPr/>
          </p:nvSpPr>
          <p:spPr>
            <a:xfrm>
              <a:off x="2898993" y="96529"/>
              <a:ext cx="4451164" cy="43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02A8A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Vinculación con el Medio</a:t>
              </a:r>
            </a:p>
          </p:txBody>
        </p:sp>
        <p:grpSp>
          <p:nvGrpSpPr>
            <p:cNvPr id="2085" name="Grupo 2084">
              <a:extLst>
                <a:ext uri="{FF2B5EF4-FFF2-40B4-BE49-F238E27FC236}">
                  <a16:creationId xmlns:a16="http://schemas.microsoft.com/office/drawing/2014/main" id="{C364B841-5652-D716-CD6B-8C935F020462}"/>
                </a:ext>
              </a:extLst>
            </p:cNvPr>
            <p:cNvGrpSpPr/>
            <p:nvPr/>
          </p:nvGrpSpPr>
          <p:grpSpPr>
            <a:xfrm>
              <a:off x="1252537" y="122575"/>
              <a:ext cx="1626204" cy="409575"/>
              <a:chOff x="2349817" y="3019425"/>
              <a:chExt cx="1626204" cy="409575"/>
            </a:xfrm>
          </p:grpSpPr>
          <p:pic>
            <p:nvPicPr>
              <p:cNvPr id="2086" name="Gráfico 2085">
                <a:extLst>
                  <a:ext uri="{FF2B5EF4-FFF2-40B4-BE49-F238E27FC236}">
                    <a16:creationId xmlns:a16="http://schemas.microsoft.com/office/drawing/2014/main" id="{3183ADE5-D76E-0EA8-AA7E-84E72EB0A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49817" y="3019425"/>
                <a:ext cx="1626204" cy="409575"/>
              </a:xfrm>
              <a:prstGeom prst="rect">
                <a:avLst/>
              </a:prstGeom>
            </p:spPr>
          </p:pic>
          <p:sp>
            <p:nvSpPr>
              <p:cNvPr id="2087" name="CuadroTexto 2086">
                <a:extLst>
                  <a:ext uri="{FF2B5EF4-FFF2-40B4-BE49-F238E27FC236}">
                    <a16:creationId xmlns:a16="http://schemas.microsoft.com/office/drawing/2014/main" id="{E2C68C03-176F-62F2-AD75-30A15D667639}"/>
                  </a:ext>
                </a:extLst>
              </p:cNvPr>
              <p:cNvSpPr txBox="1"/>
              <p:nvPr/>
            </p:nvSpPr>
            <p:spPr>
              <a:xfrm>
                <a:off x="2507229" y="3054935"/>
                <a:ext cx="13316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Modelo de</a:t>
                </a:r>
              </a:p>
            </p:txBody>
          </p:sp>
        </p:grpSp>
      </p:grpSp>
      <p:sp>
        <p:nvSpPr>
          <p:cNvPr id="2058" name="Título 6">
            <a:extLst>
              <a:ext uri="{FF2B5EF4-FFF2-40B4-BE49-F238E27FC236}">
                <a16:creationId xmlns:a16="http://schemas.microsoft.com/office/drawing/2014/main" id="{9C54D1E9-7713-DB04-B4E4-18AF637B0DC9}"/>
              </a:ext>
            </a:extLst>
          </p:cNvPr>
          <p:cNvSpPr txBox="1">
            <a:spLocks/>
          </p:cNvSpPr>
          <p:nvPr/>
        </p:nvSpPr>
        <p:spPr>
          <a:xfrm>
            <a:off x="228602" y="863469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AA0000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Funciones misionales</a:t>
            </a:r>
          </a:p>
        </p:txBody>
      </p:sp>
      <p:sp>
        <p:nvSpPr>
          <p:cNvPr id="2059" name="Título 6">
            <a:extLst>
              <a:ext uri="{FF2B5EF4-FFF2-40B4-BE49-F238E27FC236}">
                <a16:creationId xmlns:a16="http://schemas.microsoft.com/office/drawing/2014/main" id="{84020C38-76B9-DDE4-6BF3-EBBE0F3269F3}"/>
              </a:ext>
            </a:extLst>
          </p:cNvPr>
          <p:cNvSpPr txBox="1">
            <a:spLocks/>
          </p:cNvSpPr>
          <p:nvPr/>
        </p:nvSpPr>
        <p:spPr>
          <a:xfrm>
            <a:off x="3578626" y="863470"/>
            <a:ext cx="8372416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AA0000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Docencia</a:t>
            </a:r>
          </a:p>
        </p:txBody>
      </p:sp>
      <p:sp>
        <p:nvSpPr>
          <p:cNvPr id="2060" name="Título 6">
            <a:extLst>
              <a:ext uri="{FF2B5EF4-FFF2-40B4-BE49-F238E27FC236}">
                <a16:creationId xmlns:a16="http://schemas.microsoft.com/office/drawing/2014/main" id="{8ACC8608-9068-5964-F22B-DA97454DF174}"/>
              </a:ext>
            </a:extLst>
          </p:cNvPr>
          <p:cNvSpPr txBox="1">
            <a:spLocks/>
          </p:cNvSpPr>
          <p:nvPr/>
        </p:nvSpPr>
        <p:spPr>
          <a:xfrm>
            <a:off x="3578625" y="1195487"/>
            <a:ext cx="8372416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AA0000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Innovación</a:t>
            </a:r>
          </a:p>
        </p:txBody>
      </p:sp>
      <p:sp>
        <p:nvSpPr>
          <p:cNvPr id="2061" name="Título 6">
            <a:extLst>
              <a:ext uri="{FF2B5EF4-FFF2-40B4-BE49-F238E27FC236}">
                <a16:creationId xmlns:a16="http://schemas.microsoft.com/office/drawing/2014/main" id="{80B2E914-4519-2B95-598A-BF11518999A2}"/>
              </a:ext>
            </a:extLst>
          </p:cNvPr>
          <p:cNvSpPr txBox="1">
            <a:spLocks/>
          </p:cNvSpPr>
          <p:nvPr/>
        </p:nvSpPr>
        <p:spPr>
          <a:xfrm>
            <a:off x="228601" y="1570958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Contribución interna</a:t>
            </a:r>
          </a:p>
        </p:txBody>
      </p:sp>
      <p:sp>
        <p:nvSpPr>
          <p:cNvPr id="2062" name="Título 6">
            <a:extLst>
              <a:ext uri="{FF2B5EF4-FFF2-40B4-BE49-F238E27FC236}">
                <a16:creationId xmlns:a16="http://schemas.microsoft.com/office/drawing/2014/main" id="{3FAC61DF-6A3E-2E36-12EE-8730D784C8B7}"/>
              </a:ext>
            </a:extLst>
          </p:cNvPr>
          <p:cNvSpPr txBox="1">
            <a:spLocks/>
          </p:cNvSpPr>
          <p:nvPr/>
        </p:nvSpPr>
        <p:spPr>
          <a:xfrm>
            <a:off x="228600" y="2278446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Ámbito</a:t>
            </a:r>
          </a:p>
        </p:txBody>
      </p:sp>
      <p:sp>
        <p:nvSpPr>
          <p:cNvPr id="2063" name="Título 6">
            <a:extLst>
              <a:ext uri="{FF2B5EF4-FFF2-40B4-BE49-F238E27FC236}">
                <a16:creationId xmlns:a16="http://schemas.microsoft.com/office/drawing/2014/main" id="{C726BD4B-B669-CFE2-D10C-C9F11FEEA9DB}"/>
              </a:ext>
            </a:extLst>
          </p:cNvPr>
          <p:cNvSpPr txBox="1">
            <a:spLocks/>
          </p:cNvSpPr>
          <p:nvPr/>
        </p:nvSpPr>
        <p:spPr>
          <a:xfrm>
            <a:off x="228602" y="2985935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065DC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Mecanismos de Vinculación</a:t>
            </a:r>
          </a:p>
        </p:txBody>
      </p:sp>
      <p:sp>
        <p:nvSpPr>
          <p:cNvPr id="2064" name="Título 6">
            <a:extLst>
              <a:ext uri="{FF2B5EF4-FFF2-40B4-BE49-F238E27FC236}">
                <a16:creationId xmlns:a16="http://schemas.microsoft.com/office/drawing/2014/main" id="{C8B8417E-DA6A-1872-B719-B1E8D93EA697}"/>
              </a:ext>
            </a:extLst>
          </p:cNvPr>
          <p:cNvSpPr txBox="1">
            <a:spLocks/>
          </p:cNvSpPr>
          <p:nvPr/>
        </p:nvSpPr>
        <p:spPr>
          <a:xfrm>
            <a:off x="228601" y="3693424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Grupos de interés</a:t>
            </a:r>
          </a:p>
        </p:txBody>
      </p:sp>
      <p:sp>
        <p:nvSpPr>
          <p:cNvPr id="2065" name="Título 6">
            <a:extLst>
              <a:ext uri="{FF2B5EF4-FFF2-40B4-BE49-F238E27FC236}">
                <a16:creationId xmlns:a16="http://schemas.microsoft.com/office/drawing/2014/main" id="{1E5D0BD2-D9CD-81E2-5071-482D1C2EA65C}"/>
              </a:ext>
            </a:extLst>
          </p:cNvPr>
          <p:cNvSpPr txBox="1">
            <a:spLocks/>
          </p:cNvSpPr>
          <p:nvPr/>
        </p:nvSpPr>
        <p:spPr>
          <a:xfrm>
            <a:off x="228600" y="4400912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Contribución externa</a:t>
            </a:r>
          </a:p>
        </p:txBody>
      </p:sp>
      <p:sp>
        <p:nvSpPr>
          <p:cNvPr id="2066" name="Título 6">
            <a:extLst>
              <a:ext uri="{FF2B5EF4-FFF2-40B4-BE49-F238E27FC236}">
                <a16:creationId xmlns:a16="http://schemas.microsoft.com/office/drawing/2014/main" id="{56E7398F-D895-F755-5E94-88A8D364D15E}"/>
              </a:ext>
            </a:extLst>
          </p:cNvPr>
          <p:cNvSpPr txBox="1">
            <a:spLocks/>
          </p:cNvSpPr>
          <p:nvPr/>
        </p:nvSpPr>
        <p:spPr>
          <a:xfrm>
            <a:off x="3590984" y="3693424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Municipalidades y organismos públicos</a:t>
            </a:r>
          </a:p>
        </p:txBody>
      </p:sp>
      <p:sp>
        <p:nvSpPr>
          <p:cNvPr id="2067" name="Título 6">
            <a:extLst>
              <a:ext uri="{FF2B5EF4-FFF2-40B4-BE49-F238E27FC236}">
                <a16:creationId xmlns:a16="http://schemas.microsoft.com/office/drawing/2014/main" id="{7E3E7E59-901D-9E41-22AE-BDB260B52CCF}"/>
              </a:ext>
            </a:extLst>
          </p:cNvPr>
          <p:cNvSpPr txBox="1">
            <a:spLocks/>
          </p:cNvSpPr>
          <p:nvPr/>
        </p:nvSpPr>
        <p:spPr>
          <a:xfrm>
            <a:off x="3590983" y="4025440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Sector productivo y de servicios</a:t>
            </a:r>
          </a:p>
        </p:txBody>
      </p:sp>
      <p:sp>
        <p:nvSpPr>
          <p:cNvPr id="2068" name="Título 6">
            <a:extLst>
              <a:ext uri="{FF2B5EF4-FFF2-40B4-BE49-F238E27FC236}">
                <a16:creationId xmlns:a16="http://schemas.microsoft.com/office/drawing/2014/main" id="{E064FB3F-498A-5BE2-B1CA-99F39C1EC624}"/>
              </a:ext>
            </a:extLst>
          </p:cNvPr>
          <p:cNvSpPr txBox="1">
            <a:spLocks/>
          </p:cNvSpPr>
          <p:nvPr/>
        </p:nvSpPr>
        <p:spPr>
          <a:xfrm>
            <a:off x="7851581" y="3693424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+mj-cs"/>
              </a:rPr>
              <a:t>Organizaciones sociales e instituciones educativas</a:t>
            </a:r>
          </a:p>
        </p:txBody>
      </p:sp>
      <p:sp>
        <p:nvSpPr>
          <p:cNvPr id="2069" name="Título 6">
            <a:extLst>
              <a:ext uri="{FF2B5EF4-FFF2-40B4-BE49-F238E27FC236}">
                <a16:creationId xmlns:a16="http://schemas.microsoft.com/office/drawing/2014/main" id="{31622200-F7B2-0BEB-AE0B-64563E8D5264}"/>
              </a:ext>
            </a:extLst>
          </p:cNvPr>
          <p:cNvSpPr txBox="1">
            <a:spLocks/>
          </p:cNvSpPr>
          <p:nvPr/>
        </p:nvSpPr>
        <p:spPr>
          <a:xfrm>
            <a:off x="7851581" y="4025440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+mj-cs"/>
              </a:rPr>
              <a:t>Titulados/as y empleadores/as</a:t>
            </a:r>
          </a:p>
        </p:txBody>
      </p:sp>
      <p:sp>
        <p:nvSpPr>
          <p:cNvPr id="2070" name="Título 6">
            <a:extLst>
              <a:ext uri="{FF2B5EF4-FFF2-40B4-BE49-F238E27FC236}">
                <a16:creationId xmlns:a16="http://schemas.microsoft.com/office/drawing/2014/main" id="{492F5F64-A96F-8FEB-5BB9-5FB9CF34E728}"/>
              </a:ext>
            </a:extLst>
          </p:cNvPr>
          <p:cNvSpPr txBox="1">
            <a:spLocks/>
          </p:cNvSpPr>
          <p:nvPr/>
        </p:nvSpPr>
        <p:spPr>
          <a:xfrm>
            <a:off x="3578625" y="1570958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Apoyar al logro del perfil de egreso</a:t>
            </a:r>
          </a:p>
        </p:txBody>
      </p:sp>
      <p:sp>
        <p:nvSpPr>
          <p:cNvPr id="2071" name="Título 6">
            <a:extLst>
              <a:ext uri="{FF2B5EF4-FFF2-40B4-BE49-F238E27FC236}">
                <a16:creationId xmlns:a16="http://schemas.microsoft.com/office/drawing/2014/main" id="{FA3A8485-A0E0-C094-A1B3-69034106550F}"/>
              </a:ext>
            </a:extLst>
          </p:cNvPr>
          <p:cNvSpPr txBox="1">
            <a:spLocks/>
          </p:cNvSpPr>
          <p:nvPr/>
        </p:nvSpPr>
        <p:spPr>
          <a:xfrm>
            <a:off x="5723016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Afianzar el sello formativo</a:t>
            </a:r>
          </a:p>
        </p:txBody>
      </p:sp>
      <p:sp>
        <p:nvSpPr>
          <p:cNvPr id="2072" name="Título 6">
            <a:extLst>
              <a:ext uri="{FF2B5EF4-FFF2-40B4-BE49-F238E27FC236}">
                <a16:creationId xmlns:a16="http://schemas.microsoft.com/office/drawing/2014/main" id="{D802E53C-34C6-ACD5-D79B-075B3FFBC453}"/>
              </a:ext>
            </a:extLst>
          </p:cNvPr>
          <p:cNvSpPr txBox="1">
            <a:spLocks/>
          </p:cNvSpPr>
          <p:nvPr/>
        </p:nvSpPr>
        <p:spPr>
          <a:xfrm>
            <a:off x="7827630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Aportar a la pertinencia de la oferta educativa</a:t>
            </a:r>
          </a:p>
        </p:txBody>
      </p:sp>
      <p:sp>
        <p:nvSpPr>
          <p:cNvPr id="2073" name="Título 6">
            <a:extLst>
              <a:ext uri="{FF2B5EF4-FFF2-40B4-BE49-F238E27FC236}">
                <a16:creationId xmlns:a16="http://schemas.microsoft.com/office/drawing/2014/main" id="{F03F50FE-AFB9-389C-99D5-36C12250F76B}"/>
              </a:ext>
            </a:extLst>
          </p:cNvPr>
          <p:cNvSpPr txBox="1">
            <a:spLocks/>
          </p:cNvSpPr>
          <p:nvPr/>
        </p:nvSpPr>
        <p:spPr>
          <a:xfrm>
            <a:off x="9932244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Desarrollar iniciativas que aporten a la innovación, emprendimiento y a la creación de valor</a:t>
            </a:r>
          </a:p>
        </p:txBody>
      </p:sp>
      <p:sp>
        <p:nvSpPr>
          <p:cNvPr id="2074" name="Título 6">
            <a:extLst>
              <a:ext uri="{FF2B5EF4-FFF2-40B4-BE49-F238E27FC236}">
                <a16:creationId xmlns:a16="http://schemas.microsoft.com/office/drawing/2014/main" id="{0ADF15F9-DF48-47E3-1C83-197FD6529863}"/>
              </a:ext>
            </a:extLst>
          </p:cNvPr>
          <p:cNvSpPr txBox="1">
            <a:spLocks/>
          </p:cNvSpPr>
          <p:nvPr/>
        </p:nvSpPr>
        <p:spPr>
          <a:xfrm>
            <a:off x="3578625" y="2284035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Profesional</a:t>
            </a:r>
          </a:p>
        </p:txBody>
      </p:sp>
      <p:sp>
        <p:nvSpPr>
          <p:cNvPr id="2075" name="Título 6">
            <a:extLst>
              <a:ext uri="{FF2B5EF4-FFF2-40B4-BE49-F238E27FC236}">
                <a16:creationId xmlns:a16="http://schemas.microsoft.com/office/drawing/2014/main" id="{FEF58444-E776-7EAF-90FD-06E4B026CF8F}"/>
              </a:ext>
            </a:extLst>
          </p:cNvPr>
          <p:cNvSpPr txBox="1">
            <a:spLocks/>
          </p:cNvSpPr>
          <p:nvPr/>
        </p:nvSpPr>
        <p:spPr>
          <a:xfrm>
            <a:off x="6410790" y="2284034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Productivo</a:t>
            </a:r>
          </a:p>
        </p:txBody>
      </p:sp>
      <p:sp>
        <p:nvSpPr>
          <p:cNvPr id="2076" name="Título 6">
            <a:extLst>
              <a:ext uri="{FF2B5EF4-FFF2-40B4-BE49-F238E27FC236}">
                <a16:creationId xmlns:a16="http://schemas.microsoft.com/office/drawing/2014/main" id="{AC6D0003-944F-C5B9-DD20-FF3D0C41C8D8}"/>
              </a:ext>
            </a:extLst>
          </p:cNvPr>
          <p:cNvSpPr txBox="1">
            <a:spLocks/>
          </p:cNvSpPr>
          <p:nvPr/>
        </p:nvSpPr>
        <p:spPr>
          <a:xfrm>
            <a:off x="9242954" y="2284034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Social</a:t>
            </a:r>
          </a:p>
        </p:txBody>
      </p:sp>
      <p:sp>
        <p:nvSpPr>
          <p:cNvPr id="2077" name="Título 6">
            <a:extLst>
              <a:ext uri="{FF2B5EF4-FFF2-40B4-BE49-F238E27FC236}">
                <a16:creationId xmlns:a16="http://schemas.microsoft.com/office/drawing/2014/main" id="{E7089635-BE52-FA64-CC5F-54A4FA4CFEAB}"/>
              </a:ext>
            </a:extLst>
          </p:cNvPr>
          <p:cNvSpPr txBox="1">
            <a:spLocks/>
          </p:cNvSpPr>
          <p:nvPr/>
        </p:nvSpPr>
        <p:spPr>
          <a:xfrm>
            <a:off x="3578624" y="2980346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Impulso laboral para la sociedad</a:t>
            </a:r>
          </a:p>
        </p:txBody>
      </p:sp>
      <p:sp>
        <p:nvSpPr>
          <p:cNvPr id="2078" name="Título 6">
            <a:extLst>
              <a:ext uri="{FF2B5EF4-FFF2-40B4-BE49-F238E27FC236}">
                <a16:creationId xmlns:a16="http://schemas.microsoft.com/office/drawing/2014/main" id="{4DE9EA69-56CF-7CF9-F18C-6EBBDD50B503}"/>
              </a:ext>
            </a:extLst>
          </p:cNvPr>
          <p:cNvSpPr txBox="1">
            <a:spLocks/>
          </p:cNvSpPr>
          <p:nvPr/>
        </p:nvSpPr>
        <p:spPr>
          <a:xfrm>
            <a:off x="5723015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Innovación y Emprendimiento</a:t>
            </a:r>
          </a:p>
        </p:txBody>
      </p:sp>
      <p:sp>
        <p:nvSpPr>
          <p:cNvPr id="2079" name="Título 6">
            <a:extLst>
              <a:ext uri="{FF2B5EF4-FFF2-40B4-BE49-F238E27FC236}">
                <a16:creationId xmlns:a16="http://schemas.microsoft.com/office/drawing/2014/main" id="{F13F98CD-D977-307B-154C-0A2202E70D61}"/>
              </a:ext>
            </a:extLst>
          </p:cNvPr>
          <p:cNvSpPr txBox="1">
            <a:spLocks/>
          </p:cNvSpPr>
          <p:nvPr/>
        </p:nvSpPr>
        <p:spPr>
          <a:xfrm>
            <a:off x="7827629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Apoyo a PYMES</a:t>
            </a:r>
          </a:p>
        </p:txBody>
      </p:sp>
      <p:sp>
        <p:nvSpPr>
          <p:cNvPr id="2080" name="Título 6">
            <a:extLst>
              <a:ext uri="{FF2B5EF4-FFF2-40B4-BE49-F238E27FC236}">
                <a16:creationId xmlns:a16="http://schemas.microsoft.com/office/drawing/2014/main" id="{9030EBB6-99D5-9489-65FD-F3B2A407FEFD}"/>
              </a:ext>
            </a:extLst>
          </p:cNvPr>
          <p:cNvSpPr txBox="1">
            <a:spLocks/>
          </p:cNvSpPr>
          <p:nvPr/>
        </p:nvSpPr>
        <p:spPr>
          <a:xfrm>
            <a:off x="9932243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Compromiso comunitario</a:t>
            </a:r>
          </a:p>
        </p:txBody>
      </p:sp>
      <p:sp>
        <p:nvSpPr>
          <p:cNvPr id="2081" name="Título 6">
            <a:extLst>
              <a:ext uri="{FF2B5EF4-FFF2-40B4-BE49-F238E27FC236}">
                <a16:creationId xmlns:a16="http://schemas.microsoft.com/office/drawing/2014/main" id="{94F86578-B3F2-501E-31C5-427886A33832}"/>
              </a:ext>
            </a:extLst>
          </p:cNvPr>
          <p:cNvSpPr txBox="1">
            <a:spLocks/>
          </p:cNvSpPr>
          <p:nvPr/>
        </p:nvSpPr>
        <p:spPr>
          <a:xfrm>
            <a:off x="3590983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Contribuir al desarrollo de las personas y comunidades</a:t>
            </a:r>
          </a:p>
        </p:txBody>
      </p:sp>
      <p:sp>
        <p:nvSpPr>
          <p:cNvPr id="2082" name="Título 6">
            <a:extLst>
              <a:ext uri="{FF2B5EF4-FFF2-40B4-BE49-F238E27FC236}">
                <a16:creationId xmlns:a16="http://schemas.microsoft.com/office/drawing/2014/main" id="{D4A04F7C-B892-358C-B420-E99725387DAE}"/>
              </a:ext>
            </a:extLst>
          </p:cNvPr>
          <p:cNvSpPr txBox="1">
            <a:spLocks/>
          </p:cNvSpPr>
          <p:nvPr/>
        </p:nvSpPr>
        <p:spPr>
          <a:xfrm>
            <a:off x="6423148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Solucionar problemáticas del sector productivo y de servicios</a:t>
            </a:r>
          </a:p>
        </p:txBody>
      </p:sp>
      <p:sp>
        <p:nvSpPr>
          <p:cNvPr id="2083" name="Título 6">
            <a:extLst>
              <a:ext uri="{FF2B5EF4-FFF2-40B4-BE49-F238E27FC236}">
                <a16:creationId xmlns:a16="http://schemas.microsoft.com/office/drawing/2014/main" id="{BBAEBF10-1DF2-E663-E85D-68F06DF37C91}"/>
              </a:ext>
            </a:extLst>
          </p:cNvPr>
          <p:cNvSpPr txBox="1">
            <a:spLocks/>
          </p:cNvSpPr>
          <p:nvPr/>
        </p:nvSpPr>
        <p:spPr>
          <a:xfrm>
            <a:off x="9255313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Desarrollar capital humano</a:t>
            </a:r>
          </a:p>
        </p:txBody>
      </p:sp>
      <p:sp>
        <p:nvSpPr>
          <p:cNvPr id="2090" name="Título 6">
            <a:extLst>
              <a:ext uri="{FF2B5EF4-FFF2-40B4-BE49-F238E27FC236}">
                <a16:creationId xmlns:a16="http://schemas.microsoft.com/office/drawing/2014/main" id="{402A905D-0594-7AFD-F0BC-FE8AC2A8D511}"/>
              </a:ext>
            </a:extLst>
          </p:cNvPr>
          <p:cNvSpPr txBox="1">
            <a:spLocks/>
          </p:cNvSpPr>
          <p:nvPr/>
        </p:nvSpPr>
        <p:spPr>
          <a:xfrm>
            <a:off x="228601" y="610730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AA0000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Extensión académica e institucional</a:t>
            </a:r>
          </a:p>
        </p:txBody>
      </p:sp>
      <p:sp>
        <p:nvSpPr>
          <p:cNvPr id="2091" name="Título 6">
            <a:extLst>
              <a:ext uri="{FF2B5EF4-FFF2-40B4-BE49-F238E27FC236}">
                <a16:creationId xmlns:a16="http://schemas.microsoft.com/office/drawing/2014/main" id="{84F11621-7FCD-85D5-DB50-EB71317E97B0}"/>
              </a:ext>
            </a:extLst>
          </p:cNvPr>
          <p:cNvSpPr txBox="1">
            <a:spLocks/>
          </p:cNvSpPr>
          <p:nvPr/>
        </p:nvSpPr>
        <p:spPr>
          <a:xfrm>
            <a:off x="4227235" y="610730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Cultura</a:t>
            </a:r>
          </a:p>
        </p:txBody>
      </p:sp>
      <p:sp>
        <p:nvSpPr>
          <p:cNvPr id="2092" name="Título 6">
            <a:extLst>
              <a:ext uri="{FF2B5EF4-FFF2-40B4-BE49-F238E27FC236}">
                <a16:creationId xmlns:a16="http://schemas.microsoft.com/office/drawing/2014/main" id="{1FC285BC-4AA9-3636-666E-E39F2B086CFE}"/>
              </a:ext>
            </a:extLst>
          </p:cNvPr>
          <p:cNvSpPr txBox="1">
            <a:spLocks/>
          </p:cNvSpPr>
          <p:nvPr/>
        </p:nvSpPr>
        <p:spPr>
          <a:xfrm>
            <a:off x="8225869" y="610336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Instancias consultivas y/o participativas</a:t>
            </a:r>
          </a:p>
        </p:txBody>
      </p:sp>
      <p:sp>
        <p:nvSpPr>
          <p:cNvPr id="2093" name="Título 6">
            <a:extLst>
              <a:ext uri="{FF2B5EF4-FFF2-40B4-BE49-F238E27FC236}">
                <a16:creationId xmlns:a16="http://schemas.microsoft.com/office/drawing/2014/main" id="{3FC8C0AA-FB69-0B85-3787-518D3EEBF84B}"/>
              </a:ext>
            </a:extLst>
          </p:cNvPr>
          <p:cNvSpPr txBox="1">
            <a:spLocks/>
          </p:cNvSpPr>
          <p:nvPr/>
        </p:nvSpPr>
        <p:spPr>
          <a:xfrm>
            <a:off x="228601" y="5121665"/>
            <a:ext cx="11734799" cy="305504"/>
          </a:xfrm>
          <a:prstGeom prst="roundRect">
            <a:avLst>
              <a:gd name="adj" fmla="val 25103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Acciones de relacionamiento</a:t>
            </a:r>
          </a:p>
        </p:txBody>
      </p:sp>
      <p:sp>
        <p:nvSpPr>
          <p:cNvPr id="2094" name="Título 6">
            <a:extLst>
              <a:ext uri="{FF2B5EF4-FFF2-40B4-BE49-F238E27FC236}">
                <a16:creationId xmlns:a16="http://schemas.microsoft.com/office/drawing/2014/main" id="{29662DCA-1D4B-5A75-9CAD-59D7F46F3142}"/>
              </a:ext>
            </a:extLst>
          </p:cNvPr>
          <p:cNvSpPr txBox="1">
            <a:spLocks/>
          </p:cNvSpPr>
          <p:nvPr/>
        </p:nvSpPr>
        <p:spPr>
          <a:xfrm>
            <a:off x="228600" y="5472461"/>
            <a:ext cx="11734799" cy="522096"/>
          </a:xfrm>
          <a:prstGeom prst="roundRect">
            <a:avLst>
              <a:gd name="adj" fmla="val 14856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dirty="0">
                <a:solidFill>
                  <a:srgbClr val="182844"/>
                </a:solidFill>
                <a:latin typeface="Verdana"/>
                <a:cs typeface="HEMTDL+Ubuntu"/>
              </a:rPr>
              <a:t>C</a:t>
            </a:r>
            <a:r>
              <a:rPr lang="es-CL" sz="1200" dirty="0" err="1">
                <a:solidFill>
                  <a:srgbClr val="182844"/>
                </a:solidFill>
                <a:latin typeface="Verdana"/>
                <a:cs typeface="HEMTDL+Ubuntu"/>
              </a:rPr>
              <a:t>on</a:t>
            </a:r>
            <a:r>
              <a:rPr lang="es-CL" sz="1200" dirty="0">
                <a:solidFill>
                  <a:srgbClr val="182844"/>
                </a:solidFill>
                <a:latin typeface="Verdana"/>
                <a:cs typeface="HEMTDL+Ubuntu"/>
              </a:rPr>
              <a:t> el propósito de fortalecer redes, alianzas y la articulación con los distintos grupos de interés, la institución impulsa de forma sistemática acciones de relacionamiento que complementa su vinculación con el entorno, desde una mirada territorial y disciplinar.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182844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HEMTDL+Ubuntu"/>
            </a:endParaRPr>
          </a:p>
        </p:txBody>
      </p:sp>
    </p:spTree>
    <p:extLst>
      <p:ext uri="{BB962C8B-B14F-4D97-AF65-F5344CB8AC3E}">
        <p14:creationId xmlns:p14="http://schemas.microsoft.com/office/powerpoint/2010/main" val="428598513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0"/>
          </a:solidFill>
          <a:ln w="12700">
            <a:solidFill>
              <a:srgbClr val="0B1B30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2476195"/>
            <a:ext cx="166421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60704" y="2286000"/>
            <a:ext cx="190195" cy="68945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2222" y="2476195"/>
            <a:ext cx="166421" cy="49926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GeoGreen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con sentido para el reciclaje en Osorno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6455664"/>
            <a:ext cx="12191695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TERRITORIAL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Osorno: un desafío local de reciclaje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nace de un problema visible del territorio, no de un ejercicio tecnológico.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755648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1755648"/>
            <a:ext cx="340156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2066544"/>
            <a:ext cx="3108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75%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877824" y="2779776"/>
            <a:ext cx="30723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de reciclaje al 2028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70832" y="1755648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70832" y="1755648"/>
            <a:ext cx="3401568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2066544"/>
            <a:ext cx="3108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+1,3 M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4535424" y="2779776"/>
            <a:ext cx="30723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 de reciclaje recuperados al año en la comuna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28432" y="1755648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28432" y="1755648"/>
            <a:ext cx="3401568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2066544"/>
            <a:ext cx="3108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+100</a:t>
            </a:r>
            <a:endParaRPr lang="en-US" sz="3100" dirty="0"/>
          </a:p>
        </p:txBody>
      </p:sp>
      <p:sp>
        <p:nvSpPr>
          <p:cNvPr id="21" name="Text 18"/>
          <p:cNvSpPr/>
          <p:nvPr/>
        </p:nvSpPr>
        <p:spPr>
          <a:xfrm>
            <a:off x="8193024" y="2779776"/>
            <a:ext cx="30723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limpios y verdes en la ciudad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3904488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3840480"/>
            <a:ext cx="9784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brecha crítica está en la separación en origen.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4361688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" y="4297680"/>
            <a:ext cx="9784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reciclable se pierde al mezclarse o contaminarse.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68680" y="4818888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3000" y="4754880"/>
            <a:ext cx="9784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información para decidir y actuar a tiempo.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13232" y="5650992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5650992"/>
            <a:ext cx="10241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conecta datos, hábitos y tecnología para mejorar esas decisiones.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GeoGreen?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dispositivo que mide cuánto se llena un contenedor de reciclaje y lo avisa a tiempo.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2240280"/>
            <a:ext cx="234086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240280"/>
            <a:ext cx="2340864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1912" y="25054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81912" y="2505456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59536" y="3255264"/>
            <a:ext cx="20482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6112" y="3621024"/>
            <a:ext cx="19751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sensor mide cuánto 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llena el contenedor.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54096" y="3090672"/>
            <a:ext cx="32918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38144" y="2240280"/>
            <a:ext cx="234086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38144" y="2240280"/>
            <a:ext cx="2340864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06824" y="25054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06824" y="2505456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584448" y="3255264"/>
            <a:ext cx="20482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AVISAR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621024" y="3621024"/>
            <a:ext cx="19751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semáforo y una alarma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muestran el estado.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779008" y="3090672"/>
            <a:ext cx="32918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63056" y="2240280"/>
            <a:ext cx="234086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63056" y="2240280"/>
            <a:ext cx="2340864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1736" y="25054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31736" y="2505456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6309360" y="3255264"/>
            <a:ext cx="20482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45936" y="3621024"/>
            <a:ext cx="19751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nivel se ve en 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tablero, al instante.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558784" y="2240280"/>
            <a:ext cx="2916936" cy="2148840"/>
          </a:xfrm>
          <a:prstGeom prst="roundRect">
            <a:avLst>
              <a:gd name="adj" fmla="val 3830"/>
            </a:avLst>
          </a:prstGeom>
          <a:solidFill>
            <a:srgbClr val="0B1B30"/>
          </a:solidFill>
          <a:ln w="12700">
            <a:solidFill>
              <a:srgbClr val="0B1B30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814816" y="2432304"/>
            <a:ext cx="24597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SEMÁFORO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796528" y="2852928"/>
            <a:ext cx="500725" cy="1353312"/>
          </a:xfrm>
          <a:prstGeom prst="roundRect">
            <a:avLst>
              <a:gd name="adj" fmla="val 16216"/>
            </a:avLst>
          </a:prstGeom>
          <a:solidFill>
            <a:srgbClr val="0B1B30"/>
          </a:solidFill>
          <a:ln w="12700">
            <a:solidFill>
              <a:srgbClr val="0B1B30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91260" y="2947660"/>
            <a:ext cx="311262" cy="31126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0B1B3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91260" y="3333354"/>
            <a:ext cx="311262" cy="31126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0B1B3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891260" y="3719048"/>
            <a:ext cx="311262" cy="31126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0B1B3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509760" y="2962656"/>
            <a:ext cx="182880" cy="1828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84080" y="2907792"/>
            <a:ext cx="8412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80%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9784080" y="3118104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F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9509760" y="3419856"/>
            <a:ext cx="182880" cy="1828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84080" y="3364992"/>
            <a:ext cx="8412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40–80%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9784080" y="3575304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F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Amarillo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9509760" y="3877056"/>
            <a:ext cx="182880" cy="18288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784080" y="3822192"/>
            <a:ext cx="8412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40%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9784080" y="4032504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F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713232" y="5175504"/>
            <a:ext cx="10762488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50976" y="5175504"/>
            <a:ext cx="10287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simple, al servicio de un problema real.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PROTOTIPO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Así pensamos el dispositivo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7680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sensor al aviso: cómo funciona GeoGreen dentro del contenedor.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21214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18488" y="2075688"/>
            <a:ext cx="38221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Mide sin abrir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18488" y="2395728"/>
            <a:ext cx="38221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cuánto se llena el contenedor con un sensor, desde la tapa.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320040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18488" y="3154680"/>
            <a:ext cx="38221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Avisa al instante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618488" y="3474720"/>
            <a:ext cx="38221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muestra con un semáforo de color y alerta cuando está lleno.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279392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18488" y="4233672"/>
            <a:ext cx="38221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 mejor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18488" y="4553712"/>
            <a:ext cx="38221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base concreta para un reciclaje más inteligente y a tiempo.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06440" y="1591056"/>
            <a:ext cx="5669280" cy="4864608"/>
          </a:xfrm>
          <a:prstGeom prst="roundRect">
            <a:avLst>
              <a:gd name="adj" fmla="val 7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4" name="Image 1" descr="C:\Users\Diego Obando\dev\proyecto-01-aiep-geogreen\docs\infografias\infografia-prototipo-original-sim-geogre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0" y="1737360"/>
            <a:ext cx="3429000" cy="45720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TECNOLÓGICO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9844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tecnología es real y está al alcance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98448" y="1188720"/>
            <a:ext cx="7680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promesa: el equipo está listo para que los estudiantes lo usen.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2075688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011680"/>
            <a:ext cx="4389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placa Arduino UNO R4 WiFi, robusta y conectada.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2752344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2688336"/>
            <a:ext cx="4389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kit de sensores para medir el mundo físico.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364992"/>
            <a:ext cx="4389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dispositivo que los estudiantes prototipan.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06440" y="1783080"/>
            <a:ext cx="566928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17" name="Image 1" descr="C:\Users\Diego Obando\dev\proyecto-01-aiep-geogreen\docs\arduino-uno-r4-wifi-dibujo-digital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573" y="1938528"/>
            <a:ext cx="3495015" cy="23774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4498848"/>
            <a:ext cx="5669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Placa Arduino UNO R4 WiFi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0" y="4892040"/>
            <a:ext cx="10241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0" name="Image 2" descr="C:\Users\Diego Obando\dev\proyecto-01-aiep-geogreen\docs\kit-sensores\assets\hc-sr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4965192"/>
            <a:ext cx="877824" cy="87782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22008" y="4892040"/>
            <a:ext cx="10241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2" name="Image 3" descr="C:\Users\Diego Obando\dev\proyecto-01-aiep-geogreen\docs\kit-sensores\assets\mpu605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5111496"/>
            <a:ext cx="877824" cy="5852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29016" y="4892040"/>
            <a:ext cx="10241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4" name="Image 4" descr="C:\Users\Diego Obando\dev\proyecto-01-aiep-geogreen\docs\kit-sensores\assets\ky-01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4965192"/>
            <a:ext cx="877824" cy="87782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336024" y="4892040"/>
            <a:ext cx="10241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6" name="Image 5" descr="C:\Users\Diego Obando\dev\proyecto-01-aiep-geogreen\docs\kit-sensores\assets\ky-00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9176" y="4965192"/>
            <a:ext cx="877824" cy="87782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543032" y="4892040"/>
            <a:ext cx="10241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8" name="Image 6" descr="C:\Users\Diego Obando\dev\proyecto-01-aiep-geogreen\docs\kit-sensores\assets\ky-01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6184" y="4965192"/>
            <a:ext cx="877824" cy="8778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806440" y="6035040"/>
            <a:ext cx="5669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del kit (medir nivel, luz, sonido, movimiento, actuar)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LENGUAJE DEL DISPOSITIVO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Sensar el mundo, actuar sobre él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7863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familias de componentes que los estudiantes aprenden a combinar.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0120" y="1783080"/>
            <a:ext cx="452628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12" name="Image 1" descr="C:\Users\Diego Obando\dev\proyecto-01-aiep-geogreen\reuniones\2026-06-22-socio-comunitario\assets\info-senso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20" y="1929384"/>
            <a:ext cx="2621280" cy="3931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60120" y="6117336"/>
            <a:ext cx="19705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6131052"/>
            <a:ext cx="197053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ENTRAN DATOS · SENSORES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355080" y="1783080"/>
            <a:ext cx="452628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16" name="Image 2" descr="C:\Users\Diego Obando\dev\proyecto-01-aiep-geogreen\reuniones\2026-06-22-socio-comunitario\assets\info-actuado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481" y="1929384"/>
            <a:ext cx="2851477" cy="39319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55080" y="6117336"/>
            <a:ext cx="22814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55080" y="6131052"/>
            <a:ext cx="228142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SALEN ACCIONES · ACTUADORES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9844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contenedor al mapa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98448" y="1188720"/>
            <a:ext cx="7680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dispositivo informa por internet; el tablero muestra los puntos de Osorno en un mapa.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783080"/>
            <a:ext cx="690372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11" name="Image 1" descr="C:\Users\Diego Obando\dev\proyecto-01-aiep-geogreen\reuniones\2026-06-15\ppt\source\assets\app-geogreen-mapa-osorn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34649"/>
            <a:ext cx="6583680" cy="295446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55280" y="1938528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con los contenedores en ubicaciones reales de Osorno.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2596896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2532888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por llenado: verde, amarillo y rojo.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3255264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 lleno, batería baja o sin señal.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3913632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3849624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retiro sugerida por la ciudad.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13232" y="5687568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0976" y="5687568"/>
            <a:ext cx="10241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Ahí está el “Geo” de GeoGreen: del dato al mapa que ayuda a decidir.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GeoGreen Escolar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programa STEM que llevamos a su colegio, con el dispositivo como caso central.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783080"/>
            <a:ext cx="2542032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1783080"/>
            <a:ext cx="2542032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2093976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77824" y="2825496"/>
            <a:ext cx="221284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 participantes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56432" y="1783080"/>
            <a:ext cx="2542032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56432" y="1783080"/>
            <a:ext cx="2542032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093976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Talleres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621024" y="2825496"/>
            <a:ext cx="221284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mentorías de acompañamiento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9632" y="1783080"/>
            <a:ext cx="2542032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99632" y="1783080"/>
            <a:ext cx="2542032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5936" y="2093976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64224" y="2825496"/>
            <a:ext cx="221284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con pitch por equipos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542032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42832" y="1783080"/>
            <a:ext cx="2542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89136" y="2093976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carreras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107424" y="2825496"/>
            <a:ext cx="221284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AIEP involucradas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3232" y="3977640"/>
            <a:ext cx="10716768" cy="1554480"/>
          </a:xfrm>
          <a:prstGeom prst="roundRect">
            <a:avLst>
              <a:gd name="adj" fmla="val 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0976" y="3977640"/>
            <a:ext cx="102412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estudiantes viven el ciclo completo: observar un problema real de su entorno, entenderlo y proponer una solución con tecnología.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GRAN FOTO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sola experiencia integrada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7863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Sostenibilidad, datos y tecnología en un recorrido con propósito.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8720" y="2359152"/>
            <a:ext cx="0" cy="2267712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084832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700784" y="2048256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Talleres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700784" y="2377440"/>
            <a:ext cx="3383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el problema, entender el material y la tecnología.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321868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218688"/>
            <a:ext cx="548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700784" y="318211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Mentorías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700784" y="3511296"/>
            <a:ext cx="3383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Acompañamiento cercano para madurar cada propuesta.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4352544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352544"/>
            <a:ext cx="548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700784" y="4315968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00784" y="4645152"/>
            <a:ext cx="3383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pitch final donde los equipos presentan su solución.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4400" y="5632704"/>
            <a:ext cx="4434840" cy="603504"/>
          </a:xfrm>
          <a:prstGeom prst="roundRect">
            <a:avLst>
              <a:gd name="adj" fmla="val 10606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5632704"/>
            <a:ext cx="41148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deja entregables que alimentan la siguiente.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32120" y="1554480"/>
            <a:ext cx="5943600" cy="4937760"/>
          </a:xfrm>
          <a:prstGeom prst="roundRect">
            <a:avLst>
              <a:gd name="adj" fmla="val 7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7" name="Image 1" descr="C:\Users\Diego Obando\dev\proyecto-01-aiep-geogreen\cronograma\infografias\infografia-objetivo-transversal-geo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1700784"/>
            <a:ext cx="3483864" cy="464515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SECUENCIA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que viven los estudiantes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progresión que va del problema observado a la propuesta presentada.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72768" y="2907792"/>
            <a:ext cx="8997696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395728"/>
            <a:ext cx="2048256" cy="2395728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395728"/>
            <a:ext cx="2048256" cy="82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259689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53312" y="2688336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53312" y="2692908"/>
            <a:ext cx="4389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98064" y="2395728"/>
            <a:ext cx="2048256" cy="2395728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98064" y="2395728"/>
            <a:ext cx="2048256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11296" y="259689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02736" y="2688336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02736" y="2692908"/>
            <a:ext cx="4389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907792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907792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material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47488" y="2395728"/>
            <a:ext cx="2048256" cy="2395728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47488" y="2395728"/>
            <a:ext cx="2048256" cy="82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60720" y="259689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52160" y="2688336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2692908"/>
            <a:ext cx="4389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57216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tecnología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157216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sensar y avisar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296912" y="2395728"/>
            <a:ext cx="2048256" cy="2395728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296912" y="2395728"/>
            <a:ext cx="2048256" cy="82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10144" y="259689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01584" y="2688336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01584" y="2692908"/>
            <a:ext cx="4389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06640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Mentorías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40664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la solución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546336" y="2395728"/>
            <a:ext cx="2048256" cy="2395728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546336" y="2395728"/>
            <a:ext cx="2048256" cy="82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259568" y="259689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351008" y="2688336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51008" y="2692908"/>
            <a:ext cx="4389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656064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9656064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pitch final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13232" y="5248656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0976" y="5248656"/>
            <a:ext cx="10241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deja un producto que alimenta la siguiente.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basura no aparece de la nada.”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1828800"/>
            <a:ext cx="5349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observar el problema de los residuos; después, proponer una solución.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2395728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TALLER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05256" y="2770632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9576" y="2706624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Reconocen los residuos y hábitos de su entorno.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" y="3191256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9576" y="3127248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Distinguen síntoma, causa y consecuencia.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5256" y="3611880"/>
            <a:ext cx="137160" cy="1371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9576" y="3547872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Construyen un mapa de problema en equipo.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411480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E9F6EE"/>
          </a:solidFill>
          <a:ln w="12700">
            <a:solidFill>
              <a:srgbClr val="3FAE6A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97280" y="4352544"/>
            <a:ext cx="530352" cy="530352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8308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equipo se lleva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4992624"/>
            <a:ext cx="49834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frase de problema ambiental concreto y real de su propio entorno.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0" y="1554480"/>
            <a:ext cx="4617720" cy="4882896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4" name="Image 1" descr="C:\Users\Diego Obando\dev\proyecto-01-aiep-geogreen\reuniones\2026-06-22-socio-comunitario\assets\info-talle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614" y="1700784"/>
            <a:ext cx="3846491" cy="45902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“Reciclable no es lo mismo que reciclado.”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1828800"/>
            <a:ext cx="5349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residuo es un material con propiedades que se pueden recuperar.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2395728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TALLER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05256" y="2770632"/>
            <a:ext cx="137160" cy="1371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9576" y="2706624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Reconocen las familias de materiales.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" y="3191256"/>
            <a:ext cx="137160" cy="1371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9576" y="3127248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Aplican la regla: limpio, seco y separado.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5256" y="3611880"/>
            <a:ext cx="137160" cy="1371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9576" y="3547872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Conectan el material con el problema que definieron.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411480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97280" y="4352544"/>
            <a:ext cx="530352" cy="530352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8308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equipo se lleva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4992624"/>
            <a:ext cx="49834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ficha del material, conectada con el problema que definieron.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0" y="1554480"/>
            <a:ext cx="4617720" cy="4882896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4" name="Image 1" descr="C:\Users\Diego Obando\dev\proyecto-01-aiep-geogreen\reuniones\2026-06-22-socio-comunitario\assets\info-talle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477" y="1700784"/>
            <a:ext cx="3828766" cy="45902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tecnología tiene sentido cuando responde a un problema real.”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1828800"/>
            <a:ext cx="5349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Sensar, avisar y visualizar, aplicado al problema de cada equipo.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2395728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TALLER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05256" y="2770632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9576" y="2706624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Conocen sensores, Arduino y la protoboard.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" y="3191256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9576" y="3127248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 GeoGreen como caso: sensar, avisar, visualizar.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5256" y="3611880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9576" y="3547872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Diseñan una idea tecnológica para su problema.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" y="411480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97280" y="4352544"/>
            <a:ext cx="530352" cy="530352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8308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equipo se lleva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4992624"/>
            <a:ext cx="49834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tecnológica inicial para resolver el problema de su equipo.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0" y="1554480"/>
            <a:ext cx="4617720" cy="4882896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4" name="Image 1" descr="C:\Users\Diego Obando\dev\proyecto-01-aiep-geogreen\reuniones\2026-06-22-socio-comunitario\assets\info-taller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734" y="1700784"/>
            <a:ext cx="3296252" cy="45902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0"/>
          </a:solidFill>
          <a:ln w="12700">
            <a:solidFill>
              <a:srgbClr val="0B1B3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5486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TANGIBLE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 real, en sus manos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225296"/>
            <a:ext cx="8686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maqueta de cartón: es el mismo equipo con el que se prototipa de verdad.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10512"/>
            <a:ext cx="5760720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12" name="Image 1" descr="C:\Users\Diego Obando\dev\proyecto-01-aiep-geogreen\docs\arduino-uno-r4-wifi-dibujo-digital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59" y="1956816"/>
            <a:ext cx="2876666" cy="19568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4114800"/>
            <a:ext cx="5760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UNO R4 WiFi · 5V · WiFi · matriz LED 12×8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0100" y="448056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C:\Users\Diego Obando\dev\proyecto-01-aiep-geogreen\docs\kit-sensores\assets\hc-sr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572000"/>
            <a:ext cx="1115568" cy="11155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253996" y="448056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C:\Users\Diego Obando\dev\proyecto-01-aiep-geogreen\docs\kit-sensores\assets\mpu605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5436" y="4757928"/>
            <a:ext cx="1115568" cy="7437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707892" y="448056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4" descr="C:\Users\Diego Obando\dev\proyecto-01-aiep-geogreen\docs\kit-sensores\assets\ky-01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572000"/>
            <a:ext cx="1115568" cy="11155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161788" y="448056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5" descr="C:\Users\Diego Obando\dev\proyecto-01-aiep-geogreen\docs\kit-sensores\assets\ky-00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228" y="4572000"/>
            <a:ext cx="1115568" cy="11155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3232" y="5870448"/>
            <a:ext cx="5760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del kit: medir nivel, movimiento, luz y sonido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766560" y="1810512"/>
            <a:ext cx="4709160" cy="4370832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pic>
        <p:nvPicPr>
          <p:cNvPr id="24" name="Image 6" descr="C:\Users\Diego Obando\dev\proyecto-01-aiep-geogreen\reuniones\2026-06-22-socio-comunitario\assets\info-protoboard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1806" y="1956816"/>
            <a:ext cx="3058668" cy="4078224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27" name="Shape 18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producen los estudiantes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taller deja un producto que se acumula hacia el desafío final.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2011680"/>
            <a:ext cx="3401568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011680"/>
            <a:ext cx="3401568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" y="2304288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737360" y="2359152"/>
            <a:ext cx="23042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37360" y="2578608"/>
            <a:ext cx="23042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problema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69264" y="3163824"/>
            <a:ext cx="2889504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3328416"/>
            <a:ext cx="285292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frase de problema ambiental real, situado en su entorno.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114800" y="3218688"/>
            <a:ext cx="292608" cy="365760"/>
          </a:xfrm>
          <a:prstGeom prst="chevron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0832" y="2011680"/>
            <a:ext cx="3401568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70832" y="2011680"/>
            <a:ext cx="3401568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6864" y="2304288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6864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5394960" y="2359152"/>
            <a:ext cx="23042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2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394960" y="2578608"/>
            <a:ext cx="23042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de material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626864" y="3163824"/>
            <a:ext cx="2889504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5152" y="3328416"/>
            <a:ext cx="285292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material está en juego y bajo qué condiciones se recupera.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772400" y="3218688"/>
            <a:ext cx="292608" cy="365760"/>
          </a:xfrm>
          <a:prstGeom prst="chevron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28432" y="2011680"/>
            <a:ext cx="3401568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28432" y="2011680"/>
            <a:ext cx="3401568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84464" y="2304288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4464" y="2304288"/>
            <a:ext cx="6035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9052560" y="2359152"/>
            <a:ext cx="23042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052560" y="2578608"/>
            <a:ext cx="23042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tecnológica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284464" y="3163824"/>
            <a:ext cx="2889504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02752" y="3328416"/>
            <a:ext cx="285292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propuesta inicial que mide, avisa o visualiza.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13232" y="5138928"/>
            <a:ext cx="10716768" cy="603504"/>
          </a:xfrm>
          <a:prstGeom prst="roundRect">
            <a:avLst>
              <a:gd name="adj" fmla="val 121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50976" y="5138928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piezas que, juntas, sostienen la propuesta del pitch final.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ACOMPAÑAMIENTO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Mentorías: del producto a la propuesta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los talleres y el desafío, cada equipo madura su idea con apoyo cercano.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65960" y="2670048"/>
            <a:ext cx="8394192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81912" y="2286000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9928" y="241401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09928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13232" y="3419856"/>
            <a:ext cx="2505456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" y="3419856"/>
            <a:ext cx="2505456" cy="82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694176"/>
            <a:ext cx="21762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32688" y="4187952"/>
            <a:ext cx="20665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y a quién afecta dentro de su entorno.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79976" y="2286000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07992" y="241401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7992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3511296" y="3419856"/>
            <a:ext cx="2505456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511296" y="3419856"/>
            <a:ext cx="2505456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75888" y="3694176"/>
            <a:ext cx="21762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730752" y="4187952"/>
            <a:ext cx="20665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 y los componentes que necesita.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78040" y="2286000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06056" y="241401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06056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6309360" y="3419856"/>
            <a:ext cx="2505456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09360" y="3419856"/>
            <a:ext cx="2505456" cy="82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952" y="3694176"/>
            <a:ext cx="21762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6528816" y="4187952"/>
            <a:ext cx="20665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Maqueta, simulación o prototipo funcional.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976104" y="2286000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04120" y="241401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04120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9107424" y="3419856"/>
            <a:ext cx="2505456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107424" y="3419856"/>
            <a:ext cx="2505456" cy="82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72016" y="3694176"/>
            <a:ext cx="217627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Preparar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9326880" y="4187952"/>
            <a:ext cx="20665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guion y el material del pitch final.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13232" y="5705856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0976" y="5705856"/>
            <a:ext cx="10241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llega al desafío con una propuesta sólida y presentable.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CIERRE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desafío final con pitch escolar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equipos presentan su propuesta ante la comunidad: el broche del programa.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1920240"/>
            <a:ext cx="4572000" cy="3657600"/>
          </a:xfrm>
          <a:prstGeom prst="roundRect">
            <a:avLst>
              <a:gd name="adj" fmla="val 2250"/>
            </a:avLst>
          </a:prstGeom>
          <a:solidFill>
            <a:srgbClr val="0B1B30"/>
          </a:solidFill>
          <a:ln w="12700">
            <a:solidFill>
              <a:srgbClr val="0B1B30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87552" y="2381098"/>
            <a:ext cx="115214" cy="34564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2249424"/>
            <a:ext cx="131674" cy="47731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33195" y="2381098"/>
            <a:ext cx="115214" cy="34564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DESAFÍO FINAL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" y="3163824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equipo presenta su solución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87552" y="4572000"/>
            <a:ext cx="4023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broche del recorrido: pasar de la idea a una propuesta presentada en público.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32120" y="1920240"/>
            <a:ext cx="5943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32120" y="1920240"/>
            <a:ext cx="118872" cy="11338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33872" y="223113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3872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83680" y="2103120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583680" y="2505456"/>
            <a:ext cx="4663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expone la solución al problema que eligió.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32120" y="3182112"/>
            <a:ext cx="5943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32120" y="3182112"/>
            <a:ext cx="118872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33872" y="34930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33872" y="3474720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583680" y="3364992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Reconocen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583680" y="3767328"/>
            <a:ext cx="4663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Jurado y reconocimientos al trabajo de los equipos.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32120" y="4443984"/>
            <a:ext cx="5943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32120" y="4443984"/>
            <a:ext cx="118872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33872" y="475488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33872" y="4736592"/>
            <a:ext cx="51206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★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6583680" y="4626864"/>
            <a:ext cx="4663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Comparten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658368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muestra abierta a la comunidad educativa.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457200"/>
            <a:ext cx="14630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0704" y="603504"/>
            <a:ext cx="12801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457200"/>
            <a:ext cx="7680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VINCULACIÓN CON EL MEDIO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98448" y="7132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Damos juntos el siguiente paso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8448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parte aporta lo suyo; el valor está en seguir haciéndolo en conjunto.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1874520"/>
            <a:ext cx="523036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874520"/>
            <a:ext cx="5230368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157984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176272"/>
            <a:ext cx="20665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AIEP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50976" y="2843784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25296" y="2779776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docente y estudiantes de tres carreras.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50976" y="3447288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3383280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talleres y las mentorías del programa.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50976" y="4050792"/>
            <a:ext cx="137160" cy="1371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3986784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como caso de aprendizaje real.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36208" y="1874520"/>
            <a:ext cx="523036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25400" dist="50800" dir="2700000">
              <a:srgbClr val="D8DEE6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36208" y="1874520"/>
            <a:ext cx="523036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3952" y="2157984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2176272"/>
            <a:ext cx="24323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EL LICEO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73952" y="2843784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48272" y="2779776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 estudiantes y su comunidad educativa.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73952" y="3447288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48272" y="3383280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compromiso y la mirada de su equipo docente.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73952" y="4050792"/>
            <a:ext cx="137160" cy="1371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48272" y="3986784"/>
            <a:ext cx="4480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problema real de su entorno para trabajar.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13232" y="5349240"/>
            <a:ext cx="10735056" cy="54864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0976" y="5349240"/>
            <a:ext cx="10259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colaboración con sentido territorial, dentro de la Vinculación con el Medio de AIEP.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6519672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AIEP Osorno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1082528" y="646480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082528" y="6524244"/>
            <a:ext cx="4206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0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0"/>
          </a:solidFill>
          <a:ln w="12700">
            <a:solidFill>
              <a:srgbClr val="0B1B30">
                <a:alpha val="0"/>
              </a:srgbClr>
            </a:solidFill>
            <a:prstDash val="solid"/>
          </a:ln>
        </p:spPr>
      </p:sp>
      <p:pic>
        <p:nvPicPr>
          <p:cNvPr id="3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4591"/>
            <a:ext cx="1298448" cy="941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" y="672998"/>
            <a:ext cx="140818" cy="42245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87552" y="512064"/>
            <a:ext cx="160934" cy="58338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8837" y="672998"/>
            <a:ext cx="140818" cy="42245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28600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Queremos mirar, entender y mejorar el reciclaje de Osorno, junto a su comunidad educativa.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24128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invitamos a ser parte de GeoGreen Escolar.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6437376"/>
            <a:ext cx="12191695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583680"/>
            <a:ext cx="5486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AIEP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924" cap="flat">
          <a:noFill/>
          <a:prstDash val="solid"/>
          <a:miter/>
        </a:ln>
      </a:spPr>
      <a:bodyPr/>
      <a:lstStyle>
        <a:defPPr algn="l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</TotalTime>
  <Words>331</Words>
  <Application>Microsoft Office PowerPoint</Application>
  <PresentationFormat>Panorámica</PresentationFormat>
  <Paragraphs>55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Ubuntu</vt:lpstr>
      <vt:lpstr>Ubuntu Medium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Alejandra Belen Escobar Delmas</dc:creator>
  <cp:lastModifiedBy>Pamela Liliana Prado Vargas</cp:lastModifiedBy>
  <cp:revision>5</cp:revision>
  <dcterms:created xsi:type="dcterms:W3CDTF">2026-05-18T15:45:24Z</dcterms:created>
  <dcterms:modified xsi:type="dcterms:W3CDTF">2026-06-15T18:49:11Z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LastSaved">
    <vt:filetime>2026-05-18T00:00:00Z</vt:filetime>
  </property>
</Properties>
</file>