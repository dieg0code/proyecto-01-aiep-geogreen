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yecto-01-aiep-geogreen\talleres\02\ppt\source\assets\images\pet-bottles-bales.jpg">    </p:cNvPr>
          <p:cNvPicPr>
            <a:picLocks noChangeAspect="1"/>
          </p:cNvPicPr>
          <p:nvPr/>
        </p:nvPicPr>
        <p:blipFill>
          <a:blip r:embed="rId1"/>
          <a:srcRect l="32000" r="16142" t="10000" b="4000"/>
          <a:stretch/>
        </p:blipFill>
        <p:spPr>
          <a:xfrm>
            <a:off x="6675120" y="0"/>
            <a:ext cx="55138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5120" y="0"/>
            <a:ext cx="5513832" cy="6858000"/>
          </a:xfrm>
          <a:prstGeom prst="rect">
            <a:avLst/>
          </a:prstGeom>
          <a:solidFill>
            <a:srgbClr val="061E3A">
              <a:alpha val="30000"/>
            </a:srgbClr>
          </a:solidFill>
          <a:ln w="12700">
            <a:solidFill>
              <a:srgbClr val="061E3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061E3A"/>
          </a:solidFill>
          <a:ln w="12700">
            <a:solidFill>
              <a:srgbClr val="061E3A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47688" y="0"/>
            <a:ext cx="45720" cy="68580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" y="912205"/>
            <a:ext cx="174102" cy="522305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35101" y="713232"/>
            <a:ext cx="198973" cy="721279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08689" y="912205"/>
            <a:ext cx="174102" cy="522305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4447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86384" y="1975104"/>
            <a:ext cx="57607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Taller 2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Ciencia del reciclaje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22960" y="3456432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E9E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Aprendemos de qué está hecho lo que botamos y por qué el material decide su destino.</a:t>
            </a:r>
            <a:endParaRPr lang="en-US" sz="1440" dirty="0"/>
          </a:p>
        </p:txBody>
      </p:sp>
      <p:sp>
        <p:nvSpPr>
          <p:cNvPr id="12" name="Shape 9"/>
          <p:cNvSpPr/>
          <p:nvPr/>
        </p:nvSpPr>
        <p:spPr>
          <a:xfrm>
            <a:off x="822960" y="501091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5116068"/>
            <a:ext cx="13807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A 09:00-10:30</a:t>
            </a:r>
            <a:endParaRPr lang="en-US" sz="770" dirty="0"/>
          </a:p>
        </p:txBody>
      </p:sp>
      <p:sp>
        <p:nvSpPr>
          <p:cNvPr id="14" name="Shape 11"/>
          <p:cNvSpPr/>
          <p:nvPr/>
        </p:nvSpPr>
        <p:spPr>
          <a:xfrm>
            <a:off x="2578608" y="501091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88336" y="5116068"/>
            <a:ext cx="13807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B 10:45-12:15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438912"/>
            <a:ext cx="14630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438912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QUÉ SE TRATA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98448" y="6949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qué está hecha la basura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298448" y="1170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Pasamos de ver un objeto que se bota a entender el material del que está hecho.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04672" y="1847088"/>
            <a:ext cx="5102352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1847088"/>
            <a:ext cx="82296" cy="21762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2311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residuo es un material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871216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botella que botas no es solo “una botella”: es plástico PET, y ese material decide si puede recuperarse o no.</a:t>
            </a:r>
            <a:endParaRPr lang="en-US" sz="1420" dirty="0"/>
          </a:p>
        </p:txBody>
      </p:sp>
      <p:pic>
        <p:nvPicPr>
          <p:cNvPr id="12" name="Image 0" descr="C:\Users\Diego Obando\dev\proyecto-01-aiep-geogreen\talleres\02\ppt\source\assets\images\aluminium-cans-compressed.jpg">    </p:cNvPr>
          <p:cNvPicPr>
            <a:picLocks noChangeAspect="1"/>
          </p:cNvPicPr>
          <p:nvPr/>
        </p:nvPicPr>
        <p:blipFill>
          <a:blip r:embed="rId1"/>
          <a:srcRect l="0" r="0" t="22707" b="22707"/>
          <a:stretch/>
        </p:blipFill>
        <p:spPr>
          <a:xfrm>
            <a:off x="6510528" y="1298448"/>
            <a:ext cx="4224528" cy="307238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510528" y="1298448"/>
            <a:ext cx="4224528" cy="3072384"/>
          </a:xfrm>
          <a:prstGeom prst="rect">
            <a:avLst/>
          </a:prstGeom>
          <a:solidFill>
            <a:srgbClr val="102A43">
              <a:alpha val="14000"/>
            </a:srgbClr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75120" y="4700016"/>
            <a:ext cx="1307592" cy="310896"/>
          </a:xfrm>
          <a:prstGeom prst="roundRect">
            <a:avLst>
              <a:gd name="adj" fmla="val 2352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84848" y="4805172"/>
            <a:ext cx="10881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observar el material</a:t>
            </a:r>
            <a:endParaRPr lang="en-US" sz="690" dirty="0"/>
          </a:p>
        </p:txBody>
      </p:sp>
      <p:sp>
        <p:nvSpPr>
          <p:cNvPr id="16" name="Shape 13"/>
          <p:cNvSpPr/>
          <p:nvPr/>
        </p:nvSpPr>
        <p:spPr>
          <a:xfrm>
            <a:off x="8055864" y="4700016"/>
            <a:ext cx="1307592" cy="310896"/>
          </a:xfrm>
          <a:prstGeom prst="roundRect">
            <a:avLst>
              <a:gd name="adj" fmla="val 23529"/>
            </a:avLst>
          </a:prstGeom>
          <a:solidFill>
            <a:srgbClr val="F3E7C3"/>
          </a:solidFill>
          <a:ln w="12700">
            <a:solidFill>
              <a:srgbClr val="F3E7C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65592" y="4805172"/>
            <a:ext cx="10881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condiciones</a:t>
            </a:r>
            <a:endParaRPr lang="en-US" sz="690" dirty="0"/>
          </a:p>
        </p:txBody>
      </p:sp>
      <p:sp>
        <p:nvSpPr>
          <p:cNvPr id="18" name="Shape 15"/>
          <p:cNvSpPr/>
          <p:nvPr/>
        </p:nvSpPr>
        <p:spPr>
          <a:xfrm>
            <a:off x="9436608" y="4700016"/>
            <a:ext cx="130759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46336" y="4805172"/>
            <a:ext cx="10881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clasificar con criterio</a:t>
            </a:r>
            <a:endParaRPr lang="en-US" sz="690" dirty="0"/>
          </a:p>
        </p:txBody>
      </p:sp>
      <p:sp>
        <p:nvSpPr>
          <p:cNvPr id="20" name="Shape 17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puede decidir si algo se recicla sin saber de qué está hecho.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438912"/>
            <a:ext cx="14630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438912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DE LA CLASE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98448" y="6949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recorrido de este taller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298448" y="1170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cierre, cada equipo tendrá una ficha de material conectada con su problema.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41248" y="2267712"/>
            <a:ext cx="2322576" cy="2084832"/>
          </a:xfrm>
          <a:prstGeom prst="roundRect">
            <a:avLst>
              <a:gd name="adj" fmla="val 3509"/>
            </a:avLst>
          </a:prstGeom>
          <a:solidFill>
            <a:srgbClr val="F3E7C3"/>
          </a:solidFill>
          <a:ln w="12700">
            <a:solidFill>
              <a:srgbClr val="E0BC5A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42416" y="254203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7B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42416" y="2907792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Materiales</a:t>
            </a:r>
            <a:endParaRPr lang="en-US" sz="1680" dirty="0"/>
          </a:p>
        </p:txBody>
      </p:sp>
      <p:sp>
        <p:nvSpPr>
          <p:cNvPr id="11" name="Text 9"/>
          <p:cNvSpPr/>
          <p:nvPr/>
        </p:nvSpPr>
        <p:spPr>
          <a:xfrm>
            <a:off x="1060704" y="362102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qué está hecho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3255264" y="3017520"/>
            <a:ext cx="292608" cy="310896"/>
          </a:xfrm>
          <a:prstGeom prst="chevron">
            <a:avLst/>
          </a:prstGeom>
          <a:solidFill>
            <a:srgbClr val="E0BC5A">
              <a:alpha val="88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30168" y="2267712"/>
            <a:ext cx="232257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31336" y="254203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31336" y="2907792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Reciclar bien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3849624" y="362102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limpio, seco, separado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044184" y="3017520"/>
            <a:ext cx="292608" cy="310896"/>
          </a:xfrm>
          <a:prstGeom prst="chevron">
            <a:avLst/>
          </a:prstGeom>
          <a:solidFill>
            <a:srgbClr val="E0BC5A">
              <a:alpha val="88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2267712"/>
            <a:ext cx="232257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20256" y="254203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0256" y="2907792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Ficha de material</a:t>
            </a:r>
            <a:endParaRPr lang="en-US" sz="1680" dirty="0"/>
          </a:p>
        </p:txBody>
      </p:sp>
      <p:sp>
        <p:nvSpPr>
          <p:cNvPr id="21" name="Text 19"/>
          <p:cNvSpPr/>
          <p:nvPr/>
        </p:nvSpPr>
        <p:spPr>
          <a:xfrm>
            <a:off x="6638544" y="362102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en equipos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8833104" y="3017520"/>
            <a:ext cx="292608" cy="310896"/>
          </a:xfrm>
          <a:prstGeom prst="chevron">
            <a:avLst/>
          </a:prstGeom>
          <a:solidFill>
            <a:srgbClr val="E0BC5A">
              <a:alpha val="88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08008" y="2267712"/>
            <a:ext cx="232257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409176" y="254203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409176" y="2907792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Material y problema</a:t>
            </a:r>
            <a:endParaRPr lang="en-US" sz="1680" dirty="0"/>
          </a:p>
        </p:txBody>
      </p:sp>
      <p:sp>
        <p:nvSpPr>
          <p:cNvPr id="26" name="Text 24"/>
          <p:cNvSpPr/>
          <p:nvPr/>
        </p:nvSpPr>
        <p:spPr>
          <a:xfrm>
            <a:off x="9427464" y="362102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conectar y proyectar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el material, después la solución: la tecnología llega en el Taller 3.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yecto-01-aiep-geogreen\talleres\02\ppt\source\assets\images\puntos-limpios-colores-cl.jpg">    </p:cNvPr>
          <p:cNvPicPr>
            <a:picLocks noChangeAspect="1"/>
          </p:cNvPicPr>
          <p:nvPr/>
        </p:nvPicPr>
        <p:blipFill>
          <a:blip r:embed="rId1"/>
          <a:srcRect l="0" r="0" t="19017" b="1901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E3A">
              <a:alpha val="60000"/>
            </a:srgbClr>
          </a:solidFill>
          <a:ln w="12700">
            <a:solidFill>
              <a:srgbClr val="061E3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61E3A">
              <a:alpha val="80000"/>
            </a:srgbClr>
          </a:solidFill>
          <a:ln w="12700">
            <a:solidFill>
              <a:srgbClr val="061E3A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32320" y="0"/>
            <a:ext cx="41148" cy="6858000"/>
          </a:xfrm>
          <a:prstGeom prst="rect">
            <a:avLst/>
          </a:prstGeom>
          <a:solidFill>
            <a:srgbClr val="E0BC5A">
              <a:alpha val="82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6766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773936" y="877824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01 · 20 MIN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804672" y="1648115"/>
            <a:ext cx="145938" cy="437815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3155" y="1481328"/>
            <a:ext cx="166787" cy="604601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42487" y="1648115"/>
            <a:ext cx="145938" cy="437815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2231136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Nada es</a:t>
            </a:r>
            <a:endParaRPr lang="en-US" sz="3150" dirty="0"/>
          </a:p>
          <a:p>
            <a:pPr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solo basura</a:t>
            </a:r>
            <a:endParaRPr lang="en-US" sz="3150" dirty="0"/>
          </a:p>
        </p:txBody>
      </p:sp>
      <p:sp>
        <p:nvSpPr>
          <p:cNvPr id="12" name="Text 9"/>
          <p:cNvSpPr/>
          <p:nvPr/>
        </p:nvSpPr>
        <p:spPr>
          <a:xfrm>
            <a:off x="841248" y="3822192"/>
            <a:ext cx="5358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E9E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Miramos cada residuo como un material con propiedades, no como un objeto cualquiera.</a:t>
            </a:r>
            <a:endParaRPr lang="en-US" sz="1480" dirty="0"/>
          </a:p>
        </p:txBody>
      </p:sp>
      <p:sp>
        <p:nvSpPr>
          <p:cNvPr id="13" name="Shape 10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23C69"/>
          </a:solidFill>
          <a:ln w="12700">
            <a:solidFill>
              <a:srgbClr val="123C6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objetos distintos pueden ser el mismo material; dos parecidos pueden ser materiales muy distintos.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438912"/>
            <a:ext cx="14630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438912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DISTINCIÓN CLAVE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98448" y="6949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objeto no es el material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298448" y="1170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usamos es el objeto; lo que decide su reciclaje es el material.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41248" y="2103120"/>
            <a:ext cx="2743200" cy="1481328"/>
          </a:xfrm>
          <a:prstGeom prst="roundRect">
            <a:avLst>
              <a:gd name="adj" fmla="val 4938"/>
            </a:avLst>
          </a:prstGeom>
          <a:solidFill>
            <a:srgbClr val="F3E7C3"/>
          </a:solidFill>
          <a:ln w="12700">
            <a:solidFill>
              <a:srgbClr val="F3E7C3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42416" y="2340864"/>
            <a:ext cx="1609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OBJETO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1042416" y="2596896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Botella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042416" y="3054096"/>
            <a:ext cx="234086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145536"/>
            <a:ext cx="1609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9A7B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1042416" y="334670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 (plástico)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4151376" y="2103120"/>
            <a:ext cx="2743200" cy="1481328"/>
          </a:xfrm>
          <a:prstGeom prst="roundRect">
            <a:avLst>
              <a:gd name="adj" fmla="val 493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52544" y="2340864"/>
            <a:ext cx="1609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OBJETO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352544" y="2596896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Lata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4352544" y="3054096"/>
            <a:ext cx="234086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52544" y="3145536"/>
            <a:ext cx="1609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4352544" y="334670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Aluminio (metal)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7461504" y="2103120"/>
            <a:ext cx="27432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62672" y="2340864"/>
            <a:ext cx="1609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OBJETO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662672" y="2596896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Vaso desechable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7662672" y="3054096"/>
            <a:ext cx="234086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62672" y="3145536"/>
            <a:ext cx="16093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7662672" y="334670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¿papel o multicapa?</a:t>
            </a:r>
            <a:endParaRPr lang="en-US" sz="1240" dirty="0"/>
          </a:p>
        </p:txBody>
      </p:sp>
      <p:sp>
        <p:nvSpPr>
          <p:cNvPr id="26" name="Shape 24"/>
          <p:cNvSpPr/>
          <p:nvPr/>
        </p:nvSpPr>
        <p:spPr>
          <a:xfrm>
            <a:off x="841248" y="3968496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0704" y="416966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Mismo material, objetos distintos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60704" y="4517136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botella de bebida y una bandeja de fruta pueden ser ambas PET.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53328" y="3968496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3E7C3"/>
          </a:solidFill>
          <a:ln w="12700">
            <a:solidFill>
              <a:srgbClr val="F3E7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2784" y="416966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Mismo objeto, materiales distintos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272784" y="4517136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vaso puede ser plástico reciclable, plástico no reciclable o cartón con película interior.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Reciclar bien empieza por reconocer el material, no por mirar el objeto.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438912"/>
            <a:ext cx="14630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438912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ORDENAR EL PANORAMA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98448" y="6949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Seis familias de materiales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298448" y="1170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hace falta memorizar química: basta reconocer la familia y una propiedad clave.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41248" y="1938528"/>
            <a:ext cx="3017520" cy="1517904"/>
          </a:xfrm>
          <a:prstGeom prst="roundRect">
            <a:avLst>
              <a:gd name="adj" fmla="val 48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1938528"/>
            <a:ext cx="64008" cy="15179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1945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Plásticos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88136" y="265176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varios tipos; no todos se reciclan igual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4297680" y="1938528"/>
            <a:ext cx="301752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938528"/>
            <a:ext cx="64008" cy="15179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21945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Papel y cartón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544568" y="265176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arruinan si se mojan o ensucian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7754112" y="1938528"/>
            <a:ext cx="3017520" cy="1517904"/>
          </a:xfrm>
          <a:prstGeom prst="roundRect">
            <a:avLst>
              <a:gd name="adj" fmla="val 4819"/>
            </a:avLst>
          </a:prstGeom>
          <a:solidFill>
            <a:srgbClr val="E9EEF4"/>
          </a:solidFill>
          <a:ln w="12700">
            <a:solidFill>
              <a:srgbClr val="E9EEF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54112" y="1938528"/>
            <a:ext cx="64008" cy="15179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91856" y="21945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Vidrio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001000" y="265176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recicla muchas veces sin perder calidad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841248" y="3712464"/>
            <a:ext cx="3017520" cy="1517904"/>
          </a:xfrm>
          <a:prstGeom prst="roundRect">
            <a:avLst>
              <a:gd name="adj" fmla="val 4819"/>
            </a:avLst>
          </a:prstGeom>
          <a:solidFill>
            <a:srgbClr val="F3E7C3"/>
          </a:solidFill>
          <a:ln w="12700">
            <a:solidFill>
              <a:srgbClr val="F3E7C3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3712464"/>
            <a:ext cx="64008" cy="15179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39684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Metales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88136" y="4425696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muy valiosos; el aluminio se recupera fácil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4297680" y="3712464"/>
            <a:ext cx="3017520" cy="1517904"/>
          </a:xfrm>
          <a:prstGeom prst="roundRect">
            <a:avLst>
              <a:gd name="adj" fmla="val 48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0" y="3712464"/>
            <a:ext cx="64008" cy="15179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35424" y="39684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Orgánico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4544568" y="4425696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recicla: se composta; mezclado contamina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7754112" y="3712464"/>
            <a:ext cx="301752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54112" y="3712464"/>
            <a:ext cx="64008" cy="15179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91856" y="39684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Multicapa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8001000" y="4425696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materiales pegados; difícil de separar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familia corre una suerte distinta, aunque hayan terminado en el mismo basurero.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438912"/>
            <a:ext cx="14630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438912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OBJETOS QUE ENGAÑAN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98448" y="6949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truco está en lo que no se ve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298448" y="1170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Muchos residuos parecen un material y son otro: por eso reciclar no es solo sentido común.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41248" y="1938528"/>
            <a:ext cx="440740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1938528"/>
            <a:ext cx="64008" cy="11155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1396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Vaso de café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" y="2487168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parece papel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651760" y="2395728"/>
            <a:ext cx="0" cy="457200"/>
          </a:xfrm>
          <a:prstGeom prst="line">
            <a:avLst/>
          </a:prstGeom>
          <a:noFill/>
          <a:ln w="12700">
            <a:solidFill>
              <a:srgbClr val="E0BC5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798064" y="245059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tiene película de plástico por dentro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938528"/>
            <a:ext cx="440740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52160" y="1938528"/>
            <a:ext cx="64008" cy="11155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21396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Caja de leche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89904" y="2487168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parece cartón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7662672" y="2395728"/>
            <a:ext cx="0" cy="457200"/>
          </a:xfrm>
          <a:prstGeom prst="line">
            <a:avLst/>
          </a:prstGeom>
          <a:noFill/>
          <a:ln w="12700">
            <a:solidFill>
              <a:srgbClr val="E0BC5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808976" y="245059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cartón + plástico + aluminio pegados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1248" y="3273552"/>
            <a:ext cx="440740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3273552"/>
            <a:ext cx="64008" cy="11155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34747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Envoltorio de snack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78992" y="382219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parece plástico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2651760" y="3730752"/>
            <a:ext cx="0" cy="457200"/>
          </a:xfrm>
          <a:prstGeom prst="line">
            <a:avLst/>
          </a:prstGeom>
          <a:noFill/>
          <a:ln w="12700">
            <a:solidFill>
              <a:srgbClr val="E0BC5A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2798064" y="3785616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lleva una capa metálica escondida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52160" y="3273552"/>
            <a:ext cx="440740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52160" y="3273552"/>
            <a:ext cx="64008" cy="11155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9904" y="34747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Hoja con grasa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89904" y="382219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parece reciclable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7662672" y="3730752"/>
            <a:ext cx="0" cy="457200"/>
          </a:xfrm>
          <a:prstGeom prst="line">
            <a:avLst/>
          </a:prstGeom>
          <a:noFill/>
          <a:ln w="12700">
            <a:solidFill>
              <a:srgbClr val="E0BC5A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7808976" y="3785616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manchada con comida ya no se recicla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puede decidir mirando por encima: hay que saber de qué está hecho.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yecto-01-aiep-geogreen\talleres\02\ppt\source\assets\images\contenedor-categorias-cl.jpg">    </p:cNvPr>
          <p:cNvPicPr>
            <a:picLocks noChangeAspect="1"/>
          </p:cNvPicPr>
          <p:nvPr/>
        </p:nvPicPr>
        <p:blipFill>
          <a:blip r:embed="rId1"/>
          <a:srcRect l="0" r="0" t="2094" b="2094"/>
          <a:stretch/>
        </p:blipFill>
        <p:spPr>
          <a:xfrm>
            <a:off x="841248" y="987552"/>
            <a:ext cx="3493008" cy="44622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41248" y="987552"/>
            <a:ext cx="3493008" cy="4462272"/>
          </a:xfrm>
          <a:prstGeom prst="rect">
            <a:avLst/>
          </a:prstGeom>
          <a:solidFill>
            <a:srgbClr val="061E3A">
              <a:alpha val="36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956048" y="840516"/>
            <a:ext cx="143378" cy="43013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160874" y="676656"/>
            <a:ext cx="163860" cy="59399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86182" y="840516"/>
            <a:ext cx="143378" cy="43013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56048" y="129844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 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992624" y="18653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idea y dos preguntas quedan instaladas para el siguiente bloque.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4992624" y="2743200"/>
            <a:ext cx="5815584" cy="530352"/>
          </a:xfrm>
          <a:prstGeom prst="roundRect">
            <a:avLst>
              <a:gd name="adj" fmla="val 1379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93792" y="2926080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★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5669280" y="2889504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residuo es un material con propiedades, no un objeto cualquiera.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4992624" y="3493008"/>
            <a:ext cx="5815584" cy="530352"/>
          </a:xfrm>
          <a:prstGeom prst="roundRect">
            <a:avLst>
              <a:gd name="adj" fmla="val 13793"/>
            </a:avLst>
          </a:prstGeom>
          <a:solidFill>
            <a:srgbClr val="123C69"/>
          </a:solidFill>
          <a:ln w="12700">
            <a:solidFill>
              <a:srgbClr val="123C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93792" y="3675888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5669280" y="3639312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familia de material aparece más en el colegio?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4992624" y="4242816"/>
            <a:ext cx="5815584" cy="530352"/>
          </a:xfrm>
          <a:prstGeom prst="roundRect">
            <a:avLst>
              <a:gd name="adj" fmla="val 13793"/>
            </a:avLst>
          </a:prstGeom>
          <a:solidFill>
            <a:srgbClr val="123C69"/>
          </a:solidFill>
          <a:ln w="12700">
            <a:solidFill>
              <a:srgbClr val="123C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93792" y="4425696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5669280" y="4389120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objeto parece un material y en realidad es otro?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23C69"/>
          </a:solidFill>
          <a:ln w="12700">
            <a:solidFill>
              <a:srgbClr val="123C6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sabemos de qué está hecha la basura; ahora veamos por qué un material se recicla o no.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yecto-01-aiep-geogreen\talleres\02\ppt\source\assets\images\vidrio-igloos-coaniquem-cl.jpg">    </p:cNvPr>
          <p:cNvPicPr>
            <a:picLocks noChangeAspect="1"/>
          </p:cNvPicPr>
          <p:nvPr/>
        </p:nvPicPr>
        <p:blipFill>
          <a:blip r:embed="rId1"/>
          <a:srcRect l="0" r="0" t="12499" b="1249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E3A">
              <a:alpha val="60000"/>
            </a:srgbClr>
          </a:solidFill>
          <a:ln w="12700">
            <a:solidFill>
              <a:srgbClr val="061E3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61E3A">
              <a:alpha val="80000"/>
            </a:srgbClr>
          </a:solidFill>
          <a:ln w="12700">
            <a:solidFill>
              <a:srgbClr val="061E3A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32320" y="0"/>
            <a:ext cx="41148" cy="6858000"/>
          </a:xfrm>
          <a:prstGeom prst="rect">
            <a:avLst/>
          </a:prstGeom>
          <a:solidFill>
            <a:srgbClr val="E0BC5A">
              <a:alpha val="82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6766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773936" y="877824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02 · 20 MIN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804672" y="1648115"/>
            <a:ext cx="145938" cy="437815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3155" y="1481328"/>
            <a:ext cx="166787" cy="604601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42487" y="1648115"/>
            <a:ext cx="145938" cy="437815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2231136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Reciclable no es</a:t>
            </a:r>
            <a:endParaRPr lang="en-US" sz="3150" dirty="0"/>
          </a:p>
          <a:p>
            <a:pPr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mismo que reciclado</a:t>
            </a:r>
            <a:endParaRPr lang="en-US" sz="3150" dirty="0"/>
          </a:p>
        </p:txBody>
      </p:sp>
      <p:sp>
        <p:nvSpPr>
          <p:cNvPr id="12" name="Text 9"/>
          <p:cNvSpPr/>
          <p:nvPr/>
        </p:nvSpPr>
        <p:spPr>
          <a:xfrm>
            <a:off x="841248" y="3822192"/>
            <a:ext cx="5358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E9E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material reciclable puede terminar como basura si se bota mal.</a:t>
            </a:r>
            <a:endParaRPr lang="en-US" sz="1480" dirty="0"/>
          </a:p>
        </p:txBody>
      </p:sp>
      <p:sp>
        <p:nvSpPr>
          <p:cNvPr id="13" name="Shape 10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23C69"/>
          </a:solidFill>
          <a:ln w="12700">
            <a:solidFill>
              <a:srgbClr val="123C6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Echar algo al contenedor es solo el primer paso, no la garantía de que se recicle.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438912"/>
            <a:ext cx="14630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438912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IDEA INCÓMODA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98448" y="6949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Reciclable no es reciclado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298448" y="1170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cosa es lo que el material podría ser; otra es lo que de verdad ocurre con él.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41248" y="1883664"/>
            <a:ext cx="4773168" cy="1591056"/>
          </a:xfrm>
          <a:prstGeom prst="roundRect">
            <a:avLst>
              <a:gd name="adj" fmla="val 459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8992" y="2121408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RECICLABLE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" y="24323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el material podría llegar a ser.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78992" y="3054096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botella PET es reciclable… en teoría.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0" y="1883664"/>
            <a:ext cx="4773168" cy="1591056"/>
          </a:xfrm>
          <a:prstGeom prst="roundRect">
            <a:avLst>
              <a:gd name="adj" fmla="val 459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81344" y="2121408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RECICLADO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81344" y="24323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de verdad ocurrió con él.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81344" y="3054096"/>
            <a:ext cx="4334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Mojada y mezclada con comida, termina como basura.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1248" y="3803904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 una cosa y la otra hay una cadena, y depende de las personas: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1248" y="4169664"/>
            <a:ext cx="1463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22576" y="4334256"/>
            <a:ext cx="182880" cy="274320"/>
          </a:xfrm>
          <a:prstGeom prst="chevron">
            <a:avLst/>
          </a:prstGeom>
          <a:solidFill>
            <a:srgbClr val="E0BC5A">
              <a:alpha val="84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23744" y="4169664"/>
            <a:ext cx="1463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15184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limpio y seco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005072" y="4334256"/>
            <a:ext cx="182880" cy="274320"/>
          </a:xfrm>
          <a:prstGeom prst="chevron">
            <a:avLst/>
          </a:prstGeom>
          <a:solidFill>
            <a:srgbClr val="E0BC5A">
              <a:alpha val="84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4169664"/>
            <a:ext cx="1463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entregar bien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87568" y="4334256"/>
            <a:ext cx="182880" cy="274320"/>
          </a:xfrm>
          <a:prstGeom prst="chevron">
            <a:avLst/>
          </a:prstGeom>
          <a:solidFill>
            <a:srgbClr val="E0BC5A">
              <a:alpha val="84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88736" y="4169664"/>
            <a:ext cx="1463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0176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retirar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70064" y="4334256"/>
            <a:ext cx="182880" cy="274320"/>
          </a:xfrm>
          <a:prstGeom prst="chevron">
            <a:avLst/>
          </a:prstGeom>
          <a:solidFill>
            <a:srgbClr val="E0BC5A">
              <a:alpha val="84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71232" y="4169664"/>
            <a:ext cx="1463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62672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052560" y="4334256"/>
            <a:ext cx="182880" cy="274320"/>
          </a:xfrm>
          <a:prstGeom prst="chevron">
            <a:avLst/>
          </a:prstGeom>
          <a:solidFill>
            <a:srgbClr val="E0BC5A">
              <a:alpha val="84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53728" y="4169664"/>
            <a:ext cx="1463040" cy="603504"/>
          </a:xfrm>
          <a:prstGeom prst="roundRect">
            <a:avLst>
              <a:gd name="adj" fmla="val 12121"/>
            </a:avLst>
          </a:prstGeom>
          <a:solidFill>
            <a:srgbClr val="F3E7C3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45168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nuevo material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fallan los primeros eslabones —que dependen de nosotros— los demás no ocurren.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438912"/>
            <a:ext cx="14630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438912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REGLA CLAVE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98448" y="6949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Limpio, seco y separado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298448" y="1170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condiciones deciden si un reciclable se convierte de verdad en reciclado.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41248" y="1737360"/>
            <a:ext cx="9875520" cy="530352"/>
          </a:xfrm>
          <a:prstGeom prst="roundRect">
            <a:avLst>
              <a:gd name="adj" fmla="val 1379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47088"/>
            <a:ext cx="9546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Limpio</a:t>
            </a:r>
            <a:pPr algn="ctr" indent="0" marL="0">
              <a:buNone/>
            </a:pPr>
            <a:r>
              <a:rPr lang="en-US" sz="1600" b="1" dirty="0">
                <a:solidFill>
                  <a:srgbClr val="9A7B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 +    </a:t>
            </a:r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Seco</a:t>
            </a:r>
            <a:pPr algn="ctr" indent="0" marL="0">
              <a:buNone/>
            </a:pPr>
            <a:r>
              <a:rPr lang="en-US" sz="1600" b="1" dirty="0">
                <a:solidFill>
                  <a:srgbClr val="9A7B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 +    </a:t>
            </a:r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Separado</a:t>
            </a:r>
            <a:pPr algn="ctr" indent="0" marL="0">
              <a:buNone/>
            </a:pPr>
            <a:r>
              <a:rPr lang="en-US" sz="1600" b="1" dirty="0">
                <a:solidFill>
                  <a:srgbClr val="9A7B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 =    </a:t>
            </a:r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reciclado de verdad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2487168"/>
            <a:ext cx="3017520" cy="263347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2487168"/>
            <a:ext cx="3017520" cy="7680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734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Limpio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054096" y="272491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78992" y="345643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IMPORTA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" y="3675888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restos de comida que contaminen el material.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60704" y="4352544"/>
            <a:ext cx="2578608" cy="603504"/>
          </a:xfrm>
          <a:prstGeom prst="roundRect">
            <a:avLst>
              <a:gd name="adj" fmla="val 12121"/>
            </a:avLst>
          </a:prstGeom>
          <a:solidFill>
            <a:srgbClr val="F8E7E8"/>
          </a:solidFill>
          <a:ln w="12700">
            <a:solidFill>
              <a:srgbClr val="F8E7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0704" y="4352544"/>
            <a:ext cx="54864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443984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9A2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rompe:  </a:t>
            </a:r>
            <a:pPr indent="0" marL="0">
              <a:buNone/>
            </a:pPr>
            <a:r>
              <a:rPr lang="en-US" sz="940" dirty="0">
                <a:solidFill>
                  <a:srgbClr val="9A2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envase con restos, una caja con grasa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4151376" y="2487168"/>
            <a:ext cx="3017520" cy="263347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51376" y="2487168"/>
            <a:ext cx="3017520" cy="7680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2734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Seco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364224" y="272491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389120" y="345643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IMPORTA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89120" y="3675888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humedad arruina sobre todo el papel y el cartón.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70832" y="4352544"/>
            <a:ext cx="2578608" cy="603504"/>
          </a:xfrm>
          <a:prstGeom prst="roundRect">
            <a:avLst>
              <a:gd name="adj" fmla="val 12121"/>
            </a:avLst>
          </a:prstGeom>
          <a:solidFill>
            <a:srgbClr val="F8E7E8"/>
          </a:solidFill>
          <a:ln w="12700">
            <a:solidFill>
              <a:srgbClr val="F8E7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70832" y="4352544"/>
            <a:ext cx="54864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35424" y="4443984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9A2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rompe:  </a:t>
            </a:r>
            <a:pPr indent="0" marL="0">
              <a:buNone/>
            </a:pPr>
            <a:r>
              <a:rPr lang="en-US" sz="940" dirty="0">
                <a:solidFill>
                  <a:srgbClr val="9A2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papel mojado, cartón húmedo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7461504" y="2487168"/>
            <a:ext cx="3017520" cy="263347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61504" y="2487168"/>
            <a:ext cx="3017520" cy="7680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9248" y="2734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Separado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9674352" y="272491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699248" y="345643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IMPORTA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99248" y="3675888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material por su lado para poder recuperarlo.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680960" y="4352544"/>
            <a:ext cx="2578608" cy="603504"/>
          </a:xfrm>
          <a:prstGeom prst="roundRect">
            <a:avLst>
              <a:gd name="adj" fmla="val 12121"/>
            </a:avLst>
          </a:prstGeom>
          <a:solidFill>
            <a:srgbClr val="F8E7E8"/>
          </a:solidFill>
          <a:ln w="12700">
            <a:solidFill>
              <a:srgbClr val="F8E7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0" y="4352544"/>
            <a:ext cx="54864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45552" y="4443984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9A2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rompe:  </a:t>
            </a:r>
            <a:pPr indent="0" marL="0">
              <a:buNone/>
            </a:pPr>
            <a:r>
              <a:rPr lang="en-US" sz="940" dirty="0">
                <a:solidFill>
                  <a:srgbClr val="9A2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botellas, comida y papel juntos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reciclable sucio no es un reciclable con un detalle menor: muchas veces deja de serlo.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438912"/>
            <a:ext cx="14630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438912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NUESTRA CONVENCIÓN · NORMA NCH 3322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98448" y="6949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colores del reciclaje en Chile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298448" y="1170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color dice qué material va dentro. Reconocerlos es separar bien.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41248" y="1865376"/>
            <a:ext cx="30175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1865376"/>
            <a:ext cx="3017520" cy="45720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01168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42416" y="24323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Papel y cartón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51560" y="27797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diarios, cajas, hojas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151376" y="1865376"/>
            <a:ext cx="30175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51376" y="1865376"/>
            <a:ext cx="3017520" cy="457200"/>
          </a:xfrm>
          <a:prstGeom prst="rect">
            <a:avLst/>
          </a:prstGeom>
          <a:solidFill>
            <a:srgbClr val="F2B500"/>
          </a:solidFill>
          <a:ln w="12700">
            <a:solidFill>
              <a:srgbClr val="F2B5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52544" y="201168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AMARILLO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52544" y="24323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Plásticos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361688" y="27797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botellas, envases, bolsas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461504" y="1865376"/>
            <a:ext cx="30175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61504" y="1865376"/>
            <a:ext cx="3017520" cy="457200"/>
          </a:xfrm>
          <a:prstGeom prst="rect">
            <a:avLst/>
          </a:prstGeom>
          <a:solidFill>
            <a:srgbClr val="2E8B4F"/>
          </a:solidFill>
          <a:ln w="12700">
            <a:solidFill>
              <a:srgbClr val="2E8B4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201168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62672" y="24323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Vidrio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671816" y="27797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botellas y frascos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841248" y="3383280"/>
            <a:ext cx="30175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1248" y="3383280"/>
            <a:ext cx="3017520" cy="457200"/>
          </a:xfrm>
          <a:prstGeom prst="rect">
            <a:avLst/>
          </a:prstGeom>
          <a:solidFill>
            <a:srgbClr val="8A929B"/>
          </a:solidFill>
          <a:ln w="12700">
            <a:solidFill>
              <a:srgbClr val="8A929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52958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42416" y="39502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Metales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051560" y="4297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latas de bebida y conservas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151376" y="3383280"/>
            <a:ext cx="30175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51376" y="3383280"/>
            <a:ext cx="3017520" cy="457200"/>
          </a:xfrm>
          <a:prstGeom prst="rect">
            <a:avLst/>
          </a:prstGeom>
          <a:solidFill>
            <a:srgbClr val="7A5230"/>
          </a:solidFill>
          <a:ln w="12700">
            <a:solidFill>
              <a:srgbClr val="7A523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52544" y="352958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CAFÉ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52544" y="39502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Orgánicos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361688" y="4297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restos de comida y cáscaras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7461504" y="3383280"/>
            <a:ext cx="30175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61504" y="3383280"/>
            <a:ext cx="301752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62672" y="352958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ROJO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662672" y="39502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Peligrosos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7671816" y="4297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pilas, baterías, aceites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gris oscuro o negro es para lo no reciclable: la basura común que ya no se recupera.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438912"/>
            <a:ext cx="14630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438912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ORGANIZA ACÁ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98448" y="6949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reciclaje en Chile tiene reglas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298448" y="1170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depende solo de buena voluntad: hay una ley y un sistema detrás.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9875520" cy="841248"/>
          </a:xfrm>
          <a:prstGeom prst="roundRect">
            <a:avLst>
              <a:gd name="adj" fmla="val 869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1993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Ley REP · 20.920 (2016)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30428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Responsabilidad Extendida del Productor: quien produce un envase se hace cargo de su reciclaje. El que contamina, paga.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3054096"/>
            <a:ext cx="2212848" cy="1371600"/>
          </a:xfrm>
          <a:prstGeom prst="roundRect">
            <a:avLst>
              <a:gd name="adj" fmla="val 5333"/>
            </a:avLst>
          </a:prstGeom>
          <a:solidFill>
            <a:srgbClr val="F3E7C3"/>
          </a:solidFill>
          <a:ln w="12700">
            <a:solidFill>
              <a:srgbClr val="E0BC5A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24128" y="3255264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9A7B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1024128" y="3529584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Separar en origen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33272" y="407822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la casa o el colegio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3090672" y="3584448"/>
            <a:ext cx="219456" cy="292608"/>
          </a:xfrm>
          <a:prstGeom prst="chevron">
            <a:avLst/>
          </a:prstGeom>
          <a:solidFill>
            <a:srgbClr val="E0BC5A">
              <a:alpha val="86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6704" y="3054096"/>
            <a:ext cx="22128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29584" y="3255264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3529584" y="3529584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Punto limpio o retiro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538728" y="407822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junta el material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5596128" y="3584448"/>
            <a:ext cx="219456" cy="292608"/>
          </a:xfrm>
          <a:prstGeom prst="chevron">
            <a:avLst/>
          </a:prstGeom>
          <a:solidFill>
            <a:srgbClr val="E0BC5A">
              <a:alpha val="86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0" y="3054096"/>
            <a:ext cx="22128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35040" y="3255264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6035040" y="3529584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Recicladores y gestores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044184" y="407822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clasifican y procesan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101584" y="3584448"/>
            <a:ext cx="219456" cy="292608"/>
          </a:xfrm>
          <a:prstGeom prst="chevron">
            <a:avLst/>
          </a:prstGeom>
          <a:solidFill>
            <a:srgbClr val="E0BC5A">
              <a:alpha val="86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57616" y="3054096"/>
            <a:ext cx="22128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540496" y="3255264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8540496" y="3529584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Valorización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549640" y="4078224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vuelve a ser materia prima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41248" y="4681728"/>
            <a:ext cx="9875520" cy="786384"/>
          </a:xfrm>
          <a:prstGeom prst="roundRect">
            <a:avLst>
              <a:gd name="adj" fmla="val 930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90118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ReSimple organiza el reciclaje de envases y embalajes; las y los recicladores de base son clave en toda la cadena.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separación en origen es la pieza que hace funcionar todo lo demás.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438912"/>
            <a:ext cx="14630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438912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98448" y="6949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sucio arruina a todo el grupo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298448" y="1170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contaminación no afecta solo a un objeto: puede echar a perder a varios.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41248" y="201168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2194560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papel limpio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2724912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907792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cartón seco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" y="3438144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3621024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botella vacía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1248" y="4224528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F8E7E8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4407408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2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una caja con grasa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61104" y="3163824"/>
            <a:ext cx="457200" cy="45720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2286000"/>
            <a:ext cx="5687568" cy="2194560"/>
          </a:xfrm>
          <a:prstGeom prst="roundRect">
            <a:avLst>
              <a:gd name="adj" fmla="val 3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0" y="257860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303520" y="2907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Todo el lote se ensucia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03520" y="3511296"/>
            <a:ext cx="5175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grasa mancha el papel limpio que tenía al lado; el líquido moja el cartón. Lo que iba a reciclarse termina como basura común.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eso el descuido de una persona puede echar a perder el esfuerzo de varias.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438912"/>
            <a:ext cx="14630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438912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MOMENTO QUE IMPORTA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98448" y="6949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decisión se toma antes de botar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298448" y="1170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mejor momento para reciclar no es en la planta: es en tus manos.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41248" y="1993392"/>
            <a:ext cx="440740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8992" y="2286000"/>
            <a:ext cx="786384" cy="786384"/>
          </a:xfrm>
          <a:prstGeom prst="roundRect">
            <a:avLst>
              <a:gd name="adj" fmla="val 11628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50545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048256" y="23042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Vaciar y enjuagar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048256" y="274320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envase antes de botarlo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52160" y="1993392"/>
            <a:ext cx="440740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2286000"/>
            <a:ext cx="786384" cy="786384"/>
          </a:xfrm>
          <a:prstGeom prst="roundRect">
            <a:avLst>
              <a:gd name="adj" fmla="val 11628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9904" y="250545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059168" y="23042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mezclar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059168" y="274320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húmedo con lo seco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41248" y="3328416"/>
            <a:ext cx="440740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78992" y="3621024"/>
            <a:ext cx="786384" cy="786384"/>
          </a:xfrm>
          <a:prstGeom prst="roundRect">
            <a:avLst>
              <a:gd name="adj" fmla="val 11628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384048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2048256" y="363931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Apartar el papel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2048256" y="4078224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lejos de los restos de comida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52160" y="3328416"/>
            <a:ext cx="440740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9904" y="3621024"/>
            <a:ext cx="786384" cy="786384"/>
          </a:xfrm>
          <a:prstGeom prst="roundRect">
            <a:avLst>
              <a:gd name="adj" fmla="val 11628"/>
            </a:avLst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9904" y="384048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059168" y="363931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Separar en origen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059168" y="4078224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donde se genera, no después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41248" y="4901184"/>
            <a:ext cx="9875520" cy="566928"/>
          </a:xfrm>
          <a:prstGeom prst="roundRect">
            <a:avLst>
              <a:gd name="adj" fmla="val 12903"/>
            </a:avLst>
          </a:prstGeom>
          <a:solidFill>
            <a:srgbClr val="F3E7C3"/>
          </a:solidFill>
          <a:ln w="12700">
            <a:solidFill>
              <a:srgbClr val="F3E7C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" y="4901184"/>
            <a:ext cx="73152" cy="5669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33856" y="5074920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7B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 con el Taller 1:  </a:t>
            </a:r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reciclar bien es, en gran parte, un hábito de separación tomado a tiempo.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mejor momento para reciclar algo es justo antes de botarlo, no después.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yecto-01-aiep-geogreen\talleres\02\ppt\source\assets\images\puntos-limpios-colores-cl.jpg">    </p:cNvPr>
          <p:cNvPicPr>
            <a:picLocks noChangeAspect="1"/>
          </p:cNvPicPr>
          <p:nvPr/>
        </p:nvPicPr>
        <p:blipFill>
          <a:blip r:embed="rId1"/>
          <a:srcRect l="14470" r="14470" t="0" b="0"/>
          <a:stretch/>
        </p:blipFill>
        <p:spPr>
          <a:xfrm>
            <a:off x="841248" y="987552"/>
            <a:ext cx="3493008" cy="44622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41248" y="987552"/>
            <a:ext cx="3493008" cy="4462272"/>
          </a:xfrm>
          <a:prstGeom prst="rect">
            <a:avLst/>
          </a:prstGeom>
          <a:solidFill>
            <a:srgbClr val="061E3A">
              <a:alpha val="38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956048" y="840516"/>
            <a:ext cx="143378" cy="43013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160874" y="676656"/>
            <a:ext cx="163860" cy="59399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86182" y="840516"/>
            <a:ext cx="143378" cy="43013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56048" y="129844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 2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992624" y="18653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idea y dos preguntas quedan instaladas para el trabajo en equipos.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4992624" y="2743200"/>
            <a:ext cx="5815584" cy="603504"/>
          </a:xfrm>
          <a:prstGeom prst="roundRect">
            <a:avLst>
              <a:gd name="adj" fmla="val 12121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93792" y="2962656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★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5669280" y="287121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material se recicla solo si llega limpio, seco y separado, y eso se decide antes de botarlo.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4992624" y="3529584"/>
            <a:ext cx="5815584" cy="603504"/>
          </a:xfrm>
          <a:prstGeom prst="roundRect">
            <a:avLst>
              <a:gd name="adj" fmla="val 12121"/>
            </a:avLst>
          </a:prstGeom>
          <a:solidFill>
            <a:srgbClr val="123C69"/>
          </a:solidFill>
          <a:ln w="12700">
            <a:solidFill>
              <a:srgbClr val="123C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93792" y="3749040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5669280" y="3657600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color le toca a cada material en Chile?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4992624" y="4315968"/>
            <a:ext cx="5815584" cy="603504"/>
          </a:xfrm>
          <a:prstGeom prst="roundRect">
            <a:avLst>
              <a:gd name="adj" fmla="val 12121"/>
            </a:avLst>
          </a:prstGeom>
          <a:solidFill>
            <a:srgbClr val="123C69"/>
          </a:solidFill>
          <a:ln w="12700">
            <a:solidFill>
              <a:srgbClr val="123C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93792" y="453542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5669280" y="4443984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residuo botamos mal sin darnos cuenta?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23C69"/>
          </a:solidFill>
          <a:ln w="12700">
            <a:solidFill>
              <a:srgbClr val="123C6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sabemos por qué un material se recicla o no; ahora cada equipo investiga uno de cerca.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yecto-01-aiep-geogreen\talleres\02\ppt\source\assets\images\reciclaje-trabajo-recila-cl.jpg">    </p:cNvPr>
          <p:cNvPicPr>
            <a:picLocks noChangeAspect="1"/>
          </p:cNvPicPr>
          <p:nvPr/>
        </p:nvPicPr>
        <p:blipFill>
          <a:blip r:embed="rId1"/>
          <a:srcRect l="0" r="0" t="12499" b="1249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E3A">
              <a:alpha val="60000"/>
            </a:srgbClr>
          </a:solidFill>
          <a:ln w="12700">
            <a:solidFill>
              <a:srgbClr val="061E3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61E3A">
              <a:alpha val="80000"/>
            </a:srgbClr>
          </a:solidFill>
          <a:ln w="12700">
            <a:solidFill>
              <a:srgbClr val="061E3A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32320" y="0"/>
            <a:ext cx="41148" cy="6858000"/>
          </a:xfrm>
          <a:prstGeom prst="rect">
            <a:avLst/>
          </a:prstGeom>
          <a:solidFill>
            <a:srgbClr val="E0BC5A">
              <a:alpha val="82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6766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773936" y="877824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03 · 30 MIN · EN EQUIPOS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804672" y="1648115"/>
            <a:ext cx="145938" cy="437815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3155" y="1481328"/>
            <a:ext cx="166787" cy="604601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42487" y="1648115"/>
            <a:ext cx="145938" cy="437815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2231136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material</a:t>
            </a:r>
            <a:endParaRPr lang="en-US" sz="3150" dirty="0"/>
          </a:p>
          <a:p>
            <a:pPr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bajo la lupa</a:t>
            </a:r>
            <a:endParaRPr lang="en-US" sz="3150" dirty="0"/>
          </a:p>
        </p:txBody>
      </p:sp>
      <p:sp>
        <p:nvSpPr>
          <p:cNvPr id="12" name="Text 9"/>
          <p:cNvSpPr/>
          <p:nvPr/>
        </p:nvSpPr>
        <p:spPr>
          <a:xfrm>
            <a:off x="841248" y="3822192"/>
            <a:ext cx="5358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E9E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equipo se vuelve experto de un material real de su entorno.</a:t>
            </a:r>
            <a:endParaRPr lang="en-US" sz="1480" dirty="0"/>
          </a:p>
        </p:txBody>
      </p:sp>
      <p:sp>
        <p:nvSpPr>
          <p:cNvPr id="13" name="Shape 10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23C69"/>
          </a:solidFill>
          <a:ln w="12700">
            <a:solidFill>
              <a:srgbClr val="123C6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Pasamos de “esto es basura” a “esto es tal material, se comporta así y se arruina por esto”.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438912"/>
            <a:ext cx="14630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438912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EN EQUIPOS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98448" y="6949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equipo, experto de un material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298448" y="1170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Eligen un material real y observable, no el reciclaje en general.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41248" y="1883664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8992" y="2121408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ELIJAN UN MATERIAL REAL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 concreto que puedan tocar o reconocer: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97280" y="290779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98448" y="29077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botella plástica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97280" y="3255264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98448" y="325526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lata de bebida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97280" y="3602736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98448" y="360273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caja de leche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97280" y="395020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98448" y="395020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vaso desechable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97280" y="429768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98448" y="42976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frasco de vidrio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97280" y="46451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98448" y="464515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restos de la colación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248656" y="1883664"/>
            <a:ext cx="546811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48656" y="1883664"/>
            <a:ext cx="64008" cy="5669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198424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Coordinación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0" y="22219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mantiene al equipo enfocado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48656" y="2532888"/>
            <a:ext cx="546811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48656" y="2532888"/>
            <a:ext cx="64008" cy="5669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26334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Registro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0" y="28712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completa la ficha acordada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48656" y="3182112"/>
            <a:ext cx="546811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48656" y="3182112"/>
            <a:ext cx="64008" cy="5669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32826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Vocería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486400" y="3520440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 la síntesis del equipo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48656" y="3831336"/>
            <a:ext cx="546811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48656" y="3831336"/>
            <a:ext cx="64008" cy="5669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39319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Investigación de material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486400" y="4169664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qué está hecho y cómo se comporta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248656" y="4480560"/>
            <a:ext cx="546811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48656" y="4480560"/>
            <a:ext cx="64008" cy="5669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458114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Investigación de condiciones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486400" y="481888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lo arruina y cómo se recicla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 un material concreto y observable que “el reciclaje” en general.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438912"/>
            <a:ext cx="14630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438912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PRODUCTO DEL BLOQUE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98448" y="6949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ficha de material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298448" y="1170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pequeña investigación ordenada: mirar el material por dentro, no por encima.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41248" y="1938528"/>
            <a:ext cx="9875520" cy="384048"/>
          </a:xfrm>
          <a:prstGeom prst="roundRect">
            <a:avLst>
              <a:gd name="adj" fmla="val 190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204825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7B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81328" y="204368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o residuo elegido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75120" y="2203704"/>
            <a:ext cx="3822192" cy="0"/>
          </a:xfrm>
          <a:prstGeom prst="line">
            <a:avLst/>
          </a:prstGeom>
          <a:noFill/>
          <a:ln w="12700">
            <a:solidFill>
              <a:srgbClr val="E0BC5A">
                <a:alpha val="70000"/>
              </a:srgbClr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41248" y="2372868"/>
            <a:ext cx="98755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248259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7B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81328" y="247802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Familia de material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75120" y="2638044"/>
            <a:ext cx="3822192" cy="0"/>
          </a:xfrm>
          <a:prstGeom prst="line">
            <a:avLst/>
          </a:prstGeom>
          <a:noFill/>
          <a:ln w="12700">
            <a:solidFill>
              <a:srgbClr val="E0BC5A">
                <a:alpha val="70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41248" y="2807208"/>
            <a:ext cx="9875520" cy="384048"/>
          </a:xfrm>
          <a:prstGeom prst="roundRect">
            <a:avLst>
              <a:gd name="adj" fmla="val 190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291693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7B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81328" y="291236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¿De qué está hecho realmente?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75120" y="3072384"/>
            <a:ext cx="3822192" cy="0"/>
          </a:xfrm>
          <a:prstGeom prst="line">
            <a:avLst/>
          </a:prstGeom>
          <a:noFill/>
          <a:ln w="12700">
            <a:solidFill>
              <a:srgbClr val="E0BC5A">
                <a:alpha val="70000"/>
              </a:srgbClr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41248" y="3241548"/>
            <a:ext cx="98755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35127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7B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81328" y="33467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¿Es reciclable? ¿Bajo qué condiciones?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75120" y="3506724"/>
            <a:ext cx="3822192" cy="0"/>
          </a:xfrm>
          <a:prstGeom prst="line">
            <a:avLst/>
          </a:prstGeom>
          <a:noFill/>
          <a:ln w="12700">
            <a:solidFill>
              <a:srgbClr val="E0BC5A">
                <a:alpha val="70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841248" y="3675888"/>
            <a:ext cx="9875520" cy="384048"/>
          </a:xfrm>
          <a:prstGeom prst="roundRect">
            <a:avLst>
              <a:gd name="adj" fmla="val 190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378561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7B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81328" y="378104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lo arruina o lo contamina?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75120" y="3941064"/>
            <a:ext cx="3822192" cy="0"/>
          </a:xfrm>
          <a:prstGeom prst="line">
            <a:avLst/>
          </a:prstGeom>
          <a:noFill/>
          <a:ln w="12700">
            <a:solidFill>
              <a:srgbClr val="E0BC5A">
                <a:alpha val="70000"/>
              </a:srgbClr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841248" y="4110228"/>
            <a:ext cx="98755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0704" y="421995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7B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81328" y="421538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¿Genera duda? ¿Qué información falta?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675120" y="4375404"/>
            <a:ext cx="3822192" cy="0"/>
          </a:xfrm>
          <a:prstGeom prst="line">
            <a:avLst/>
          </a:prstGeom>
          <a:noFill/>
          <a:ln w="12700">
            <a:solidFill>
              <a:srgbClr val="E0BC5A">
                <a:alpha val="70000"/>
              </a:srgbClr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841248" y="4544568"/>
            <a:ext cx="9875520" cy="384048"/>
          </a:xfrm>
          <a:prstGeom prst="roundRect">
            <a:avLst>
              <a:gd name="adj" fmla="val 190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0704" y="465429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7B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81328" y="464972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 con el problema del equipo (Taller 1)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675120" y="4809744"/>
            <a:ext cx="3822192" cy="0"/>
          </a:xfrm>
          <a:prstGeom prst="line">
            <a:avLst/>
          </a:prstGeom>
          <a:noFill/>
          <a:ln w="12700">
            <a:solidFill>
              <a:srgbClr val="E0BC5A">
                <a:alpha val="70000"/>
              </a:srgbClr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ficha cambia la mirada: el residuo deja de ser “basura” y pasa a ser un material con propiedades.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438912"/>
            <a:ext cx="14630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438912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VE COMPLETADA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98448" y="6949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Ejemplo: una lata de aluminio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298448" y="1170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busca ser perfecta ni exhaustiva, sino mostrar el cambio de mirada.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851392" y="1481328"/>
            <a:ext cx="1865376" cy="310896"/>
          </a:xfrm>
          <a:prstGeom prst="roundRect">
            <a:avLst>
              <a:gd name="adj" fmla="val 23529"/>
            </a:avLst>
          </a:prstGeom>
          <a:solidFill>
            <a:srgbClr val="F3E7C3"/>
          </a:solidFill>
          <a:ln w="12700">
            <a:solidFill>
              <a:srgbClr val="F3E7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0" y="1586484"/>
            <a:ext cx="1645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7B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COMPLETADO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41248" y="1938528"/>
            <a:ext cx="9875520" cy="384048"/>
          </a:xfrm>
          <a:prstGeom prst="roundRect">
            <a:avLst>
              <a:gd name="adj" fmla="val 190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04368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elegido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204368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lata de bebida del kiosco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1248" y="2372868"/>
            <a:ext cx="98755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24780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247802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metal (aluminio)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1248" y="2807208"/>
            <a:ext cx="9875520" cy="384048"/>
          </a:xfrm>
          <a:prstGeom prst="roundRect">
            <a:avLst>
              <a:gd name="adj" fmla="val 190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29123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qué está hecho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291236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aluminio, un metal liviano y muy valioso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41248" y="3241548"/>
            <a:ext cx="98755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33467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¿Reciclable?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334670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sí, si está vacía y sin aplastar junto a otros residuos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41248" y="3675888"/>
            <a:ext cx="9875520" cy="384048"/>
          </a:xfrm>
          <a:prstGeom prst="roundRect">
            <a:avLst>
              <a:gd name="adj" fmla="val 190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37810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lo arruina?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378104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restos de bebida y mezclarse con comida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41248" y="4110228"/>
            <a:ext cx="98755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21538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¿Genera duda?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0" y="421538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¿hay dónde separar metales en el colegio?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41248" y="4544568"/>
            <a:ext cx="9875520" cy="384048"/>
          </a:xfrm>
          <a:prstGeom prst="roundRect">
            <a:avLst>
              <a:gd name="adj" fmla="val 190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0704" y="46497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 con el problema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0" y="464972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tras el recreo quedan muchas latas en la basura común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salto es pasar de “esto es basura” a “esto es aluminio, y así se recupera o se pierde”.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438912"/>
            <a:ext cx="14630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438912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CLASIFICAR CON CRITERIO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98448" y="6949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categorías, una decisión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298448" y="1170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foco no es solo acertar: es justificar por qué.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41248" y="2139696"/>
            <a:ext cx="1865376" cy="254203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139696"/>
            <a:ext cx="1865376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26771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Reciclable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3017520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 PARA DECIDIR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987552" y="3236976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¿de qué familia es? ¿está limpio?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34640" y="2139696"/>
            <a:ext cx="1865376" cy="254203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34640" y="2139696"/>
            <a:ext cx="1865376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0944" y="226771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reciclable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80944" y="3017520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 PARA DECIDIR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980944" y="3236976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¿muy mezclado o multicapa?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28032" y="2139696"/>
            <a:ext cx="1865376" cy="254203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28032" y="2139696"/>
            <a:ext cx="1865376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74336" y="226771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Orgánico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74336" y="3017520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 PARA DECIDIR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974336" y="3236976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 podría compostar?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21424" y="2139696"/>
            <a:ext cx="1865376" cy="254203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21424" y="2139696"/>
            <a:ext cx="1865376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67728" y="226771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Manejo especial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67728" y="3017520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 PARA DECIDIR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967728" y="3236976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pilas, electrónicos, peligrosos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814816" y="2139696"/>
            <a:ext cx="1865376" cy="254203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814816" y="2139696"/>
            <a:ext cx="1865376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0" y="2267712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 duda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961120" y="3017520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 PARA DECIDIR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961120" y="3236976"/>
            <a:ext cx="1591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dato falta para decidir?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Reconocer que falta información también es parte del aprendizaje: por eso existe “genera duda”.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7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" y="882945"/>
            <a:ext cx="148499" cy="4454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8525" y="713232"/>
            <a:ext cx="169713" cy="6152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1880" y="882945"/>
            <a:ext cx="148499" cy="4454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37160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 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19751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del bloque final, cada equipo deja dos productos mínimos.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841248" y="2615184"/>
            <a:ext cx="4773168" cy="1572768"/>
          </a:xfrm>
          <a:prstGeom prst="roundRect">
            <a:avLst>
              <a:gd name="adj" fmla="val 4651"/>
            </a:avLst>
          </a:prstGeom>
          <a:solidFill>
            <a:srgbClr val="123C69"/>
          </a:solidFill>
          <a:ln w="12700">
            <a:solidFill>
              <a:srgbClr val="123C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615184"/>
            <a:ext cx="4773168" cy="822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0779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1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956048" y="28895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3255264"/>
            <a:ext cx="42428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ficha de material completada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0" y="2615184"/>
            <a:ext cx="4773168" cy="1572768"/>
          </a:xfrm>
          <a:prstGeom prst="roundRect">
            <a:avLst>
              <a:gd name="adj" fmla="val 4651"/>
            </a:avLst>
          </a:prstGeom>
          <a:solidFill>
            <a:srgbClr val="123C69"/>
          </a:solidFill>
          <a:ln w="12700">
            <a:solidFill>
              <a:srgbClr val="123C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2615184"/>
            <a:ext cx="4773168" cy="822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90779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2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10058400" y="28895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3255264"/>
            <a:ext cx="42428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idea de cómo se conecta con el problema del Taller 1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41248" y="4443984"/>
            <a:ext cx="9875520" cy="658368"/>
          </a:xfrm>
          <a:prstGeom prst="roundRect">
            <a:avLst>
              <a:gd name="adj" fmla="val 11111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" y="46451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2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conversar:   </a:t>
            </a:r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material les generó más duda al clasificar?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23C69"/>
          </a:solidFill>
          <a:ln w="12700">
            <a:solidFill>
              <a:srgbClr val="123C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investigamos el material de cerca; ahora lo conectamos con nuestro problema.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yecto-01-aiep-geogreen\talleres\02\ppt\source\assets\images\mercado-reciclaje-vitacura-cl.jpg">    </p:cNvPr>
          <p:cNvPicPr>
            <a:picLocks noChangeAspect="1"/>
          </p:cNvPicPr>
          <p:nvPr/>
        </p:nvPicPr>
        <p:blipFill>
          <a:blip r:embed="rId1"/>
          <a:srcRect l="0" r="0" t="23" b="2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E3A">
              <a:alpha val="60000"/>
            </a:srgbClr>
          </a:solidFill>
          <a:ln w="12700">
            <a:solidFill>
              <a:srgbClr val="061E3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61E3A">
              <a:alpha val="80000"/>
            </a:srgbClr>
          </a:solidFill>
          <a:ln w="12700">
            <a:solidFill>
              <a:srgbClr val="061E3A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32320" y="0"/>
            <a:ext cx="41148" cy="6858000"/>
          </a:xfrm>
          <a:prstGeom prst="rect">
            <a:avLst/>
          </a:prstGeom>
          <a:solidFill>
            <a:srgbClr val="E0BC5A">
              <a:alpha val="82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6766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773936" y="877824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04 · 20 MIN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804672" y="1648115"/>
            <a:ext cx="145938" cy="437815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3155" y="1481328"/>
            <a:ext cx="166787" cy="604601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42487" y="1648115"/>
            <a:ext cx="145938" cy="437815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2231136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material</a:t>
            </a:r>
            <a:endParaRPr lang="en-US" sz="3150" dirty="0"/>
          </a:p>
          <a:p>
            <a:pPr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la solución</a:t>
            </a:r>
            <a:endParaRPr lang="en-US" sz="3150" dirty="0"/>
          </a:p>
        </p:txBody>
      </p:sp>
      <p:sp>
        <p:nvSpPr>
          <p:cNvPr id="12" name="Text 9"/>
          <p:cNvSpPr/>
          <p:nvPr/>
        </p:nvSpPr>
        <p:spPr>
          <a:xfrm>
            <a:off x="841248" y="3822192"/>
            <a:ext cx="5358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E9E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Unimos lo que aprendimos del material con el problema de cada equipo.</a:t>
            </a:r>
            <a:endParaRPr lang="en-US" sz="1480" dirty="0"/>
          </a:p>
        </p:txBody>
      </p:sp>
      <p:sp>
        <p:nvSpPr>
          <p:cNvPr id="13" name="Shape 10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23C69"/>
          </a:solidFill>
          <a:ln w="12700">
            <a:solidFill>
              <a:srgbClr val="123C6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problema preciso es lo que permite imaginar una solución que valga la pena.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76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438912"/>
            <a:ext cx="14630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438912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PASO CLAVE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98448" y="6949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Conectar el material con el problema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298448" y="1170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Unimos la ficha del equipo con su frase de problema del Taller 1.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41248" y="1883664"/>
            <a:ext cx="4846320" cy="3200400"/>
          </a:xfrm>
          <a:prstGeom prst="roundRect">
            <a:avLst>
              <a:gd name="adj" fmla="val 228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8992" y="2103120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PLANTILLA · COMPLETAR EN EQUIPO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1078992" y="24323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26464" y="245059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Nuestro problema (Taller 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30540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307238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material en el centro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8992" y="36758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26464" y="369417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aprendimos del material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42976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26464" y="431596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cambia ahora que lo entendemos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1883664"/>
            <a:ext cx="4773168" cy="3200400"/>
          </a:xfrm>
          <a:prstGeom prst="roundRect">
            <a:avLst>
              <a:gd name="adj" fmla="val 2286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81344" y="2103120"/>
            <a:ext cx="4297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9A7B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· UNA BOTELLA PET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6181344" y="24323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81344" y="2670048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patio se mezclan botellas y restos de comida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81344" y="3054096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Material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81344" y="3291840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botella plástica PET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81344" y="367588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Aprendimos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81344" y="3913632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PET es reciclable, pero mojado con comida deja de servir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81344" y="429768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cambia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81344" y="4535424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solo “hay basura”: se pierde un material que sí se podía recuperar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Así una queja general se transforma en un problema entendido y accionable.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76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438912"/>
            <a:ext cx="14630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438912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CERRAR COMPARTIENDO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98448" y="6949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Poner en común y mirar atrás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298448" y="1170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equipo comparte su hallazgo y deja una reflexión final.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41248" y="192024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1920240"/>
            <a:ext cx="4846320" cy="822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212848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9A7B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PUESTA EN COMÚN · 30-45 s POR EQUIPO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1097280" y="2615184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35024" y="26151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material que investigaron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97280" y="32918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35024" y="3291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hallazgo clave de su ficha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97280" y="3968496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35024" y="39684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conecta con su problema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0" y="1920240"/>
            <a:ext cx="4773168" cy="3108960"/>
          </a:xfrm>
          <a:prstGeom prst="roundRect">
            <a:avLst>
              <a:gd name="adj" fmla="val 235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81344" y="2212848"/>
            <a:ext cx="4297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REFLEXIVA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181344" y="261518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28816" y="2615184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aprendimos del material que antes no sabíamos?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81344" y="32918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28816" y="329184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importa entenderlo para reciclar bien?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81344" y="396849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28816" y="3968496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información todavía nos falta?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problemas de reciclaje no son casos aislados: se repiten con formas parecidas.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76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438912"/>
            <a:ext cx="14630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" y="585216"/>
            <a:ext cx="128016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438912"/>
            <a:ext cx="694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VIENE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98448" y="6949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material a la tecnología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298448" y="1170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entendemos el problema y el material, podemos pensar una solución que mida y avise.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41248" y="1938528"/>
            <a:ext cx="4754880" cy="3163824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2700" dist="50800" dir="2700000">
              <a:srgbClr val="D8DEE6">
                <a:alpha val="14000"/>
              </a:srgbClr>
            </a:outerShdw>
          </a:effectLst>
        </p:spPr>
      </p:sp>
      <p:pic>
        <p:nvPicPr>
          <p:cNvPr id="9" name="Image 0" descr="C:\Users\Diego Obando\dev\proyecto-01-aiep-geogreen\talleres\02\ppt\source\assets\images\arduino-uno-r4-geo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3408" y="2139696"/>
            <a:ext cx="3430559" cy="2286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45171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mide cuánto se llena un contenedor y avisa cuando está lleno.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1938528"/>
            <a:ext cx="4864608" cy="694944"/>
          </a:xfrm>
          <a:prstGeom prst="roundRect">
            <a:avLst>
              <a:gd name="adj" fmla="val 10526"/>
            </a:avLst>
          </a:prstGeom>
          <a:solidFill>
            <a:srgbClr val="F3E7C3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71616" y="21579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B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47104" y="20665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Sensar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547104" y="23408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mide cuánto se llena el contenedor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89904" y="2633472"/>
            <a:ext cx="0" cy="109728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0" y="2743200"/>
            <a:ext cx="486460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71616" y="29626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B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47104" y="28712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Enviar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547104" y="314553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manda el dato por WiFi o LoRa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089904" y="3438144"/>
            <a:ext cx="0" cy="109728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52160" y="3547872"/>
            <a:ext cx="486460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71616" y="37673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B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547104" y="36758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Visualizar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547104" y="39502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el nivel en un tablero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089904" y="4242816"/>
            <a:ext cx="0" cy="109728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852160" y="4352544"/>
            <a:ext cx="486460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71616" y="45720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B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547104" y="4480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Alertar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547104" y="47548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avisa cuando está lleno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86384" y="5815584"/>
            <a:ext cx="6400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86384" y="5815584"/>
            <a:ext cx="10222992" cy="384048"/>
          </a:xfrm>
          <a:prstGeom prst="roundRect">
            <a:avLst>
              <a:gd name="adj" fmla="val 190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6384" y="5815584"/>
            <a:ext cx="73152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24128" y="5957316"/>
            <a:ext cx="97475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tecnología tiene sentido cuando responde a un problema real y conoce su material.</a:t>
            </a:r>
            <a:endParaRPr lang="en-US" sz="980" dirty="0"/>
          </a:p>
        </p:txBody>
      </p:sp>
      <p:sp>
        <p:nvSpPr>
          <p:cNvPr id="34" name="Shape 31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36" name="Shape 33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76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" y="882945"/>
            <a:ext cx="148499" cy="4454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8525" y="713232"/>
            <a:ext cx="169713" cy="6152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1880" y="882945"/>
            <a:ext cx="148499" cy="4454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37160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la clase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19751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ideas para llevarse de hoy.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841248" y="2505456"/>
            <a:ext cx="9875520" cy="603504"/>
          </a:xfrm>
          <a:prstGeom prst="roundRect">
            <a:avLst>
              <a:gd name="adj" fmla="val 12121"/>
            </a:avLst>
          </a:prstGeom>
          <a:solidFill>
            <a:srgbClr val="123C69"/>
          </a:solidFill>
          <a:ln w="12700">
            <a:solidFill>
              <a:srgbClr val="123C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70662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82496" y="2624328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residuo es un material con propiedades; ese material decide qué se puede hacer con él.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3218688"/>
            <a:ext cx="9875520" cy="603504"/>
          </a:xfrm>
          <a:prstGeom prst="roundRect">
            <a:avLst>
              <a:gd name="adj" fmla="val 12121"/>
            </a:avLst>
          </a:prstGeom>
          <a:solidFill>
            <a:srgbClr val="123C69"/>
          </a:solidFill>
          <a:ln w="12700">
            <a:solidFill>
              <a:srgbClr val="123C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4198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82496" y="333756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Reciclable no es reciclado: depende de llegar limpio, seco y separado, y se decide antes de botar.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" y="3931920"/>
            <a:ext cx="9875520" cy="603504"/>
          </a:xfrm>
          <a:prstGeom prst="roundRect">
            <a:avLst>
              <a:gd name="adj" fmla="val 12121"/>
            </a:avLst>
          </a:prstGeom>
          <a:solidFill>
            <a:srgbClr val="123C69"/>
          </a:solidFill>
          <a:ln w="12700">
            <a:solidFill>
              <a:srgbClr val="123C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413308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82496" y="4050792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el material permite mirar el problema con precisión e imaginar una mejor solución.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49560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«Conocer el material es el primer paso para reciclar de verdad.»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76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yecto-01-aiep-geogreen\talleres\02\ppt\source\assets\images\pet-bottles-bal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E3A">
              <a:alpha val="88000"/>
            </a:srgbClr>
          </a:solidFill>
          <a:ln w="12700">
            <a:solidFill>
              <a:srgbClr val="061E3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833872" y="1254557"/>
            <a:ext cx="153619" cy="46085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53328" y="1078992"/>
            <a:ext cx="175565" cy="63642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94730" y="1254557"/>
            <a:ext cx="153619" cy="46085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355848" y="19933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</a:t>
            </a:r>
            <a:endParaRPr lang="en-US" sz="940" dirty="0"/>
          </a:p>
        </p:txBody>
      </p:sp>
      <p:sp>
        <p:nvSpPr>
          <p:cNvPr id="8" name="Text 5"/>
          <p:cNvSpPr/>
          <p:nvPr/>
        </p:nvSpPr>
        <p:spPr>
          <a:xfrm>
            <a:off x="1527048" y="254203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 por convertir residuos en evidencia.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2441448" y="35844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E9EE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fichas de material de cada equipo abren el camino hacia la solución.</a:t>
            </a:r>
            <a:endParaRPr lang="en-US" sz="1380" dirty="0"/>
          </a:p>
        </p:txBody>
      </p:sp>
      <p:sp>
        <p:nvSpPr>
          <p:cNvPr id="10" name="Shape 7"/>
          <p:cNvSpPr/>
          <p:nvPr/>
        </p:nvSpPr>
        <p:spPr>
          <a:xfrm>
            <a:off x="3767328" y="4498848"/>
            <a:ext cx="4663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77056" y="4604004"/>
            <a:ext cx="44439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 sesión · Taller 3: tecnología y prototipado</a:t>
            </a:r>
            <a:endParaRPr lang="en-US" sz="770" dirty="0"/>
          </a:p>
        </p:txBody>
      </p:sp>
      <p:sp>
        <p:nvSpPr>
          <p:cNvPr id="12" name="Shape 9"/>
          <p:cNvSpPr/>
          <p:nvPr/>
        </p:nvSpPr>
        <p:spPr>
          <a:xfrm>
            <a:off x="676656" y="6419088"/>
            <a:ext cx="10808208" cy="0"/>
          </a:xfrm>
          <a:prstGeom prst="line">
            <a:avLst/>
          </a:prstGeom>
          <a:noFill/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" y="6528816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GeoGreen Escolar Osorno · Taller 2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11119104" y="647395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0BC5A"/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19104" y="653338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7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AIEP Osorno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2 - Ciencia del reciclaje</dc:title>
  <dc:subject>Taller 2 - Ciencia del reciclaje</dc:subject>
  <dc:creator>GeoGreen Escolar Osorno</dc:creator>
  <cp:lastModifiedBy>GeoGreen Escolar Osorno</cp:lastModifiedBy>
  <cp:revision>1</cp:revision>
  <dcterms:created xsi:type="dcterms:W3CDTF">2026-06-14T21:24:55Z</dcterms:created>
  <dcterms:modified xsi:type="dcterms:W3CDTF">2026-06-14T21:24:55Z</dcterms:modified>
</cp:coreProperties>
</file>